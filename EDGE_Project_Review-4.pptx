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286" r:id="rId3"/>
    <p:sldId id="262" r:id="rId4"/>
    <p:sldId id="287" r:id="rId5"/>
    <p:sldId id="295" r:id="rId6"/>
    <p:sldId id="296" r:id="rId7"/>
    <p:sldId id="297" r:id="rId8"/>
    <p:sldId id="298" r:id="rId9"/>
    <p:sldId id="289" r:id="rId10"/>
    <p:sldId id="299" r:id="rId11"/>
    <p:sldId id="291" r:id="rId12"/>
    <p:sldId id="302" r:id="rId13"/>
    <p:sldId id="292" r:id="rId14"/>
    <p:sldId id="293" r:id="rId15"/>
    <p:sldId id="300" r:id="rId16"/>
    <p:sldId id="301" r:id="rId17"/>
    <p:sldId id="29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26BA0F-1AEE-47F3-9BBB-C24BD1F57710}" v="10" dt="2026-10-06T09:24:03.0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ds 7" userId="33559902d3ed092c" providerId="LiveId" clId="{9C56A98E-D754-451F-B35A-0C71D8D9F560}"/>
    <pc:docChg chg="undo custSel delSld modSld sldOrd">
      <pc:chgData name="vds 7" userId="33559902d3ed092c" providerId="LiveId" clId="{9C56A98E-D754-451F-B35A-0C71D8D9F560}" dt="2026-10-06T09:24:02.987" v="44" actId="20577"/>
      <pc:docMkLst>
        <pc:docMk/>
      </pc:docMkLst>
      <pc:sldChg chg="del">
        <pc:chgData name="vds 7" userId="33559902d3ed092c" providerId="LiveId" clId="{9C56A98E-D754-451F-B35A-0C71D8D9F560}" dt="2026-10-06T09:11:21.180" v="33" actId="47"/>
        <pc:sldMkLst>
          <pc:docMk/>
          <pc:sldMk cId="0" sldId="290"/>
        </pc:sldMkLst>
      </pc:sldChg>
      <pc:sldChg chg="modSp mod">
        <pc:chgData name="vds 7" userId="33559902d3ed092c" providerId="LiveId" clId="{9C56A98E-D754-451F-B35A-0C71D8D9F560}" dt="2026-10-06T09:24:02.987" v="44" actId="20577"/>
        <pc:sldMkLst>
          <pc:docMk/>
          <pc:sldMk cId="0" sldId="300"/>
        </pc:sldMkLst>
        <pc:spChg chg="mod">
          <ac:chgData name="vds 7" userId="33559902d3ed092c" providerId="LiveId" clId="{9C56A98E-D754-451F-B35A-0C71D8D9F560}" dt="2026-10-06T09:23:38.337" v="34" actId="20577"/>
          <ac:spMkLst>
            <pc:docMk/>
            <pc:sldMk cId="0" sldId="300"/>
            <ac:spMk id="7" creationId="{00000000-0000-0000-0000-000000000000}"/>
          </ac:spMkLst>
        </pc:spChg>
        <pc:spChg chg="mod">
          <ac:chgData name="vds 7" userId="33559902d3ed092c" providerId="LiveId" clId="{9C56A98E-D754-451F-B35A-0C71D8D9F560}" dt="2026-10-06T09:24:02.987" v="44" actId="20577"/>
          <ac:spMkLst>
            <pc:docMk/>
            <pc:sldMk cId="0" sldId="300"/>
            <ac:spMk id="9" creationId="{00000000-0000-0000-0000-000000000000}"/>
          </ac:spMkLst>
        </pc:spChg>
        <pc:spChg chg="mod">
          <ac:chgData name="vds 7" userId="33559902d3ed092c" providerId="LiveId" clId="{9C56A98E-D754-451F-B35A-0C71D8D9F560}" dt="2026-10-06T09:24:01.115" v="43" actId="20577"/>
          <ac:spMkLst>
            <pc:docMk/>
            <pc:sldMk cId="0" sldId="300"/>
            <ac:spMk id="11" creationId="{00000000-0000-0000-0000-000000000000}"/>
          </ac:spMkLst>
        </pc:spChg>
        <pc:spChg chg="mod">
          <ac:chgData name="vds 7" userId="33559902d3ed092c" providerId="LiveId" clId="{9C56A98E-D754-451F-B35A-0C71D8D9F560}" dt="2026-10-06T09:23:59.237" v="42" actId="20577"/>
          <ac:spMkLst>
            <pc:docMk/>
            <pc:sldMk cId="0" sldId="300"/>
            <ac:spMk id="13" creationId="{00000000-0000-0000-0000-000000000000}"/>
          </ac:spMkLst>
        </pc:spChg>
        <pc:spChg chg="mod">
          <ac:chgData name="vds 7" userId="33559902d3ed092c" providerId="LiveId" clId="{9C56A98E-D754-451F-B35A-0C71D8D9F560}" dt="2026-10-06T09:23:41.436" v="35" actId="20577"/>
          <ac:spMkLst>
            <pc:docMk/>
            <pc:sldMk cId="0" sldId="300"/>
            <ac:spMk id="17" creationId="{00000000-0000-0000-0000-000000000000}"/>
          </ac:spMkLst>
        </pc:spChg>
        <pc:spChg chg="mod">
          <ac:chgData name="vds 7" userId="33559902d3ed092c" providerId="LiveId" clId="{9C56A98E-D754-451F-B35A-0C71D8D9F560}" dt="2026-10-06T09:23:43.979" v="36" actId="20577"/>
          <ac:spMkLst>
            <pc:docMk/>
            <pc:sldMk cId="0" sldId="300"/>
            <ac:spMk id="19" creationId="{00000000-0000-0000-0000-000000000000}"/>
          </ac:spMkLst>
        </pc:spChg>
        <pc:spChg chg="mod">
          <ac:chgData name="vds 7" userId="33559902d3ed092c" providerId="LiveId" clId="{9C56A98E-D754-451F-B35A-0C71D8D9F560}" dt="2026-10-06T09:23:51.579" v="40" actId="20577"/>
          <ac:spMkLst>
            <pc:docMk/>
            <pc:sldMk cId="0" sldId="300"/>
            <ac:spMk id="21" creationId="{00000000-0000-0000-0000-000000000000}"/>
          </ac:spMkLst>
        </pc:spChg>
        <pc:spChg chg="mod">
          <ac:chgData name="vds 7" userId="33559902d3ed092c" providerId="LiveId" clId="{9C56A98E-D754-451F-B35A-0C71D8D9F560}" dt="2026-10-06T09:23:54.187" v="41" actId="20577"/>
          <ac:spMkLst>
            <pc:docMk/>
            <pc:sldMk cId="0" sldId="300"/>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We are presenting EDGE, the Evidence-Driven Game Engine, a cricket analytics platform built on a complete data engineering pipeline.</a:t>
            </a:r>
          </a:p>
        </p:txBody>
      </p:sp>
      <p:sp>
        <p:nvSpPr>
          <p:cNvPr id="4" name="Slide Number Placeholder 3"/>
          <p:cNvSpPr>
            <a:spLocks noGrp="1"/>
          </p:cNvSpPr>
          <p:nvPr>
            <p:ph type="sldNum" sz="quarter" idx="5"/>
          </p:nvPr>
        </p:nvSpPr>
        <p:spPr/>
        <p:txBody>
          <a:bodyPr/>
          <a:lstStyle/>
          <a:p>
            <a:fld id="{9F19044B-B5AF-477C-950C-4ED51263438D}" type="slidenum">
              <a:rPr lang="en-US" smtClean="0"/>
              <a:t>1</a:t>
            </a:fld>
            <a:endParaRPr lang="en-US"/>
          </a:p>
        </p:txBody>
      </p:sp>
    </p:spTree>
    <p:extLst>
      <p:ext uri="{BB962C8B-B14F-4D97-AF65-F5344CB8AC3E}">
        <p14:creationId xmlns:p14="http://schemas.microsoft.com/office/powerpoint/2010/main" val="2158068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our Review 4. We will cover the comparison with other approaches, our discussion, the results and the conclusion.</a:t>
            </a:r>
          </a:p>
        </p:txBody>
      </p:sp>
      <p:sp>
        <p:nvSpPr>
          <p:cNvPr id="4" name="Slide Number Placeholder 3"/>
          <p:cNvSpPr>
            <a:spLocks noGrp="1"/>
          </p:cNvSpPr>
          <p:nvPr>
            <p:ph type="sldNum" sz="quarter" idx="5"/>
          </p:nvPr>
        </p:nvSpPr>
        <p:spPr/>
        <p:txBody>
          <a:bodyPr/>
          <a:lstStyle/>
          <a:p>
            <a:fld id="{BF84AE20-9EAE-4BB7-93AC-7EFA05BCA1CF}" type="slidenum">
              <a:rPr lang="en-IN" smtClean="0"/>
              <a:t>2</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the big picture. We compared four ways to build a data pipeline: traditional batch with Hadoop and Spark, cloud ELT with Snowflake and BigQuery, real-time streaming with Kafka and Flink, and our EDGE hybrid. EDGE combines bulk batch loading for historical data with cached API polling for live data, all on open-source PostgreSQL. The next slides show how each metric compares.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one metric at a time. Throughput: EDGE ingests 38,500 deliveries per second, 7.7 times faster than traditional batch.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Ingestion cost: EDGE has no SaaS ingestion fee because it uses open-source PostgreSQL. We still pay for our own server and storage, but there is no per-GB charge.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Query latency: EDGE answers analytical queries in 28 milliseconds, against 3,200 for traditional batch.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Storage overhead: our normalised schema keeps the footprint at 1.1 times, the lowest of the four.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puts the numbers together and adds latency, compute cost, tools and limitations. The trade-off is clear: EDGE needs more upfront engineering and data modelling.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compare the tools. The other approaches rely on heavy platforms such as Hadoop, Snowflake or Kafka. EDGE uses a lean stack, and each tool has a reason. Throughput comes from execute_values batching 5,000 rows per transaction. Cost is lower because PostgreSQL is open source. Latency is 28 milliseconds because of composite B-Tree indexes on batter, bowler and match. Storage is lowest because of a normalised schema and CDN images instead of stored files. Together this shows EDGE is not only cheaper; it is a design that fits our workload of large historical data plus a small live feed.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architecture, in four stages. Stage one, three sources: Cricsheet gives historical ball-by-ball JSON, CricAPI gives live scores, and SportMonks gives player metadata. Stage two, ingestion and transformation: batch tuple ingestion loads data fast, the entity reconciler fixes name mismatches like V Kohli and Virat Kohli, and an LRU cache with a rate limiter protects the live API. Stage three, PostgreSQL in third normal form with B-Tree indexes, plus a CDN resolver for player photos. Stage four, serving: Next.js provides the APIs, HydraDB models player relationships, Hindsight keeps long-term context, and RocketRide routes between language models with fallback. Each layer is separate, so it can change independently. We added HydraDB, Hindsight and RocketRide at the serving layer without changing the main database, so the core data stays simple while the AI features grow.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data engineering becomes a product. Ball-by-ball data in PostgreSQL feeds feature engineering, such as strike rate, economy and rolling form. The micro-battle engine uses indexed batter-versus-bowler queries. The fantasy projection engine turns those features into predictions, which produce captain, vice-captain and hidden gem suggestions. Finally, the AI explains each pick using database facts, so answers are grounded, not guessed. This slide connects the two halves of our project: the data pipeline we just saw, and the product users actually touch.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results. Loading over 800,000 balls dropped from about 140 minutes to 88 seconds. Analytical queries over more than 11 million rows run in under 35 milliseconds. Streaming player photos from a CDN saved about 12 gigabytes of storage. And AI failover across three providers means no downtime when one hits its quota. The biggest win is ingestion: reloading the full archive now takes about a minute and a half instead of over two hours.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First, high-performance analytics does not need costly cloud warehouses; batching, normalisation, indexing and entity resolution are enough. Second, combining batch history with live feeds gives a scalable hybrid design. Third, grounding the AI in database facts reduces hallucination. Thank you. In short: we engineered the data, we analyse it, and we turn it into cricket intelligence.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data sources and architecture references. The links are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the book and formulas behind our design: Fundamentals of Data Engineering guided our five-layer structure.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We are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6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6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6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6 October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rocketride-org/rocketride-server" TargetMode="External"/><Relationship Id="rId3" Type="http://schemas.openxmlformats.org/officeDocument/2006/relationships/image" Target="../media/image2.png"/><Relationship Id="rId7" Type="http://schemas.openxmlformats.org/officeDocument/2006/relationships/hyperlink" Target="https://www.sportmonks.com/cricket-api/"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a.espncdn.com/" TargetMode="External"/><Relationship Id="rId11" Type="http://schemas.openxmlformats.org/officeDocument/2006/relationships/hyperlink" Target="https://github.com/vectorize-io/self-driving-agents" TargetMode="External"/><Relationship Id="rId5" Type="http://schemas.openxmlformats.org/officeDocument/2006/relationships/hyperlink" Target="https://cricapi.com/" TargetMode="External"/><Relationship Id="rId10" Type="http://schemas.openxmlformats.org/officeDocument/2006/relationships/hyperlink" Target="https://github.com/vectorize-io/hindsight" TargetMode="External"/><Relationship Id="rId4" Type="http://schemas.openxmlformats.org/officeDocument/2006/relationships/hyperlink" Target="https://cricsheet.org/" TargetMode="External"/><Relationship Id="rId9" Type="http://schemas.openxmlformats.org/officeDocument/2006/relationships/hyperlink" Target="https://github.com/hydra-db/hydradb"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19425" y="1036793"/>
            <a:ext cx="6153150" cy="176589"/>
          </a:xfrm>
        </p:spPr>
        <p:txBody>
          <a:bodyPr>
            <a:normAutofit fontScale="90000"/>
          </a:bodyPr>
          <a:lstStyle/>
          <a:p>
            <a:pPr>
              <a:defRPr/>
            </a:pPr>
            <a:br>
              <a:rPr lang="en-US" sz="1350" b="1">
                <a:solidFill>
                  <a:schemeClr val="accent1"/>
                </a:solidFill>
                <a:latin typeface="Times New Roman" pitchFamily="18" charset="0"/>
                <a:cs typeface="Times New Roman" pitchFamily="18" charset="0"/>
              </a:rPr>
            </a:br>
            <a:br>
              <a:rPr lang="en-US" sz="2200" b="1">
                <a:latin typeface="Times New Roman" pitchFamily="18" charset="0"/>
                <a:cs typeface="Times New Roman" pitchFamily="18" charset="0"/>
              </a:rPr>
            </a:br>
            <a:br>
              <a:rPr lang="en-US" sz="1350">
                <a:latin typeface="Times New Roman" pitchFamily="18" charset="0"/>
                <a:cs typeface="Times New Roman" pitchFamily="18" charset="0"/>
              </a:rPr>
            </a:br>
            <a:r>
              <a:rPr lang="en-US" sz="2200">
                <a:latin typeface="Times New Roman" pitchFamily="18" charset="0"/>
                <a:cs typeface="Times New Roman" pitchFamily="18" charset="0"/>
              </a:rPr>
              <a:t> </a:t>
            </a:r>
            <a:br>
              <a:rPr lang="en-US" sz="2200">
                <a:latin typeface="Times New Roman" pitchFamily="18" charset="0"/>
                <a:cs typeface="Times New Roman" pitchFamily="18" charset="0"/>
              </a:rPr>
            </a:br>
            <a:r>
              <a:rPr lang="en-US" sz="2200">
                <a:latin typeface="Times New Roman" pitchFamily="18" charset="0"/>
                <a:cs typeface="Times New Roman" pitchFamily="18" charset="0"/>
              </a:rPr>
              <a:t> </a:t>
            </a:r>
            <a:br>
              <a:rPr lang="en-US" b="1"/>
            </a:br>
            <a:endParaRPr lang="en-US" sz="3000" b="1">
              <a:latin typeface="Times New Roman" pitchFamily="18" charset="0"/>
              <a:cs typeface="Times New Roman" pitchFamily="18" charset="0"/>
            </a:endParaRPr>
          </a:p>
        </p:txBody>
      </p:sp>
      <p:sp>
        <p:nvSpPr>
          <p:cNvPr id="3" name="Subtitle 2"/>
          <p:cNvSpPr>
            <a:spLocks noGrp="1"/>
          </p:cNvSpPr>
          <p:nvPr>
            <p:ph type="subTitle" idx="1"/>
          </p:nvPr>
        </p:nvSpPr>
        <p:spPr>
          <a:xfrm>
            <a:off x="2799704" y="556340"/>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endParaRPr lang="en-US" sz="6400" b="1" dirty="0">
              <a:latin typeface="Times New Roman" pitchFamily="18" charset="0"/>
              <a:cs typeface="Times New Roman" pitchFamily="18" charset="0"/>
            </a:endParaRPr>
          </a:p>
          <a:p>
            <a:pPr>
              <a:lnSpc>
                <a:spcPct val="80000"/>
              </a:lnSpc>
              <a:defRPr/>
            </a:pPr>
            <a:r>
              <a:rPr lang="en-US" sz="6400" b="1" dirty="0">
                <a:latin typeface="Times New Roman" pitchFamily="18" charset="0"/>
                <a:cs typeface="Times New Roman" pitchFamily="18" charset="0"/>
              </a:rPr>
              <a:t> </a:t>
            </a:r>
            <a:r>
              <a:rPr lang="en-US" sz="8000" b="1" dirty="0">
                <a:latin typeface="Times New Roman" pitchFamily="18" charset="0"/>
                <a:cs typeface="Times New Roman" pitchFamily="18" charset="0"/>
              </a:rPr>
              <a:t>Team members</a:t>
            </a:r>
          </a:p>
          <a:p>
            <a:pPr>
              <a:lnSpc>
                <a:spcPct val="80000"/>
              </a:lnSpc>
              <a:defRPr/>
            </a:pPr>
            <a:endParaRPr lang="en-US" sz="6400" b="1" dirty="0">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just">
              <a:lnSpc>
                <a:spcPct val="80000"/>
              </a:lnSpc>
              <a:defRPr/>
            </a:pPr>
            <a:r>
              <a:rPr lang="en-US" sz="5600" b="1" dirty="0">
                <a:latin typeface="Times New Roman" pitchFamily="18" charset="0"/>
                <a:cs typeface="Times New Roman" pitchFamily="18" charset="0"/>
              </a:rPr>
              <a:t>                                                 Roll No             Name</a:t>
            </a:r>
          </a:p>
          <a:p>
            <a:pPr algn="just">
              <a:lnSpc>
                <a:spcPct val="80000"/>
              </a:lnSpc>
              <a:defRPr/>
            </a:pPr>
            <a:r>
              <a:rPr lang="en-US" sz="5600" b="1" dirty="0">
                <a:latin typeface="Times New Roman" pitchFamily="18" charset="0"/>
                <a:cs typeface="Times New Roman" pitchFamily="18" charset="0"/>
              </a:rPr>
              <a:t>		        </a:t>
            </a:r>
            <a:r>
              <a:rPr lang="en-US" sz="5600" dirty="0">
                <a:latin typeface="Times New Roman" pitchFamily="18" charset="0"/>
                <a:cs typeface="Times New Roman" pitchFamily="18" charset="0"/>
              </a:rPr>
              <a:t>2420030552      P LAHARI</a:t>
            </a:r>
            <a:endParaRPr lang="en-US" sz="5600" b="1" dirty="0">
              <a:latin typeface="Times New Roman" pitchFamily="18" charset="0"/>
              <a:cs typeface="Times New Roman" pitchFamily="18" charset="0"/>
            </a:endParaRPr>
          </a:p>
          <a:p>
            <a:pPr algn="just">
              <a:lnSpc>
                <a:spcPct val="80000"/>
              </a:lnSpc>
              <a:defRPr/>
            </a:pPr>
            <a:r>
              <a:rPr lang="en-US" sz="5600" b="1" dirty="0">
                <a:latin typeface="Times New Roman" pitchFamily="18" charset="0"/>
                <a:cs typeface="Times New Roman" pitchFamily="18" charset="0"/>
              </a:rPr>
              <a:t>		        </a:t>
            </a:r>
            <a:r>
              <a:rPr lang="en-US" sz="5600" dirty="0">
                <a:latin typeface="Times New Roman" pitchFamily="18" charset="0"/>
                <a:cs typeface="Times New Roman" pitchFamily="18" charset="0"/>
              </a:rPr>
              <a:t>2420030009</a:t>
            </a:r>
            <a:r>
              <a:rPr lang="en-US" sz="5600" dirty="0"/>
              <a:t>       </a:t>
            </a:r>
            <a:r>
              <a:rPr lang="en-US" sz="5600" dirty="0">
                <a:latin typeface="Times New Roman" panose="02020603050405020304" pitchFamily="18" charset="0"/>
                <a:cs typeface="Times New Roman" panose="02020603050405020304" pitchFamily="18" charset="0"/>
              </a:rPr>
              <a:t>V. DHRUVA SAI</a:t>
            </a:r>
            <a:endParaRPr lang="en-IN" sz="5600" dirty="0">
              <a:latin typeface="Times New Roman" panose="02020603050405020304" pitchFamily="18" charset="0"/>
              <a:cs typeface="Times New Roman" panose="02020603050405020304" pitchFamily="18" charset="0"/>
            </a:endParaRPr>
          </a:p>
          <a:p>
            <a:pPr algn="just">
              <a:lnSpc>
                <a:spcPct val="80000"/>
              </a:lnSpc>
              <a:defRPr/>
            </a:pPr>
            <a:r>
              <a:rPr lang="en-US" sz="5600" dirty="0">
                <a:latin typeface="Times New Roman" pitchFamily="18" charset="0"/>
                <a:cs typeface="Times New Roman" pitchFamily="18" charset="0"/>
              </a:rPr>
              <a:t>                                                 2420030310      NIKHIL SHREYAS</a:t>
            </a:r>
          </a:p>
          <a:p>
            <a:pPr algn="just"/>
            <a:r>
              <a:rPr lang="en-US" sz="4800" dirty="0">
                <a:latin typeface="Times New Roman" pitchFamily="18" charset="0"/>
                <a:cs typeface="Times New Roman" pitchFamily="18" charset="0"/>
              </a:rPr>
              <a:t>                                                             </a:t>
            </a: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endParaRPr lang="en-US" sz="4200" dirty="0">
              <a:solidFill>
                <a:srgbClr val="0D0D0D"/>
              </a:solidFill>
              <a:latin typeface="Times New Roman" pitchFamily="18" charset="0"/>
              <a:cs typeface="Times New Roman" pitchFamily="18" charset="0"/>
            </a:endParaRPr>
          </a:p>
          <a:p>
            <a:pPr>
              <a:lnSpc>
                <a:spcPct val="80000"/>
              </a:lnSpc>
              <a:defRPr/>
            </a:pPr>
            <a:r>
              <a:rPr lang="en-US" sz="4200" b="1" dirty="0">
                <a:latin typeface="Times New Roman" panose="02020603050405020304" pitchFamily="18" charset="0"/>
                <a:cs typeface="Times New Roman" panose="02020603050405020304" pitchFamily="18" charset="0"/>
              </a:rPr>
              <a:t>Dr. N Shirisha</a:t>
            </a:r>
          </a:p>
          <a:p>
            <a:pPr>
              <a:lnSpc>
                <a:spcPct val="80000"/>
              </a:lnSpc>
              <a:defRPr/>
            </a:pPr>
            <a:r>
              <a:rPr lang="en-US" sz="4200" b="1" dirty="0">
                <a:latin typeface="Times New Roman" panose="02020603050405020304" pitchFamily="18" charset="0"/>
                <a:cs typeface="Times New Roman" panose="02020603050405020304" pitchFamily="18" charset="0"/>
              </a:rPr>
              <a:t>Associate Professor</a:t>
            </a: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903350" y="5297505"/>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200" kern="10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8505" y="4357720"/>
            <a:ext cx="1874990" cy="939785"/>
          </a:xfrm>
          <a:prstGeom prst="rect">
            <a:avLst/>
          </a:prstGeom>
          <a:noFill/>
          <a:ln>
            <a:noFill/>
          </a:ln>
        </p:spPr>
      </p:pic>
      <p:sp>
        <p:nvSpPr>
          <p:cNvPr id="7" name="TextBox 6">
            <a:extLst>
              <a:ext uri="{FF2B5EF4-FFF2-40B4-BE49-F238E27FC236}">
                <a16:creationId xmlns:a16="http://schemas.microsoft.com/office/drawing/2014/main" id="{53448101-9BBC-E504-8E34-77B5C29EA187}"/>
              </a:ext>
            </a:extLst>
          </p:cNvPr>
          <p:cNvSpPr txBox="1"/>
          <p:nvPr/>
        </p:nvSpPr>
        <p:spPr>
          <a:xfrm>
            <a:off x="3048646" y="43681"/>
            <a:ext cx="6094708" cy="523220"/>
          </a:xfrm>
          <a:prstGeom prst="rect">
            <a:avLst/>
          </a:prstGeom>
          <a:noFill/>
        </p:spPr>
        <p:txBody>
          <a:bodyPr wrap="square">
            <a:spAutoFit/>
          </a:bodyPr>
          <a:lstStyle/>
          <a:p>
            <a:pPr lvl="0" algn="ctr">
              <a:defRPr/>
            </a:pPr>
            <a:r>
              <a:rPr lang="en-US" sz="2800" b="1">
                <a:latin typeface="Times New Roman" panose="02020603050405020304" pitchFamily="18" charset="0"/>
                <a:cs typeface="Times New Roman" panose="02020603050405020304" pitchFamily="18" charset="0"/>
              </a:rPr>
              <a:t>Evidence-Driven-Game-Engine</a:t>
            </a:r>
            <a:endParaRPr lang="en-IN"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5253038" y="2925962"/>
            <a:ext cx="6200774" cy="338554"/>
          </a:xfrm>
          <a:prstGeom prst="rect">
            <a:avLst/>
          </a:prstGeom>
          <a:noFill/>
          <a:effectLst>
            <a:glow rad="139700">
              <a:schemeClr val="accent2">
                <a:satMod val="175000"/>
                <a:alpha val="40000"/>
              </a:schemeClr>
            </a:glow>
          </a:effectLst>
        </p:spPr>
        <p:txBody>
          <a:bodyPr wrap="square">
            <a:spAutoFit/>
          </a:bodyPr>
          <a:lstStyle/>
          <a:p>
            <a:pPr lvl="0">
              <a:defRPr/>
            </a:pPr>
            <a:r>
              <a:rPr lang="en-IN" sz="1600" b="1">
                <a:solidFill>
                  <a:srgbClr val="C00000"/>
                </a:solidFill>
                <a:latin typeface="Times New Roman" panose="02020603050405020304" pitchFamily="18" charset="0"/>
                <a:cs typeface="Times New Roman" panose="02020603050405020304" pitchFamily="18" charset="0"/>
              </a:rPr>
              <a:t>Team Members</a:t>
            </a:r>
          </a:p>
        </p:txBody>
      </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Project Review-4</a:t>
            </a: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800" b="1">
                <a:solidFill>
                  <a:schemeClr val="bg1"/>
                </a:solidFill>
                <a:latin typeface="Times New Roman" panose="02020603050405020304" pitchFamily="18" charset="0"/>
                <a:cs typeface="Times New Roman" panose="02020603050405020304" pitchFamily="18" charset="0"/>
              </a:rPr>
              <a:t>Evidence-Driven-Game-Engine</a:t>
            </a:r>
            <a:endParaRPr lang="en-IN" sz="360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a:latin typeface="Times New Roman" panose="02020603050405020304" pitchFamily="18" charset="0"/>
                <a:cs typeface="Times New Roman" panose="02020603050405020304" pitchFamily="18" charset="0"/>
              </a:rPr>
              <a:t>Review-4</a:t>
            </a:r>
          </a:p>
        </p:txBody>
      </p:sp>
      <p:graphicFrame>
        <p:nvGraphicFramePr>
          <p:cNvPr id="2" name="Table 1">
            <a:extLst>
              <a:ext uri="{FF2B5EF4-FFF2-40B4-BE49-F238E27FC236}">
                <a16:creationId xmlns:a16="http://schemas.microsoft.com/office/drawing/2014/main" id="{0BE0ADED-D752-3A08-A07E-DBED3BF5BFC9}"/>
              </a:ext>
            </a:extLst>
          </p:cNvPr>
          <p:cNvGraphicFramePr>
            <a:graphicFrameLocks noGrp="1"/>
          </p:cNvGraphicFramePr>
          <p:nvPr>
            <p:extLst>
              <p:ext uri="{D42A27DB-BD31-4B8C-83A1-F6EECF244321}">
                <p14:modId xmlns:p14="http://schemas.microsoft.com/office/powerpoint/2010/main" val="149249200"/>
              </p:ext>
            </p:extLst>
          </p:nvPr>
        </p:nvGraphicFramePr>
        <p:xfrm>
          <a:off x="2209800" y="3276621"/>
          <a:ext cx="8128000" cy="140579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07094112"/>
                    </a:ext>
                  </a:extLst>
                </a:gridCol>
                <a:gridCol w="4064000">
                  <a:extLst>
                    <a:ext uri="{9D8B030D-6E8A-4147-A177-3AD203B41FA5}">
                      <a16:colId xmlns:a16="http://schemas.microsoft.com/office/drawing/2014/main" val="2687091373"/>
                    </a:ext>
                  </a:extLst>
                </a:gridCol>
              </a:tblGrid>
              <a:tr h="468597">
                <a:tc>
                  <a:txBody>
                    <a:bodyPr/>
                    <a:lstStyle/>
                    <a:p>
                      <a:r>
                        <a:rPr lang="en-US" b="1"/>
                        <a:t>P LAHARI</a:t>
                      </a:r>
                      <a:endParaRPr lang="en-IN" b="1"/>
                    </a:p>
                  </a:txBody>
                  <a:tcPr/>
                </a:tc>
                <a:tc>
                  <a:txBody>
                    <a:bodyPr/>
                    <a:lstStyle/>
                    <a:p>
                      <a:r>
                        <a:rPr lang="en-US" b="1"/>
                        <a:t>2420030552</a:t>
                      </a:r>
                      <a:endParaRPr lang="en-IN" b="1"/>
                    </a:p>
                  </a:txBody>
                  <a:tcPr/>
                </a:tc>
                <a:extLst>
                  <a:ext uri="{0D108BD9-81ED-4DB2-BD59-A6C34878D82A}">
                    <a16:rowId xmlns:a16="http://schemas.microsoft.com/office/drawing/2014/main" val="939106477"/>
                  </a:ext>
                </a:extLst>
              </a:tr>
              <a:tr h="468597">
                <a:tc>
                  <a:txBody>
                    <a:bodyPr/>
                    <a:lstStyle/>
                    <a:p>
                      <a:r>
                        <a:rPr lang="en-US" b="1"/>
                        <a:t>NIKHIL SHREYAS</a:t>
                      </a:r>
                      <a:endParaRPr lang="en-IN" b="1"/>
                    </a:p>
                  </a:txBody>
                  <a:tcPr/>
                </a:tc>
                <a:tc>
                  <a:txBody>
                    <a:bodyPr/>
                    <a:lstStyle/>
                    <a:p>
                      <a:r>
                        <a:rPr lang="en-IN" sz="1800" b="1" kern="1200">
                          <a:solidFill>
                            <a:schemeClr val="dk1"/>
                          </a:solidFill>
                          <a:effectLst/>
                          <a:latin typeface="+mn-lt"/>
                          <a:ea typeface="+mn-ea"/>
                          <a:cs typeface="+mn-cs"/>
                        </a:rPr>
                        <a:t>2420030310</a:t>
                      </a:r>
                      <a:endParaRPr lang="en-IN"/>
                    </a:p>
                  </a:txBody>
                  <a:tcPr/>
                </a:tc>
                <a:extLst>
                  <a:ext uri="{0D108BD9-81ED-4DB2-BD59-A6C34878D82A}">
                    <a16:rowId xmlns:a16="http://schemas.microsoft.com/office/drawing/2014/main" val="4139085253"/>
                  </a:ext>
                </a:extLst>
              </a:tr>
              <a:tr h="468597">
                <a:tc>
                  <a:txBody>
                    <a:bodyPr/>
                    <a:lstStyle/>
                    <a:p>
                      <a:r>
                        <a:rPr lang="en-US" b="1"/>
                        <a:t>DHRUVA SAI</a:t>
                      </a:r>
                      <a:endParaRPr lang="en-IN" b="1"/>
                    </a:p>
                  </a:txBody>
                  <a:tcPr/>
                </a:tc>
                <a:tc>
                  <a:txBody>
                    <a:bodyPr/>
                    <a:lstStyle/>
                    <a:p>
                      <a:r>
                        <a:rPr lang="en-US" b="1"/>
                        <a:t>2420030009</a:t>
                      </a:r>
                      <a:endParaRPr lang="en-IN" b="1"/>
                    </a:p>
                  </a:txBody>
                  <a:tcPr/>
                </a:tc>
                <a:extLst>
                  <a:ext uri="{0D108BD9-81ED-4DB2-BD59-A6C34878D82A}">
                    <a16:rowId xmlns:a16="http://schemas.microsoft.com/office/drawing/2014/main" val="3444130293"/>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365760"/>
            <a:ext cx="9445752" cy="731520"/>
          </a:xfrm>
          <a:prstGeom prst="rect">
            <a:avLst/>
          </a:prstGeom>
          <a:noFill/>
          <a:ln>
            <a:noFill/>
          </a:ln>
        </p:spPr>
        <p:txBody>
          <a:bodyPr wrap="square" lIns="0" tIns="0" rIns="0" bIns="0" anchor="ctr">
            <a:spAutoFit/>
          </a:bodyPr>
          <a:lstStyle/>
          <a:p>
            <a:pPr algn="ctr"/>
            <a:r>
              <a:rPr sz="2800" b="1">
                <a:solidFill>
                  <a:srgbClr val="000000"/>
                </a:solidFill>
              </a:rPr>
              <a:t>Comparison: Data Engineering Approaches</a:t>
            </a:r>
          </a:p>
        </p:txBody>
      </p:sp>
      <p:pic>
        <p:nvPicPr>
          <p:cNvPr id="4" name="Picture 3" descr="img_cmp.png"/>
          <p:cNvPicPr>
            <a:picLocks noChangeAspect="1"/>
          </p:cNvPicPr>
          <p:nvPr/>
        </p:nvPicPr>
        <p:blipFill>
          <a:blip r:embed="rId4"/>
          <a:stretch>
            <a:fillRect/>
          </a:stretch>
        </p:blipFill>
        <p:spPr>
          <a:xfrm>
            <a:off x="685800" y="1188720"/>
            <a:ext cx="10789920" cy="539496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274320"/>
            <a:ext cx="9445752" cy="640080"/>
          </a:xfrm>
          <a:prstGeom prst="rect">
            <a:avLst/>
          </a:prstGeom>
          <a:noFill/>
          <a:ln>
            <a:noFill/>
          </a:ln>
        </p:spPr>
        <p:txBody>
          <a:bodyPr wrap="square" lIns="0" tIns="0" rIns="0" bIns="0" anchor="ctr">
            <a:spAutoFit/>
          </a:bodyPr>
          <a:lstStyle/>
          <a:p>
            <a:pPr algn="ctr"/>
            <a:r>
              <a:rPr sz="3200" b="1">
                <a:solidFill>
                  <a:srgbClr val="000000"/>
                </a:solidFill>
              </a:rPr>
              <a:t>Comparison: Throughput</a:t>
            </a:r>
          </a:p>
        </p:txBody>
      </p:sp>
      <p:pic>
        <p:nvPicPr>
          <p:cNvPr id="4" name="Picture 3" descr="i_thr.png"/>
          <p:cNvPicPr>
            <a:picLocks noChangeAspect="1"/>
          </p:cNvPicPr>
          <p:nvPr/>
        </p:nvPicPr>
        <p:blipFill>
          <a:blip r:embed="rId4"/>
          <a:stretch>
            <a:fillRect/>
          </a:stretch>
        </p:blipFill>
        <p:spPr>
          <a:xfrm>
            <a:off x="1760220" y="960120"/>
            <a:ext cx="8641080" cy="576072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274320"/>
            <a:ext cx="9445752" cy="640080"/>
          </a:xfrm>
          <a:prstGeom prst="rect">
            <a:avLst/>
          </a:prstGeom>
          <a:noFill/>
          <a:ln>
            <a:noFill/>
          </a:ln>
        </p:spPr>
        <p:txBody>
          <a:bodyPr wrap="square" lIns="0" tIns="0" rIns="0" bIns="0" anchor="ctr">
            <a:spAutoFit/>
          </a:bodyPr>
          <a:lstStyle/>
          <a:p>
            <a:pPr algn="ctr"/>
            <a:r>
              <a:rPr sz="3200" b="1">
                <a:solidFill>
                  <a:srgbClr val="000000"/>
                </a:solidFill>
              </a:rPr>
              <a:t>Comparison: Ingestion Cost</a:t>
            </a:r>
          </a:p>
        </p:txBody>
      </p:sp>
      <p:pic>
        <p:nvPicPr>
          <p:cNvPr id="4" name="Picture 3" descr="i_cost.png"/>
          <p:cNvPicPr>
            <a:picLocks noChangeAspect="1"/>
          </p:cNvPicPr>
          <p:nvPr/>
        </p:nvPicPr>
        <p:blipFill>
          <a:blip r:embed="rId4"/>
          <a:stretch>
            <a:fillRect/>
          </a:stretch>
        </p:blipFill>
        <p:spPr>
          <a:xfrm>
            <a:off x="1760220" y="960120"/>
            <a:ext cx="8641080" cy="576072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274320"/>
            <a:ext cx="9445752" cy="640080"/>
          </a:xfrm>
          <a:prstGeom prst="rect">
            <a:avLst/>
          </a:prstGeom>
          <a:noFill/>
          <a:ln>
            <a:noFill/>
          </a:ln>
        </p:spPr>
        <p:txBody>
          <a:bodyPr wrap="square" lIns="0" tIns="0" rIns="0" bIns="0" anchor="ctr">
            <a:spAutoFit/>
          </a:bodyPr>
          <a:lstStyle/>
          <a:p>
            <a:pPr algn="ctr"/>
            <a:r>
              <a:rPr sz="3200" b="1">
                <a:solidFill>
                  <a:srgbClr val="000000"/>
                </a:solidFill>
              </a:rPr>
              <a:t>Comparison: Query Latency</a:t>
            </a:r>
          </a:p>
        </p:txBody>
      </p:sp>
      <p:pic>
        <p:nvPicPr>
          <p:cNvPr id="4" name="Picture 3" descr="i_lat.png"/>
          <p:cNvPicPr>
            <a:picLocks noChangeAspect="1"/>
          </p:cNvPicPr>
          <p:nvPr/>
        </p:nvPicPr>
        <p:blipFill>
          <a:blip r:embed="rId4"/>
          <a:stretch>
            <a:fillRect/>
          </a:stretch>
        </p:blipFill>
        <p:spPr>
          <a:xfrm>
            <a:off x="1760220" y="960120"/>
            <a:ext cx="8641080" cy="576072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274320"/>
            <a:ext cx="9445752" cy="640080"/>
          </a:xfrm>
          <a:prstGeom prst="rect">
            <a:avLst/>
          </a:prstGeom>
          <a:noFill/>
          <a:ln>
            <a:noFill/>
          </a:ln>
        </p:spPr>
        <p:txBody>
          <a:bodyPr wrap="square" lIns="0" tIns="0" rIns="0" bIns="0" anchor="ctr">
            <a:spAutoFit/>
          </a:bodyPr>
          <a:lstStyle/>
          <a:p>
            <a:pPr algn="ctr"/>
            <a:r>
              <a:rPr sz="3200" b="1">
                <a:solidFill>
                  <a:srgbClr val="000000"/>
                </a:solidFill>
              </a:rPr>
              <a:t>Comparison: Storage Overhead</a:t>
            </a:r>
          </a:p>
        </p:txBody>
      </p:sp>
      <p:pic>
        <p:nvPicPr>
          <p:cNvPr id="4" name="Picture 3" descr="i_sto.png"/>
          <p:cNvPicPr>
            <a:picLocks noChangeAspect="1"/>
          </p:cNvPicPr>
          <p:nvPr/>
        </p:nvPicPr>
        <p:blipFill>
          <a:blip r:embed="rId4"/>
          <a:stretch>
            <a:fillRect/>
          </a:stretch>
        </p:blipFill>
        <p:spPr>
          <a:xfrm>
            <a:off x="1760220" y="960120"/>
            <a:ext cx="8641080" cy="576072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365760"/>
            <a:ext cx="9445752" cy="731520"/>
          </a:xfrm>
          <a:prstGeom prst="rect">
            <a:avLst/>
          </a:prstGeom>
          <a:noFill/>
          <a:ln>
            <a:noFill/>
          </a:ln>
        </p:spPr>
        <p:txBody>
          <a:bodyPr wrap="square" lIns="0" tIns="0" rIns="0" bIns="0" anchor="ctr">
            <a:spAutoFit/>
          </a:bodyPr>
          <a:lstStyle/>
          <a:p>
            <a:pPr algn="ctr"/>
            <a:r>
              <a:rPr sz="3200" b="1">
                <a:solidFill>
                  <a:srgbClr val="000000"/>
                </a:solidFill>
              </a:rPr>
              <a:t>Comparison: Measured Metrics</a:t>
            </a:r>
          </a:p>
        </p:txBody>
      </p:sp>
      <p:graphicFrame>
        <p:nvGraphicFramePr>
          <p:cNvPr id="4" name="Table 3"/>
          <p:cNvGraphicFramePr>
            <a:graphicFrameLocks noGrp="1"/>
          </p:cNvGraphicFramePr>
          <p:nvPr/>
        </p:nvGraphicFramePr>
        <p:xfrm>
          <a:off x="640080" y="1280160"/>
          <a:ext cx="10881360" cy="4626864"/>
        </p:xfrm>
        <a:graphic>
          <a:graphicData uri="http://schemas.openxmlformats.org/drawingml/2006/table">
            <a:tbl>
              <a:tblPr>
                <a:tableStyleId>{5C22544A-7EE6-4342-B048-85BDC9FD1C3A}</a:tableStyleId>
              </a:tblPr>
              <a:tblGrid>
                <a:gridCol w="24688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420624">
                <a:tc>
                  <a:txBody>
                    <a:bodyPr/>
                    <a:lstStyle/>
                    <a:p>
                      <a:r>
                        <a:rPr sz="1200" b="1">
                          <a:solidFill>
                            <a:srgbClr val="000000"/>
                          </a:solidFill>
                        </a:rPr>
                        <a:t>Parameter</a:t>
                      </a:r>
                    </a:p>
                  </a:txBody>
                  <a:tcPr marT="27432" marB="27432" anchor="ctr">
                    <a:solidFill>
                      <a:srgbClr val="E4E1DD"/>
                    </a:solidFill>
                  </a:tcPr>
                </a:tc>
                <a:tc>
                  <a:txBody>
                    <a:bodyPr/>
                    <a:lstStyle/>
                    <a:p>
                      <a:r>
                        <a:rPr sz="1200" b="1">
                          <a:solidFill>
                            <a:srgbClr val="000000"/>
                          </a:solidFill>
                        </a:rPr>
                        <a:t>Legacy Batch Spark</a:t>
                      </a:r>
                    </a:p>
                  </a:txBody>
                  <a:tcPr marT="27432" marB="27432" anchor="ctr">
                    <a:solidFill>
                      <a:srgbClr val="E4E1DD"/>
                    </a:solidFill>
                  </a:tcPr>
                </a:tc>
                <a:tc>
                  <a:txBody>
                    <a:bodyPr/>
                    <a:lstStyle/>
                    <a:p>
                      <a:r>
                        <a:rPr sz="1200" b="1">
                          <a:solidFill>
                            <a:srgbClr val="000000"/>
                          </a:solidFill>
                        </a:rPr>
                        <a:t>Cloud SaaS ELT (Fivetran / Snowflake)</a:t>
                      </a:r>
                    </a:p>
                  </a:txBody>
                  <a:tcPr marT="27432" marB="27432" anchor="ctr">
                    <a:solidFill>
                      <a:srgbClr val="E4E1DD"/>
                    </a:solidFill>
                  </a:tcPr>
                </a:tc>
                <a:tc>
                  <a:txBody>
                    <a:bodyPr/>
                    <a:lstStyle/>
                    <a:p>
                      <a:r>
                        <a:rPr sz="1200" b="1">
                          <a:solidFill>
                            <a:srgbClr val="000000"/>
                          </a:solidFill>
                        </a:rPr>
                        <a:t>EDGE Data Architecture</a:t>
                      </a:r>
                    </a:p>
                  </a:txBody>
                  <a:tcPr marT="27432" marB="27432" anchor="ctr">
                    <a:solidFill>
                      <a:srgbClr val="F1C9CC"/>
                    </a:solidFill>
                  </a:tcPr>
                </a:tc>
                <a:extLst>
                  <a:ext uri="{0D108BD9-81ED-4DB2-BD59-A6C34878D82A}">
                    <a16:rowId xmlns:a16="http://schemas.microsoft.com/office/drawing/2014/main" val="10000"/>
                  </a:ext>
                </a:extLst>
              </a:tr>
              <a:tr h="420624">
                <a:tc>
                  <a:txBody>
                    <a:bodyPr/>
                    <a:lstStyle/>
                    <a:p>
                      <a:r>
                        <a:rPr sz="1200" b="1">
                          <a:solidFill>
                            <a:srgbClr val="000000"/>
                          </a:solidFill>
                        </a:rPr>
                        <a:t>Throughput (deliveries / sec)</a:t>
                      </a:r>
                    </a:p>
                  </a:txBody>
                  <a:tcPr marT="27432" marB="27432" anchor="ctr">
                    <a:solidFill>
                      <a:srgbClr val="F4F2F0"/>
                    </a:solidFill>
                  </a:tcPr>
                </a:tc>
                <a:tc>
                  <a:txBody>
                    <a:bodyPr/>
                    <a:lstStyle/>
                    <a:p>
                      <a:r>
                        <a:rPr sz="1200" b="0">
                          <a:solidFill>
                            <a:srgbClr val="000000"/>
                          </a:solidFill>
                        </a:rPr>
                        <a:t>~5,000</a:t>
                      </a:r>
                    </a:p>
                  </a:txBody>
                  <a:tcPr marT="27432" marB="27432" anchor="ctr">
                    <a:solidFill>
                      <a:srgbClr val="F4F2F0"/>
                    </a:solidFill>
                  </a:tcPr>
                </a:tc>
                <a:tc>
                  <a:txBody>
                    <a:bodyPr/>
                    <a:lstStyle/>
                    <a:p>
                      <a:r>
                        <a:rPr sz="1200" b="0">
                          <a:solidFill>
                            <a:srgbClr val="000000"/>
                          </a:solidFill>
                        </a:rPr>
                        <a:t>~12,000</a:t>
                      </a:r>
                    </a:p>
                  </a:txBody>
                  <a:tcPr marT="27432" marB="27432" anchor="ctr">
                    <a:solidFill>
                      <a:srgbClr val="F4F2F0"/>
                    </a:solidFill>
                  </a:tcPr>
                </a:tc>
                <a:tc>
                  <a:txBody>
                    <a:bodyPr/>
                    <a:lstStyle/>
                    <a:p>
                      <a:r>
                        <a:rPr sz="1200" b="1">
                          <a:solidFill>
                            <a:srgbClr val="000000"/>
                          </a:solidFill>
                        </a:rPr>
                        <a:t>~38,500 (tuple streaming)</a:t>
                      </a:r>
                    </a:p>
                  </a:txBody>
                  <a:tcPr marT="27432" marB="27432" anchor="ctr">
                    <a:solidFill>
                      <a:srgbClr val="F9E9EA"/>
                    </a:solidFill>
                  </a:tcPr>
                </a:tc>
                <a:extLst>
                  <a:ext uri="{0D108BD9-81ED-4DB2-BD59-A6C34878D82A}">
                    <a16:rowId xmlns:a16="http://schemas.microsoft.com/office/drawing/2014/main" val="10001"/>
                  </a:ext>
                </a:extLst>
              </a:tr>
              <a:tr h="420624">
                <a:tc>
                  <a:txBody>
                    <a:bodyPr/>
                    <a:lstStyle/>
                    <a:p>
                      <a:r>
                        <a:rPr sz="1200" b="1">
                          <a:solidFill>
                            <a:srgbClr val="000000"/>
                          </a:solidFill>
                        </a:rPr>
                        <a:t>Unit ingestion cost ($ / GB)</a:t>
                      </a:r>
                    </a:p>
                  </a:txBody>
                  <a:tcPr marT="27432" marB="27432" anchor="ctr">
                    <a:solidFill>
                      <a:srgbClr val="FAF9F8"/>
                    </a:solidFill>
                  </a:tcPr>
                </a:tc>
                <a:tc>
                  <a:txBody>
                    <a:bodyPr/>
                    <a:lstStyle/>
                    <a:p>
                      <a:r>
                        <a:rPr sz="1200" b="0">
                          <a:solidFill>
                            <a:srgbClr val="000000"/>
                          </a:solidFill>
                        </a:rPr>
                        <a:t>$0.15</a:t>
                      </a:r>
                    </a:p>
                  </a:txBody>
                  <a:tcPr marT="27432" marB="27432" anchor="ctr">
                    <a:solidFill>
                      <a:srgbClr val="FAF9F8"/>
                    </a:solidFill>
                  </a:tcPr>
                </a:tc>
                <a:tc>
                  <a:txBody>
                    <a:bodyPr/>
                    <a:lstStyle/>
                    <a:p>
                      <a:r>
                        <a:rPr sz="1200" b="0">
                          <a:solidFill>
                            <a:srgbClr val="000000"/>
                          </a:solidFill>
                        </a:rPr>
                        <a:t>$0.45</a:t>
                      </a:r>
                    </a:p>
                  </a:txBody>
                  <a:tcPr marT="27432" marB="27432" anchor="ctr">
                    <a:solidFill>
                      <a:srgbClr val="FAF9F8"/>
                    </a:solidFill>
                  </a:tcPr>
                </a:tc>
                <a:tc>
                  <a:txBody>
                    <a:bodyPr/>
                    <a:lstStyle/>
                    <a:p>
                      <a:r>
                        <a:rPr sz="1200" b="1">
                          <a:solidFill>
                            <a:srgbClr val="000000"/>
                          </a:solidFill>
                        </a:rPr>
                        <a:t>No SaaS ingestion fee (open-source)</a:t>
                      </a:r>
                    </a:p>
                  </a:txBody>
                  <a:tcPr marT="27432" marB="27432" anchor="ctr">
                    <a:solidFill>
                      <a:srgbClr val="F9E9EA"/>
                    </a:solidFill>
                  </a:tcPr>
                </a:tc>
                <a:extLst>
                  <a:ext uri="{0D108BD9-81ED-4DB2-BD59-A6C34878D82A}">
                    <a16:rowId xmlns:a16="http://schemas.microsoft.com/office/drawing/2014/main" val="10002"/>
                  </a:ext>
                </a:extLst>
              </a:tr>
              <a:tr h="420624">
                <a:tc>
                  <a:txBody>
                    <a:bodyPr/>
                    <a:lstStyle/>
                    <a:p>
                      <a:r>
                        <a:rPr sz="1200" b="1">
                          <a:solidFill>
                            <a:srgbClr val="000000"/>
                          </a:solidFill>
                        </a:rPr>
                        <a:t>Point query latency</a:t>
                      </a:r>
                    </a:p>
                  </a:txBody>
                  <a:tcPr marT="27432" marB="27432" anchor="ctr">
                    <a:solidFill>
                      <a:srgbClr val="F4F2F0"/>
                    </a:solidFill>
                  </a:tcPr>
                </a:tc>
                <a:tc>
                  <a:txBody>
                    <a:bodyPr/>
                    <a:lstStyle/>
                    <a:p>
                      <a:r>
                        <a:rPr sz="1200" b="0">
                          <a:solidFill>
                            <a:srgbClr val="000000"/>
                          </a:solidFill>
                        </a:rPr>
                        <a:t>3,200 ms</a:t>
                      </a:r>
                    </a:p>
                  </a:txBody>
                  <a:tcPr marT="27432" marB="27432" anchor="ctr">
                    <a:solidFill>
                      <a:srgbClr val="F4F2F0"/>
                    </a:solidFill>
                  </a:tcPr>
                </a:tc>
                <a:tc>
                  <a:txBody>
                    <a:bodyPr/>
                    <a:lstStyle/>
                    <a:p>
                      <a:r>
                        <a:rPr sz="1200" b="0">
                          <a:solidFill>
                            <a:srgbClr val="000000"/>
                          </a:solidFill>
                        </a:rPr>
                        <a:t>450 ms</a:t>
                      </a:r>
                    </a:p>
                  </a:txBody>
                  <a:tcPr marT="27432" marB="27432" anchor="ctr">
                    <a:solidFill>
                      <a:srgbClr val="F4F2F0"/>
                    </a:solidFill>
                  </a:tcPr>
                </a:tc>
                <a:tc>
                  <a:txBody>
                    <a:bodyPr/>
                    <a:lstStyle/>
                    <a:p>
                      <a:r>
                        <a:rPr sz="1200" b="1">
                          <a:solidFill>
                            <a:srgbClr val="000000"/>
                          </a:solidFill>
                        </a:rPr>
                        <a:t>&lt; 28 ms (composite B-Tree)</a:t>
                      </a:r>
                    </a:p>
                  </a:txBody>
                  <a:tcPr marT="27432" marB="27432" anchor="ctr">
                    <a:solidFill>
                      <a:srgbClr val="F9E9EA"/>
                    </a:solidFill>
                  </a:tcPr>
                </a:tc>
                <a:extLst>
                  <a:ext uri="{0D108BD9-81ED-4DB2-BD59-A6C34878D82A}">
                    <a16:rowId xmlns:a16="http://schemas.microsoft.com/office/drawing/2014/main" val="10003"/>
                  </a:ext>
                </a:extLst>
              </a:tr>
              <a:tr h="420624">
                <a:tc>
                  <a:txBody>
                    <a:bodyPr/>
                    <a:lstStyle/>
                    <a:p>
                      <a:r>
                        <a:rPr sz="1200" b="1">
                          <a:solidFill>
                            <a:srgbClr val="000000"/>
                          </a:solidFill>
                        </a:rPr>
                        <a:t>Storage footprint overhead</a:t>
                      </a:r>
                    </a:p>
                  </a:txBody>
                  <a:tcPr marT="27432" marB="27432" anchor="ctr">
                    <a:solidFill>
                      <a:srgbClr val="FAF9F8"/>
                    </a:solidFill>
                  </a:tcPr>
                </a:tc>
                <a:tc>
                  <a:txBody>
                    <a:bodyPr/>
                    <a:lstStyle/>
                    <a:p>
                      <a:r>
                        <a:rPr sz="1200" b="0">
                          <a:solidFill>
                            <a:srgbClr val="000000"/>
                          </a:solidFill>
                        </a:rPr>
                        <a:t>3.8x (duplicated staged blocks)</a:t>
                      </a:r>
                    </a:p>
                  </a:txBody>
                  <a:tcPr marT="27432" marB="27432" anchor="ctr">
                    <a:solidFill>
                      <a:srgbClr val="FAF9F8"/>
                    </a:solidFill>
                  </a:tcPr>
                </a:tc>
                <a:tc>
                  <a:txBody>
                    <a:bodyPr/>
                    <a:lstStyle/>
                    <a:p>
                      <a:r>
                        <a:rPr sz="1200" b="0">
                          <a:solidFill>
                            <a:srgbClr val="000000"/>
                          </a:solidFill>
                        </a:rPr>
                        <a:t>2.1x (staging tables + models)</a:t>
                      </a:r>
                    </a:p>
                  </a:txBody>
                  <a:tcPr marT="27432" marB="27432" anchor="ctr">
                    <a:solidFill>
                      <a:srgbClr val="FAF9F8"/>
                    </a:solidFill>
                  </a:tcPr>
                </a:tc>
                <a:tc>
                  <a:txBody>
                    <a:bodyPr/>
                    <a:lstStyle/>
                    <a:p>
                      <a:r>
                        <a:rPr sz="1200" b="1">
                          <a:solidFill>
                            <a:srgbClr val="000000"/>
                          </a:solidFill>
                        </a:rPr>
                        <a:t>1.1x (normalised 3NF schema)</a:t>
                      </a:r>
                    </a:p>
                  </a:txBody>
                  <a:tcPr marT="27432" marB="27432" anchor="ctr">
                    <a:solidFill>
                      <a:srgbClr val="F9E9EA"/>
                    </a:solidFill>
                  </a:tcPr>
                </a:tc>
                <a:extLst>
                  <a:ext uri="{0D108BD9-81ED-4DB2-BD59-A6C34878D82A}">
                    <a16:rowId xmlns:a16="http://schemas.microsoft.com/office/drawing/2014/main" val="10004"/>
                  </a:ext>
                </a:extLst>
              </a:tr>
              <a:tr h="420624">
                <a:tc>
                  <a:txBody>
                    <a:bodyPr/>
                    <a:lstStyle/>
                    <a:p>
                      <a:r>
                        <a:rPr sz="1200" b="1">
                          <a:solidFill>
                            <a:srgbClr val="000000"/>
                          </a:solidFill>
                        </a:rPr>
                        <a:t>End-to-end data latency</a:t>
                      </a:r>
                    </a:p>
                  </a:txBody>
                  <a:tcPr marT="27432" marB="27432" anchor="ctr">
                    <a:solidFill>
                      <a:srgbClr val="F4F2F0"/>
                    </a:solidFill>
                  </a:tcPr>
                </a:tc>
                <a:tc>
                  <a:txBody>
                    <a:bodyPr/>
                    <a:lstStyle/>
                    <a:p>
                      <a:r>
                        <a:rPr sz="1200" b="0">
                          <a:solidFill>
                            <a:srgbClr val="000000"/>
                          </a:solidFill>
                        </a:rPr>
                        <a:t>Hours to days</a:t>
                      </a:r>
                    </a:p>
                  </a:txBody>
                  <a:tcPr marT="27432" marB="27432" anchor="ctr">
                    <a:solidFill>
                      <a:srgbClr val="F4F2F0"/>
                    </a:solidFill>
                  </a:tcPr>
                </a:tc>
                <a:tc>
                  <a:txBody>
                    <a:bodyPr/>
                    <a:lstStyle/>
                    <a:p>
                      <a:r>
                        <a:rPr sz="1200" b="0">
                          <a:solidFill>
                            <a:srgbClr val="000000"/>
                          </a:solidFill>
                        </a:rPr>
                        <a:t>Minutes to hours</a:t>
                      </a:r>
                    </a:p>
                  </a:txBody>
                  <a:tcPr marT="27432" marB="27432" anchor="ctr">
                    <a:solidFill>
                      <a:srgbClr val="F4F2F0"/>
                    </a:solidFill>
                  </a:tcPr>
                </a:tc>
                <a:tc>
                  <a:txBody>
                    <a:bodyPr/>
                    <a:lstStyle/>
                    <a:p>
                      <a:r>
                        <a:rPr sz="1200" b="1">
                          <a:solidFill>
                            <a:srgbClr val="000000"/>
                          </a:solidFill>
                        </a:rPr>
                        <a:t>Batch &lt; 2 min; queries &lt; 45 ms</a:t>
                      </a:r>
                    </a:p>
                  </a:txBody>
                  <a:tcPr marT="27432" marB="27432" anchor="ctr">
                    <a:solidFill>
                      <a:srgbClr val="F9E9EA"/>
                    </a:solidFill>
                  </a:tcPr>
                </a:tc>
                <a:extLst>
                  <a:ext uri="{0D108BD9-81ED-4DB2-BD59-A6C34878D82A}">
                    <a16:rowId xmlns:a16="http://schemas.microsoft.com/office/drawing/2014/main" val="10005"/>
                  </a:ext>
                </a:extLst>
              </a:tr>
              <a:tr h="420624">
                <a:tc>
                  <a:txBody>
                    <a:bodyPr/>
                    <a:lstStyle/>
                    <a:p>
                      <a:r>
                        <a:rPr sz="1200" b="1">
                          <a:solidFill>
                            <a:srgbClr val="000000"/>
                          </a:solidFill>
                        </a:rPr>
                        <a:t>Compute &amp; infrastructure cost</a:t>
                      </a:r>
                    </a:p>
                  </a:txBody>
                  <a:tcPr marT="27432" marB="27432" anchor="ctr">
                    <a:solidFill>
                      <a:srgbClr val="FAF9F8"/>
                    </a:solidFill>
                  </a:tcPr>
                </a:tc>
                <a:tc>
                  <a:txBody>
                    <a:bodyPr/>
                    <a:lstStyle/>
                    <a:p>
                      <a:r>
                        <a:rPr sz="1200" b="0">
                          <a:solidFill>
                            <a:srgbClr val="000000"/>
                          </a:solidFill>
                        </a:rPr>
                        <a:t>High: constant cluster upkeep</a:t>
                      </a:r>
                    </a:p>
                  </a:txBody>
                  <a:tcPr marT="27432" marB="27432" anchor="ctr">
                    <a:solidFill>
                      <a:srgbClr val="FAF9F8"/>
                    </a:solidFill>
                  </a:tcPr>
                </a:tc>
                <a:tc>
                  <a:txBody>
                    <a:bodyPr/>
                    <a:lstStyle/>
                    <a:p>
                      <a:r>
                        <a:rPr sz="1200" b="0">
                          <a:solidFill>
                            <a:srgbClr val="000000"/>
                          </a:solidFill>
                        </a:rPr>
                        <a:t>Variable: pay-per-query can spike</a:t>
                      </a:r>
                    </a:p>
                  </a:txBody>
                  <a:tcPr marT="27432" marB="27432" anchor="ctr">
                    <a:solidFill>
                      <a:srgbClr val="FAF9F8"/>
                    </a:solidFill>
                  </a:tcPr>
                </a:tc>
                <a:tc>
                  <a:txBody>
                    <a:bodyPr/>
                    <a:lstStyle/>
                    <a:p>
                      <a:r>
                        <a:rPr sz="1200" b="1">
                          <a:solidFill>
                            <a:srgbClr val="000000"/>
                          </a:solidFill>
                        </a:rPr>
                        <a:t>Low &amp; predictable (open-source)</a:t>
                      </a:r>
                    </a:p>
                  </a:txBody>
                  <a:tcPr marT="27432" marB="27432" anchor="ctr">
                    <a:solidFill>
                      <a:srgbClr val="F9E9EA"/>
                    </a:solidFill>
                  </a:tcPr>
                </a:tc>
                <a:extLst>
                  <a:ext uri="{0D108BD9-81ED-4DB2-BD59-A6C34878D82A}">
                    <a16:rowId xmlns:a16="http://schemas.microsoft.com/office/drawing/2014/main" val="10006"/>
                  </a:ext>
                </a:extLst>
              </a:tr>
              <a:tr h="420624">
                <a:tc>
                  <a:txBody>
                    <a:bodyPr/>
                    <a:lstStyle/>
                    <a:p>
                      <a:r>
                        <a:rPr sz="1200" b="1">
                          <a:solidFill>
                            <a:srgbClr val="000000"/>
                          </a:solidFill>
                        </a:rPr>
                        <a:t>Ingestion mechanism</a:t>
                      </a:r>
                    </a:p>
                  </a:txBody>
                  <a:tcPr marT="27432" marB="27432" anchor="ctr">
                    <a:solidFill>
                      <a:srgbClr val="F4F2F0"/>
                    </a:solidFill>
                  </a:tcPr>
                </a:tc>
                <a:tc>
                  <a:txBody>
                    <a:bodyPr/>
                    <a:lstStyle/>
                    <a:p>
                      <a:r>
                        <a:rPr sz="1200" b="0">
                          <a:solidFill>
                            <a:srgbClr val="000000"/>
                          </a:solidFill>
                        </a:rPr>
                        <a:t>Bulk HDFS file transfers</a:t>
                      </a:r>
                    </a:p>
                  </a:txBody>
                  <a:tcPr marT="27432" marB="27432" anchor="ctr">
                    <a:solidFill>
                      <a:srgbClr val="F4F2F0"/>
                    </a:solidFill>
                  </a:tcPr>
                </a:tc>
                <a:tc>
                  <a:txBody>
                    <a:bodyPr/>
                    <a:lstStyle/>
                    <a:p>
                      <a:r>
                        <a:rPr sz="1200" b="0">
                          <a:solidFill>
                            <a:srgbClr val="000000"/>
                          </a:solidFill>
                        </a:rPr>
                        <a:t>SaaS connectors polling APIs</a:t>
                      </a:r>
                    </a:p>
                  </a:txBody>
                  <a:tcPr marT="27432" marB="27432" anchor="ctr">
                    <a:solidFill>
                      <a:srgbClr val="F4F2F0"/>
                    </a:solidFill>
                  </a:tcPr>
                </a:tc>
                <a:tc>
                  <a:txBody>
                    <a:bodyPr/>
                    <a:lstStyle/>
                    <a:p>
                      <a:r>
                        <a:rPr sz="1200" b="1">
                          <a:solidFill>
                            <a:srgbClr val="000000"/>
                          </a:solidFill>
                        </a:rPr>
                        <a:t>Tuple batching + polled REST cache</a:t>
                      </a:r>
                    </a:p>
                  </a:txBody>
                  <a:tcPr marT="27432" marB="27432" anchor="ctr">
                    <a:solidFill>
                      <a:srgbClr val="F9E9EA"/>
                    </a:solidFill>
                  </a:tcPr>
                </a:tc>
                <a:extLst>
                  <a:ext uri="{0D108BD9-81ED-4DB2-BD59-A6C34878D82A}">
                    <a16:rowId xmlns:a16="http://schemas.microsoft.com/office/drawing/2014/main" val="10007"/>
                  </a:ext>
                </a:extLst>
              </a:tr>
              <a:tr h="420624">
                <a:tc>
                  <a:txBody>
                    <a:bodyPr/>
                    <a:lstStyle/>
                    <a:p>
                      <a:r>
                        <a:rPr sz="1200" b="1">
                          <a:solidFill>
                            <a:srgbClr val="000000"/>
                          </a:solidFill>
                        </a:rPr>
                        <a:t>Storage system</a:t>
                      </a:r>
                    </a:p>
                  </a:txBody>
                  <a:tcPr marT="27432" marB="27432" anchor="ctr">
                    <a:solidFill>
                      <a:srgbClr val="FAF9F8"/>
                    </a:solidFill>
                  </a:tcPr>
                </a:tc>
                <a:tc>
                  <a:txBody>
                    <a:bodyPr/>
                    <a:lstStyle/>
                    <a:p>
                      <a:r>
                        <a:rPr sz="1200" b="0">
                          <a:solidFill>
                            <a:srgbClr val="000000"/>
                          </a:solidFill>
                        </a:rPr>
                        <a:t>HDFS blocks / Parquet / ORC</a:t>
                      </a:r>
                    </a:p>
                  </a:txBody>
                  <a:tcPr marT="27432" marB="27432" anchor="ctr">
                    <a:solidFill>
                      <a:srgbClr val="FAF9F8"/>
                    </a:solidFill>
                  </a:tcPr>
                </a:tc>
                <a:tc>
                  <a:txBody>
                    <a:bodyPr/>
                    <a:lstStyle/>
                    <a:p>
                      <a:r>
                        <a:rPr sz="1200" b="0">
                          <a:solidFill>
                            <a:srgbClr val="000000"/>
                          </a:solidFill>
                        </a:rPr>
                        <a:t>Proprietary cloud columnar store</a:t>
                      </a:r>
                    </a:p>
                  </a:txBody>
                  <a:tcPr marT="27432" marB="27432" anchor="ctr">
                    <a:solidFill>
                      <a:srgbClr val="FAF9F8"/>
                    </a:solidFill>
                  </a:tcPr>
                </a:tc>
                <a:tc>
                  <a:txBody>
                    <a:bodyPr/>
                    <a:lstStyle/>
                    <a:p>
                      <a:r>
                        <a:rPr sz="1200" b="1">
                          <a:solidFill>
                            <a:srgbClr val="000000"/>
                          </a:solidFill>
                        </a:rPr>
                        <a:t>PostgreSQL 3NF + JSON data lake</a:t>
                      </a:r>
                    </a:p>
                  </a:txBody>
                  <a:tcPr marT="27432" marB="27432" anchor="ctr">
                    <a:solidFill>
                      <a:srgbClr val="F9E9EA"/>
                    </a:solidFill>
                  </a:tcPr>
                </a:tc>
                <a:extLst>
                  <a:ext uri="{0D108BD9-81ED-4DB2-BD59-A6C34878D82A}">
                    <a16:rowId xmlns:a16="http://schemas.microsoft.com/office/drawing/2014/main" val="10008"/>
                  </a:ext>
                </a:extLst>
              </a:tr>
              <a:tr h="420624">
                <a:tc>
                  <a:txBody>
                    <a:bodyPr/>
                    <a:lstStyle/>
                    <a:p>
                      <a:r>
                        <a:rPr sz="1200" b="1">
                          <a:solidFill>
                            <a:srgbClr val="000000"/>
                          </a:solidFill>
                        </a:rPr>
                        <a:t>Transformation strategy</a:t>
                      </a:r>
                    </a:p>
                  </a:txBody>
                  <a:tcPr marT="27432" marB="27432" anchor="ctr">
                    <a:solidFill>
                      <a:srgbClr val="F4F2F0"/>
                    </a:solidFill>
                  </a:tcPr>
                </a:tc>
                <a:tc>
                  <a:txBody>
                    <a:bodyPr/>
                    <a:lstStyle/>
                    <a:p>
                      <a:r>
                        <a:rPr sz="1200" b="0">
                          <a:solidFill>
                            <a:srgbClr val="000000"/>
                          </a:solidFill>
                        </a:rPr>
                        <a:t>Distributed Map/Reduce jobs</a:t>
                      </a:r>
                    </a:p>
                  </a:txBody>
                  <a:tcPr marT="27432" marB="27432" anchor="ctr">
                    <a:solidFill>
                      <a:srgbClr val="F4F2F0"/>
                    </a:solidFill>
                  </a:tcPr>
                </a:tc>
                <a:tc>
                  <a:txBody>
                    <a:bodyPr/>
                    <a:lstStyle/>
                    <a:p>
                      <a:r>
                        <a:rPr sz="1200" b="0">
                          <a:solidFill>
                            <a:srgbClr val="000000"/>
                          </a:solidFill>
                        </a:rPr>
                        <a:t>In-warehouse SQL (dbt)</a:t>
                      </a:r>
                    </a:p>
                  </a:txBody>
                  <a:tcPr marT="27432" marB="27432" anchor="ctr">
                    <a:solidFill>
                      <a:srgbClr val="F4F2F0"/>
                    </a:solidFill>
                  </a:tcPr>
                </a:tc>
                <a:tc>
                  <a:txBody>
                    <a:bodyPr/>
                    <a:lstStyle/>
                    <a:p>
                      <a:r>
                        <a:rPr sz="1200" b="1">
                          <a:solidFill>
                            <a:srgbClr val="000000"/>
                          </a:solidFill>
                        </a:rPr>
                        <a:t>Pre-computed features + live SQL</a:t>
                      </a:r>
                    </a:p>
                  </a:txBody>
                  <a:tcPr marT="27432" marB="27432" anchor="ctr">
                    <a:solidFill>
                      <a:srgbClr val="F9E9EA"/>
                    </a:solidFill>
                  </a:tcPr>
                </a:tc>
                <a:extLst>
                  <a:ext uri="{0D108BD9-81ED-4DB2-BD59-A6C34878D82A}">
                    <a16:rowId xmlns:a16="http://schemas.microsoft.com/office/drawing/2014/main" val="10009"/>
                  </a:ext>
                </a:extLst>
              </a:tr>
              <a:tr h="420624">
                <a:tc>
                  <a:txBody>
                    <a:bodyPr/>
                    <a:lstStyle/>
                    <a:p>
                      <a:r>
                        <a:rPr sz="1200" b="1">
                          <a:solidFill>
                            <a:srgbClr val="000000"/>
                          </a:solidFill>
                        </a:rPr>
                        <a:t>Key limitation</a:t>
                      </a:r>
                    </a:p>
                  </a:txBody>
                  <a:tcPr marT="27432" marB="27432" anchor="ctr">
                    <a:solidFill>
                      <a:srgbClr val="FAF9F8"/>
                    </a:solidFill>
                  </a:tcPr>
                </a:tc>
                <a:tc>
                  <a:txBody>
                    <a:bodyPr/>
                    <a:lstStyle/>
                    <a:p>
                      <a:r>
                        <a:rPr sz="1200" b="0">
                          <a:solidFill>
                            <a:srgbClr val="000000"/>
                          </a:solidFill>
                        </a:rPr>
                        <a:t>High cost, complex setup</a:t>
                      </a:r>
                    </a:p>
                  </a:txBody>
                  <a:tcPr marT="27432" marB="27432" anchor="ctr">
                    <a:solidFill>
                      <a:srgbClr val="FAF9F8"/>
                    </a:solidFill>
                  </a:tcPr>
                </a:tc>
                <a:tc>
                  <a:txBody>
                    <a:bodyPr/>
                    <a:lstStyle/>
                    <a:p>
                      <a:r>
                        <a:rPr sz="1200" b="0">
                          <a:solidFill>
                            <a:srgbClr val="000000"/>
                          </a:solidFill>
                        </a:rPr>
                        <a:t>Recurring cost, vendor lock-in</a:t>
                      </a:r>
                    </a:p>
                  </a:txBody>
                  <a:tcPr marT="27432" marB="27432" anchor="ctr">
                    <a:solidFill>
                      <a:srgbClr val="FAF9F8"/>
                    </a:solidFill>
                  </a:tcPr>
                </a:tc>
                <a:tc>
                  <a:txBody>
                    <a:bodyPr/>
                    <a:lstStyle/>
                    <a:p>
                      <a:r>
                        <a:rPr sz="1200" b="1">
                          <a:solidFill>
                            <a:srgbClr val="000000"/>
                          </a:solidFill>
                        </a:rPr>
                        <a:t>Upfront engineering &amp; data modelling</a:t>
                      </a:r>
                    </a:p>
                  </a:txBody>
                  <a:tcPr marT="27432" marB="27432" anchor="ctr">
                    <a:solidFill>
                      <a:srgbClr val="F9E9EA"/>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640080" y="6080760"/>
            <a:ext cx="10881360" cy="640080"/>
          </a:xfrm>
          <a:prstGeom prst="rect">
            <a:avLst/>
          </a:prstGeom>
          <a:noFill/>
          <a:ln>
            <a:noFill/>
          </a:ln>
        </p:spPr>
        <p:txBody>
          <a:bodyPr wrap="square">
            <a:spAutoFit/>
          </a:bodyPr>
          <a:lstStyle/>
          <a:p>
            <a:pPr algn="ctr"/>
            <a:r>
              <a:rPr sz="1400" b="1">
                <a:solidFill>
                  <a:srgbClr val="000000"/>
                </a:solidFill>
              </a:rPr>
              <a:t>EDGE is ~3.2x faster in ingestion than Cloud ELT and ~114x faster in point queries than legacy batch, with no SaaS ingestion fee. The trade-off is upfront engineering effort.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274320"/>
            <a:ext cx="9445752" cy="640080"/>
          </a:xfrm>
          <a:prstGeom prst="rect">
            <a:avLst/>
          </a:prstGeom>
          <a:noFill/>
          <a:ln>
            <a:noFill/>
          </a:ln>
        </p:spPr>
        <p:txBody>
          <a:bodyPr wrap="square" lIns="0" tIns="0" rIns="0" bIns="0" anchor="ctr">
            <a:spAutoFit/>
          </a:bodyPr>
          <a:lstStyle/>
          <a:p>
            <a:pPr algn="ctr"/>
            <a:r>
              <a:rPr sz="2600" b="1">
                <a:solidFill>
                  <a:srgbClr val="000000"/>
                </a:solidFill>
              </a:rPr>
              <a:t>Discussions: Tools &amp; How EDGE Is Better</a:t>
            </a:r>
          </a:p>
        </p:txBody>
      </p:sp>
      <p:sp>
        <p:nvSpPr>
          <p:cNvPr id="4" name="TextBox 3"/>
          <p:cNvSpPr txBox="1"/>
          <p:nvPr/>
        </p:nvSpPr>
        <p:spPr>
          <a:xfrm>
            <a:off x="457200" y="1097280"/>
            <a:ext cx="5486400" cy="365760"/>
          </a:xfrm>
          <a:prstGeom prst="rect">
            <a:avLst/>
          </a:prstGeom>
          <a:noFill/>
          <a:ln>
            <a:noFill/>
          </a:ln>
        </p:spPr>
        <p:txBody>
          <a:bodyPr wrap="square" lIns="0" tIns="0" rIns="0" bIns="0" anchor="b">
            <a:spAutoFit/>
          </a:bodyPr>
          <a:lstStyle/>
          <a:p>
            <a:pPr algn="l"/>
            <a:r>
              <a:rPr sz="1800" b="1">
                <a:solidFill>
                  <a:srgbClr val="000000"/>
                </a:solidFill>
              </a:rPr>
              <a:t>Throughput</a:t>
            </a:r>
            <a:r>
              <a:rPr sz="1200" b="0">
                <a:solidFill>
                  <a:srgbClr val="000000"/>
                </a:solidFill>
              </a:rPr>
              <a:t>   deliveries / sec · higher is better</a:t>
            </a:r>
          </a:p>
        </p:txBody>
      </p:sp>
      <p:cxnSp>
        <p:nvCxnSpPr>
          <p:cNvPr id="5" name="Connector 4"/>
          <p:cNvCxnSpPr/>
          <p:nvPr/>
        </p:nvCxnSpPr>
        <p:spPr>
          <a:xfrm>
            <a:off x="457200" y="1508760"/>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600200"/>
            <a:ext cx="3108960" cy="365760"/>
          </a:xfrm>
          <a:prstGeom prst="rect">
            <a:avLst/>
          </a:prstGeom>
          <a:noFill/>
          <a:ln>
            <a:noFill/>
          </a:ln>
        </p:spPr>
        <p:txBody>
          <a:bodyPr wrap="square" lIns="0" tIns="0" rIns="0" bIns="0" anchor="ctr">
            <a:spAutoFit/>
          </a:bodyPr>
          <a:lstStyle/>
          <a:p>
            <a:pPr algn="l"/>
            <a:r>
              <a:rPr sz="1200" b="1">
                <a:solidFill>
                  <a:srgbClr val="000000"/>
                </a:solidFill>
              </a:rPr>
              <a:t>Traditional Batch</a:t>
            </a:r>
            <a:r>
              <a:rPr sz="1100" b="0">
                <a:solidFill>
                  <a:srgbClr val="000000"/>
                </a:solidFill>
              </a:rPr>
              <a:t>  Hadoop, Spark</a:t>
            </a:r>
          </a:p>
        </p:txBody>
      </p:sp>
      <p:sp>
        <p:nvSpPr>
          <p:cNvPr id="7" name="Rectangle 6"/>
          <p:cNvSpPr/>
          <p:nvPr/>
        </p:nvSpPr>
        <p:spPr>
          <a:xfrm>
            <a:off x="3611880" y="1691640"/>
            <a:ext cx="166254"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0" y="1600200"/>
            <a:ext cx="914400" cy="365760"/>
          </a:xfrm>
          <a:prstGeom prst="rect">
            <a:avLst/>
          </a:prstGeom>
          <a:noFill/>
          <a:ln>
            <a:noFill/>
          </a:ln>
        </p:spPr>
        <p:txBody>
          <a:bodyPr wrap="square" lIns="0" tIns="0" rIns="0" bIns="0" anchor="ctr">
            <a:spAutoFit/>
          </a:bodyPr>
          <a:lstStyle/>
          <a:p>
            <a:pPr algn="l"/>
            <a:r>
              <a:rPr sz="1300" b="1">
                <a:solidFill>
                  <a:srgbClr val="000000"/>
                </a:solidFill>
              </a:rPr>
              <a:t>5,000</a:t>
            </a:r>
          </a:p>
        </p:txBody>
      </p:sp>
      <p:sp>
        <p:nvSpPr>
          <p:cNvPr id="9" name="TextBox 8"/>
          <p:cNvSpPr txBox="1"/>
          <p:nvPr/>
        </p:nvSpPr>
        <p:spPr>
          <a:xfrm>
            <a:off x="457200" y="1965960"/>
            <a:ext cx="3108960" cy="365760"/>
          </a:xfrm>
          <a:prstGeom prst="rect">
            <a:avLst/>
          </a:prstGeom>
          <a:noFill/>
          <a:ln>
            <a:noFill/>
          </a:ln>
        </p:spPr>
        <p:txBody>
          <a:bodyPr wrap="square" lIns="0" tIns="0" rIns="0" bIns="0" anchor="ctr">
            <a:spAutoFit/>
          </a:bodyPr>
          <a:lstStyle/>
          <a:p>
            <a:pPr algn="l"/>
            <a:r>
              <a:rPr sz="1200" b="1">
                <a:solidFill>
                  <a:srgbClr val="000000"/>
                </a:solidFill>
              </a:rPr>
              <a:t>Cloud ELT</a:t>
            </a:r>
            <a:r>
              <a:rPr sz="1100" b="0">
                <a:solidFill>
                  <a:srgbClr val="000000"/>
                </a:solidFill>
              </a:rPr>
              <a:t>  Snowflake, dbt</a:t>
            </a:r>
          </a:p>
        </p:txBody>
      </p:sp>
      <p:sp>
        <p:nvSpPr>
          <p:cNvPr id="10" name="Rectangle 9"/>
          <p:cNvSpPr/>
          <p:nvPr/>
        </p:nvSpPr>
        <p:spPr>
          <a:xfrm>
            <a:off x="3611880" y="2057400"/>
            <a:ext cx="399010"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0" y="1965960"/>
            <a:ext cx="914400" cy="365760"/>
          </a:xfrm>
          <a:prstGeom prst="rect">
            <a:avLst/>
          </a:prstGeom>
          <a:noFill/>
          <a:ln>
            <a:noFill/>
          </a:ln>
        </p:spPr>
        <p:txBody>
          <a:bodyPr wrap="square" lIns="0" tIns="0" rIns="0" bIns="0" anchor="ctr">
            <a:spAutoFit/>
          </a:bodyPr>
          <a:lstStyle/>
          <a:p>
            <a:pPr algn="l"/>
            <a:r>
              <a:rPr sz="1300" b="1">
                <a:solidFill>
                  <a:srgbClr val="000000"/>
                </a:solidFill>
              </a:rPr>
              <a:t>12,000</a:t>
            </a:r>
          </a:p>
        </p:txBody>
      </p:sp>
      <p:sp>
        <p:nvSpPr>
          <p:cNvPr id="12" name="TextBox 11"/>
          <p:cNvSpPr txBox="1"/>
          <p:nvPr/>
        </p:nvSpPr>
        <p:spPr>
          <a:xfrm>
            <a:off x="457200" y="2331720"/>
            <a:ext cx="3108960" cy="365760"/>
          </a:xfrm>
          <a:prstGeom prst="rect">
            <a:avLst/>
          </a:prstGeom>
          <a:noFill/>
          <a:ln>
            <a:noFill/>
          </a:ln>
        </p:spPr>
        <p:txBody>
          <a:bodyPr wrap="square" lIns="0" tIns="0" rIns="0" bIns="0" anchor="ctr">
            <a:spAutoFit/>
          </a:bodyPr>
          <a:lstStyle/>
          <a:p>
            <a:pPr algn="l"/>
            <a:r>
              <a:rPr sz="1200" b="1">
                <a:solidFill>
                  <a:srgbClr val="000000"/>
                </a:solidFill>
              </a:rPr>
              <a:t>Real-Time Streaming</a:t>
            </a:r>
            <a:r>
              <a:rPr sz="1100" b="0">
                <a:solidFill>
                  <a:srgbClr val="000000"/>
                </a:solidFill>
              </a:rPr>
              <a:t>  Kafka, Flink</a:t>
            </a:r>
          </a:p>
        </p:txBody>
      </p:sp>
      <p:sp>
        <p:nvSpPr>
          <p:cNvPr id="13" name="Rectangle 12"/>
          <p:cNvSpPr/>
          <p:nvPr/>
        </p:nvSpPr>
        <p:spPr>
          <a:xfrm>
            <a:off x="3611880" y="2423160"/>
            <a:ext cx="598516"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2331720"/>
            <a:ext cx="914400" cy="365760"/>
          </a:xfrm>
          <a:prstGeom prst="rect">
            <a:avLst/>
          </a:prstGeom>
          <a:noFill/>
          <a:ln>
            <a:noFill/>
          </a:ln>
        </p:spPr>
        <p:txBody>
          <a:bodyPr wrap="square" lIns="0" tIns="0" rIns="0" bIns="0" anchor="ctr">
            <a:spAutoFit/>
          </a:bodyPr>
          <a:lstStyle/>
          <a:p>
            <a:pPr algn="l"/>
            <a:r>
              <a:rPr sz="1300" b="1">
                <a:solidFill>
                  <a:srgbClr val="000000"/>
                </a:solidFill>
              </a:rPr>
              <a:t>18,000</a:t>
            </a:r>
          </a:p>
        </p:txBody>
      </p:sp>
      <p:sp>
        <p:nvSpPr>
          <p:cNvPr id="15" name="TextBox 14"/>
          <p:cNvSpPr txBox="1"/>
          <p:nvPr/>
        </p:nvSpPr>
        <p:spPr>
          <a:xfrm>
            <a:off x="457200" y="2697480"/>
            <a:ext cx="3108960" cy="365760"/>
          </a:xfrm>
          <a:prstGeom prst="rect">
            <a:avLst/>
          </a:prstGeom>
          <a:noFill/>
          <a:ln>
            <a:noFill/>
          </a:ln>
        </p:spPr>
        <p:txBody>
          <a:bodyPr wrap="square" lIns="0" tIns="0" rIns="0" bIns="0" anchor="ctr">
            <a:spAutoFit/>
          </a:bodyPr>
          <a:lstStyle/>
          <a:p>
            <a:pPr algn="l"/>
            <a:r>
              <a:rPr sz="1200" b="1">
                <a:solidFill>
                  <a:srgbClr val="000000"/>
                </a:solidFill>
              </a:rPr>
              <a:t>EDGE</a:t>
            </a:r>
            <a:r>
              <a:rPr sz="1100" b="0">
                <a:solidFill>
                  <a:srgbClr val="000000"/>
                </a:solidFill>
              </a:rPr>
              <a:t>  execute_values, PostgreSQL</a:t>
            </a:r>
          </a:p>
        </p:txBody>
      </p:sp>
      <p:sp>
        <p:nvSpPr>
          <p:cNvPr id="16" name="Rectangle 15"/>
          <p:cNvSpPr/>
          <p:nvPr/>
        </p:nvSpPr>
        <p:spPr>
          <a:xfrm>
            <a:off x="3611880" y="2788920"/>
            <a:ext cx="1280160" cy="182880"/>
          </a:xfrm>
          <a:prstGeom prst="rect">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0" y="2697480"/>
            <a:ext cx="914400" cy="365760"/>
          </a:xfrm>
          <a:prstGeom prst="rect">
            <a:avLst/>
          </a:prstGeom>
          <a:noFill/>
          <a:ln>
            <a:noFill/>
          </a:ln>
        </p:spPr>
        <p:txBody>
          <a:bodyPr wrap="square" lIns="0" tIns="0" rIns="0" bIns="0" anchor="ctr">
            <a:spAutoFit/>
          </a:bodyPr>
          <a:lstStyle/>
          <a:p>
            <a:pPr algn="l"/>
            <a:r>
              <a:rPr sz="1300" b="1">
                <a:solidFill>
                  <a:srgbClr val="000000"/>
                </a:solidFill>
              </a:rPr>
              <a:t>38,500</a:t>
            </a:r>
          </a:p>
        </p:txBody>
      </p:sp>
      <p:cxnSp>
        <p:nvCxnSpPr>
          <p:cNvPr id="18" name="Connector 17"/>
          <p:cNvCxnSpPr/>
          <p:nvPr/>
        </p:nvCxnSpPr>
        <p:spPr>
          <a:xfrm>
            <a:off x="457200" y="3108960"/>
            <a:ext cx="548640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3182111"/>
            <a:ext cx="5486400" cy="548640"/>
          </a:xfrm>
          <a:prstGeom prst="rect">
            <a:avLst/>
          </a:prstGeom>
          <a:noFill/>
          <a:ln>
            <a:noFill/>
          </a:ln>
        </p:spPr>
        <p:txBody>
          <a:bodyPr wrap="square" lIns="0" tIns="0" rIns="0" bIns="0" anchor="t">
            <a:spAutoFit/>
          </a:bodyPr>
          <a:lstStyle/>
          <a:p>
            <a:pPr algn="l"/>
            <a:r>
              <a:rPr sz="1200" b="1">
                <a:solidFill>
                  <a:srgbClr val="000000"/>
                </a:solidFill>
              </a:rPr>
              <a:t>Why EDGE is better: </a:t>
            </a:r>
            <a:r>
              <a:rPr sz="1200" b="0">
                <a:solidFill>
                  <a:srgbClr val="000000"/>
                </a:solidFill>
              </a:rPr>
              <a:t>5,000-row tuple batches per transaction: 7.7x the throughput of batch and 2.1x that of streaming.</a:t>
            </a:r>
          </a:p>
        </p:txBody>
      </p:sp>
      <p:sp>
        <p:nvSpPr>
          <p:cNvPr id="20" name="TextBox 19"/>
          <p:cNvSpPr txBox="1"/>
          <p:nvPr/>
        </p:nvSpPr>
        <p:spPr>
          <a:xfrm>
            <a:off x="6217920" y="1097280"/>
            <a:ext cx="5486400" cy="365760"/>
          </a:xfrm>
          <a:prstGeom prst="rect">
            <a:avLst/>
          </a:prstGeom>
          <a:noFill/>
          <a:ln>
            <a:noFill/>
          </a:ln>
        </p:spPr>
        <p:txBody>
          <a:bodyPr wrap="square" lIns="0" tIns="0" rIns="0" bIns="0" anchor="b">
            <a:spAutoFit/>
          </a:bodyPr>
          <a:lstStyle/>
          <a:p>
            <a:pPr algn="l"/>
            <a:r>
              <a:rPr sz="1800" b="1">
                <a:solidFill>
                  <a:srgbClr val="000000"/>
                </a:solidFill>
              </a:rPr>
              <a:t>Ingestion Cost</a:t>
            </a:r>
            <a:r>
              <a:rPr sz="1200" b="0">
                <a:solidFill>
                  <a:srgbClr val="000000"/>
                </a:solidFill>
              </a:rPr>
              <a:t>   $ / GB · lower is better</a:t>
            </a:r>
          </a:p>
        </p:txBody>
      </p:sp>
      <p:cxnSp>
        <p:nvCxnSpPr>
          <p:cNvPr id="21" name="Connector 20"/>
          <p:cNvCxnSpPr/>
          <p:nvPr/>
        </p:nvCxnSpPr>
        <p:spPr>
          <a:xfrm>
            <a:off x="6217920" y="1508760"/>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17920" y="1600200"/>
            <a:ext cx="3108960" cy="365760"/>
          </a:xfrm>
          <a:prstGeom prst="rect">
            <a:avLst/>
          </a:prstGeom>
          <a:noFill/>
          <a:ln>
            <a:noFill/>
          </a:ln>
        </p:spPr>
        <p:txBody>
          <a:bodyPr wrap="square" lIns="0" tIns="0" rIns="0" bIns="0" anchor="ctr">
            <a:spAutoFit/>
          </a:bodyPr>
          <a:lstStyle/>
          <a:p>
            <a:pPr algn="l"/>
            <a:r>
              <a:rPr sz="1200" b="1">
                <a:solidFill>
                  <a:srgbClr val="000000"/>
                </a:solidFill>
              </a:rPr>
              <a:t>Traditional Batch</a:t>
            </a:r>
            <a:r>
              <a:rPr sz="1100" b="0">
                <a:solidFill>
                  <a:srgbClr val="000000"/>
                </a:solidFill>
              </a:rPr>
              <a:t>  Hadoop, Spark</a:t>
            </a:r>
          </a:p>
        </p:txBody>
      </p:sp>
      <p:sp>
        <p:nvSpPr>
          <p:cNvPr id="23" name="Rectangle 22"/>
          <p:cNvSpPr/>
          <p:nvPr/>
        </p:nvSpPr>
        <p:spPr>
          <a:xfrm>
            <a:off x="9372600" y="1691640"/>
            <a:ext cx="426720"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89920" y="1600200"/>
            <a:ext cx="914400" cy="365760"/>
          </a:xfrm>
          <a:prstGeom prst="rect">
            <a:avLst/>
          </a:prstGeom>
          <a:noFill/>
          <a:ln>
            <a:noFill/>
          </a:ln>
        </p:spPr>
        <p:txBody>
          <a:bodyPr wrap="square" lIns="0" tIns="0" rIns="0" bIns="0" anchor="ctr">
            <a:spAutoFit/>
          </a:bodyPr>
          <a:lstStyle/>
          <a:p>
            <a:pPr algn="l"/>
            <a:r>
              <a:rPr sz="1300" b="1">
                <a:solidFill>
                  <a:srgbClr val="000000"/>
                </a:solidFill>
              </a:rPr>
              <a:t>$0.15</a:t>
            </a:r>
          </a:p>
        </p:txBody>
      </p:sp>
      <p:sp>
        <p:nvSpPr>
          <p:cNvPr id="25" name="TextBox 24"/>
          <p:cNvSpPr txBox="1"/>
          <p:nvPr/>
        </p:nvSpPr>
        <p:spPr>
          <a:xfrm>
            <a:off x="6217920" y="1965960"/>
            <a:ext cx="3108960" cy="365760"/>
          </a:xfrm>
          <a:prstGeom prst="rect">
            <a:avLst/>
          </a:prstGeom>
          <a:noFill/>
          <a:ln>
            <a:noFill/>
          </a:ln>
        </p:spPr>
        <p:txBody>
          <a:bodyPr wrap="square" lIns="0" tIns="0" rIns="0" bIns="0" anchor="ctr">
            <a:spAutoFit/>
          </a:bodyPr>
          <a:lstStyle/>
          <a:p>
            <a:pPr algn="l"/>
            <a:r>
              <a:rPr sz="1200" b="1">
                <a:solidFill>
                  <a:srgbClr val="000000"/>
                </a:solidFill>
              </a:rPr>
              <a:t>Cloud ELT</a:t>
            </a:r>
            <a:r>
              <a:rPr sz="1100" b="0">
                <a:solidFill>
                  <a:srgbClr val="000000"/>
                </a:solidFill>
              </a:rPr>
              <a:t>  Snowflake, Fivetran</a:t>
            </a:r>
          </a:p>
        </p:txBody>
      </p:sp>
      <p:sp>
        <p:nvSpPr>
          <p:cNvPr id="26" name="Rectangle 25"/>
          <p:cNvSpPr/>
          <p:nvPr/>
        </p:nvSpPr>
        <p:spPr>
          <a:xfrm>
            <a:off x="9372600" y="2057400"/>
            <a:ext cx="1280160"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89920" y="1965960"/>
            <a:ext cx="914400" cy="365760"/>
          </a:xfrm>
          <a:prstGeom prst="rect">
            <a:avLst/>
          </a:prstGeom>
          <a:noFill/>
          <a:ln>
            <a:noFill/>
          </a:ln>
        </p:spPr>
        <p:txBody>
          <a:bodyPr wrap="square" lIns="0" tIns="0" rIns="0" bIns="0" anchor="ctr">
            <a:spAutoFit/>
          </a:bodyPr>
          <a:lstStyle/>
          <a:p>
            <a:pPr algn="l"/>
            <a:r>
              <a:rPr sz="1300" b="1">
                <a:solidFill>
                  <a:srgbClr val="000000"/>
                </a:solidFill>
              </a:rPr>
              <a:t>$0.45</a:t>
            </a:r>
          </a:p>
        </p:txBody>
      </p:sp>
      <p:sp>
        <p:nvSpPr>
          <p:cNvPr id="28" name="TextBox 27"/>
          <p:cNvSpPr txBox="1"/>
          <p:nvPr/>
        </p:nvSpPr>
        <p:spPr>
          <a:xfrm>
            <a:off x="6217920" y="2331720"/>
            <a:ext cx="3108960" cy="365760"/>
          </a:xfrm>
          <a:prstGeom prst="rect">
            <a:avLst/>
          </a:prstGeom>
          <a:noFill/>
          <a:ln>
            <a:noFill/>
          </a:ln>
        </p:spPr>
        <p:txBody>
          <a:bodyPr wrap="square" lIns="0" tIns="0" rIns="0" bIns="0" anchor="ctr">
            <a:spAutoFit/>
          </a:bodyPr>
          <a:lstStyle/>
          <a:p>
            <a:pPr algn="l"/>
            <a:r>
              <a:rPr sz="1200" b="1">
                <a:solidFill>
                  <a:srgbClr val="000000"/>
                </a:solidFill>
              </a:rPr>
              <a:t>Real-Time Streaming</a:t>
            </a:r>
            <a:r>
              <a:rPr sz="1100" b="0">
                <a:solidFill>
                  <a:srgbClr val="000000"/>
                </a:solidFill>
              </a:rPr>
              <a:t>  Kafka, Flink</a:t>
            </a:r>
          </a:p>
        </p:txBody>
      </p:sp>
      <p:sp>
        <p:nvSpPr>
          <p:cNvPr id="29" name="Rectangle 28"/>
          <p:cNvSpPr/>
          <p:nvPr/>
        </p:nvSpPr>
        <p:spPr>
          <a:xfrm>
            <a:off x="9372600" y="2423160"/>
            <a:ext cx="568960"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789920" y="2331720"/>
            <a:ext cx="914400" cy="365760"/>
          </a:xfrm>
          <a:prstGeom prst="rect">
            <a:avLst/>
          </a:prstGeom>
          <a:noFill/>
          <a:ln>
            <a:noFill/>
          </a:ln>
        </p:spPr>
        <p:txBody>
          <a:bodyPr wrap="square" lIns="0" tIns="0" rIns="0" bIns="0" anchor="ctr">
            <a:spAutoFit/>
          </a:bodyPr>
          <a:lstStyle/>
          <a:p>
            <a:pPr algn="l"/>
            <a:r>
              <a:rPr sz="1300" b="1">
                <a:solidFill>
                  <a:srgbClr val="000000"/>
                </a:solidFill>
              </a:rPr>
              <a:t>$0.20</a:t>
            </a:r>
          </a:p>
        </p:txBody>
      </p:sp>
      <p:sp>
        <p:nvSpPr>
          <p:cNvPr id="31" name="TextBox 30"/>
          <p:cNvSpPr txBox="1"/>
          <p:nvPr/>
        </p:nvSpPr>
        <p:spPr>
          <a:xfrm>
            <a:off x="6217920" y="2697480"/>
            <a:ext cx="3108960" cy="365760"/>
          </a:xfrm>
          <a:prstGeom prst="rect">
            <a:avLst/>
          </a:prstGeom>
          <a:noFill/>
          <a:ln>
            <a:noFill/>
          </a:ln>
        </p:spPr>
        <p:txBody>
          <a:bodyPr wrap="square" lIns="0" tIns="0" rIns="0" bIns="0" anchor="ctr">
            <a:spAutoFit/>
          </a:bodyPr>
          <a:lstStyle/>
          <a:p>
            <a:pPr algn="l"/>
            <a:r>
              <a:rPr sz="1200" b="1">
                <a:solidFill>
                  <a:srgbClr val="000000"/>
                </a:solidFill>
              </a:rPr>
              <a:t>EDGE</a:t>
            </a:r>
            <a:r>
              <a:rPr sz="1100" b="0">
                <a:solidFill>
                  <a:srgbClr val="000000"/>
                </a:solidFill>
              </a:rPr>
              <a:t>  execute_values, PostgreSQL</a:t>
            </a:r>
          </a:p>
        </p:txBody>
      </p:sp>
      <p:sp>
        <p:nvSpPr>
          <p:cNvPr id="32" name="Rectangle 31"/>
          <p:cNvSpPr/>
          <p:nvPr/>
        </p:nvSpPr>
        <p:spPr>
          <a:xfrm>
            <a:off x="9372600" y="2788920"/>
            <a:ext cx="18288" cy="182880"/>
          </a:xfrm>
          <a:prstGeom prst="rect">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89920" y="2697480"/>
            <a:ext cx="914400" cy="365760"/>
          </a:xfrm>
          <a:prstGeom prst="rect">
            <a:avLst/>
          </a:prstGeom>
          <a:noFill/>
          <a:ln>
            <a:noFill/>
          </a:ln>
        </p:spPr>
        <p:txBody>
          <a:bodyPr wrap="none" lIns="0" tIns="0" rIns="0" bIns="0" anchor="ctr">
            <a:spAutoFit/>
          </a:bodyPr>
          <a:lstStyle/>
          <a:p>
            <a:pPr algn="l"/>
            <a:r>
              <a:rPr sz="1200" b="1">
                <a:solidFill>
                  <a:srgbClr val="000000"/>
                </a:solidFill>
              </a:rPr>
              <a:t>No SaaS fee</a:t>
            </a:r>
          </a:p>
        </p:txBody>
      </p:sp>
      <p:cxnSp>
        <p:nvCxnSpPr>
          <p:cNvPr id="34" name="Connector 33"/>
          <p:cNvCxnSpPr/>
          <p:nvPr/>
        </p:nvCxnSpPr>
        <p:spPr>
          <a:xfrm>
            <a:off x="6217920" y="3108960"/>
            <a:ext cx="548640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17920" y="3182111"/>
            <a:ext cx="5486400" cy="548640"/>
          </a:xfrm>
          <a:prstGeom prst="rect">
            <a:avLst/>
          </a:prstGeom>
          <a:noFill/>
          <a:ln>
            <a:noFill/>
          </a:ln>
        </p:spPr>
        <p:txBody>
          <a:bodyPr wrap="square" lIns="0" tIns="0" rIns="0" bIns="0" anchor="t">
            <a:spAutoFit/>
          </a:bodyPr>
          <a:lstStyle/>
          <a:p>
            <a:pPr algn="l"/>
            <a:r>
              <a:rPr sz="1200" b="1">
                <a:solidFill>
                  <a:srgbClr val="000000"/>
                </a:solidFill>
              </a:rPr>
              <a:t>Why EDGE is better: </a:t>
            </a:r>
            <a:r>
              <a:rPr sz="1200" b="0">
                <a:solidFill>
                  <a:srgbClr val="000000"/>
                </a:solidFill>
              </a:rPr>
              <a:t>Open-source PostgreSQL with direct tuple ingestion means no SaaS ingestion charges.</a:t>
            </a:r>
          </a:p>
        </p:txBody>
      </p:sp>
      <p:sp>
        <p:nvSpPr>
          <p:cNvPr id="36" name="TextBox 35"/>
          <p:cNvSpPr txBox="1"/>
          <p:nvPr/>
        </p:nvSpPr>
        <p:spPr>
          <a:xfrm>
            <a:off x="457200" y="3840480"/>
            <a:ext cx="5486400" cy="365760"/>
          </a:xfrm>
          <a:prstGeom prst="rect">
            <a:avLst/>
          </a:prstGeom>
          <a:noFill/>
          <a:ln>
            <a:noFill/>
          </a:ln>
        </p:spPr>
        <p:txBody>
          <a:bodyPr wrap="square" lIns="0" tIns="0" rIns="0" bIns="0" anchor="b">
            <a:spAutoFit/>
          </a:bodyPr>
          <a:lstStyle/>
          <a:p>
            <a:pPr algn="l"/>
            <a:r>
              <a:rPr sz="1800" b="1">
                <a:solidFill>
                  <a:srgbClr val="000000"/>
                </a:solidFill>
              </a:rPr>
              <a:t>Query Latency</a:t>
            </a:r>
            <a:r>
              <a:rPr sz="1200" b="0">
                <a:solidFill>
                  <a:srgbClr val="000000"/>
                </a:solidFill>
              </a:rPr>
              <a:t>   milliseconds · lower is better</a:t>
            </a:r>
          </a:p>
        </p:txBody>
      </p:sp>
      <p:cxnSp>
        <p:nvCxnSpPr>
          <p:cNvPr id="37" name="Connector 36"/>
          <p:cNvCxnSpPr/>
          <p:nvPr/>
        </p:nvCxnSpPr>
        <p:spPr>
          <a:xfrm>
            <a:off x="457200" y="4251960"/>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57200" y="4343400"/>
            <a:ext cx="3108960" cy="365760"/>
          </a:xfrm>
          <a:prstGeom prst="rect">
            <a:avLst/>
          </a:prstGeom>
          <a:noFill/>
          <a:ln>
            <a:noFill/>
          </a:ln>
        </p:spPr>
        <p:txBody>
          <a:bodyPr wrap="square" lIns="0" tIns="0" rIns="0" bIns="0" anchor="ctr">
            <a:spAutoFit/>
          </a:bodyPr>
          <a:lstStyle/>
          <a:p>
            <a:pPr algn="l"/>
            <a:r>
              <a:rPr sz="1200" b="1">
                <a:solidFill>
                  <a:srgbClr val="000000"/>
                </a:solidFill>
              </a:rPr>
              <a:t>Traditional Batch</a:t>
            </a:r>
            <a:r>
              <a:rPr sz="1100" b="0">
                <a:solidFill>
                  <a:srgbClr val="000000"/>
                </a:solidFill>
              </a:rPr>
              <a:t>  Hadoop, Hive</a:t>
            </a:r>
          </a:p>
        </p:txBody>
      </p:sp>
      <p:sp>
        <p:nvSpPr>
          <p:cNvPr id="39" name="Rectangle 38"/>
          <p:cNvSpPr/>
          <p:nvPr/>
        </p:nvSpPr>
        <p:spPr>
          <a:xfrm>
            <a:off x="3611880" y="4434840"/>
            <a:ext cx="1280160"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0" y="4343400"/>
            <a:ext cx="914400" cy="365760"/>
          </a:xfrm>
          <a:prstGeom prst="rect">
            <a:avLst/>
          </a:prstGeom>
          <a:noFill/>
          <a:ln>
            <a:noFill/>
          </a:ln>
        </p:spPr>
        <p:txBody>
          <a:bodyPr wrap="square" lIns="0" tIns="0" rIns="0" bIns="0" anchor="ctr">
            <a:spAutoFit/>
          </a:bodyPr>
          <a:lstStyle/>
          <a:p>
            <a:pPr algn="l"/>
            <a:r>
              <a:rPr sz="1300" b="1">
                <a:solidFill>
                  <a:srgbClr val="000000"/>
                </a:solidFill>
              </a:rPr>
              <a:t>3,200 ms</a:t>
            </a:r>
          </a:p>
        </p:txBody>
      </p:sp>
      <p:sp>
        <p:nvSpPr>
          <p:cNvPr id="41" name="TextBox 40"/>
          <p:cNvSpPr txBox="1"/>
          <p:nvPr/>
        </p:nvSpPr>
        <p:spPr>
          <a:xfrm>
            <a:off x="457200" y="4709160"/>
            <a:ext cx="3108960" cy="365760"/>
          </a:xfrm>
          <a:prstGeom prst="rect">
            <a:avLst/>
          </a:prstGeom>
          <a:noFill/>
          <a:ln>
            <a:noFill/>
          </a:ln>
        </p:spPr>
        <p:txBody>
          <a:bodyPr wrap="square" lIns="0" tIns="0" rIns="0" bIns="0" anchor="ctr">
            <a:spAutoFit/>
          </a:bodyPr>
          <a:lstStyle/>
          <a:p>
            <a:pPr algn="l"/>
            <a:r>
              <a:rPr sz="1200" b="1">
                <a:solidFill>
                  <a:srgbClr val="000000"/>
                </a:solidFill>
              </a:rPr>
              <a:t>Cloud ELT</a:t>
            </a:r>
            <a:r>
              <a:rPr sz="1100" b="0">
                <a:solidFill>
                  <a:srgbClr val="000000"/>
                </a:solidFill>
              </a:rPr>
              <a:t>  Snowflake, BigQuery</a:t>
            </a:r>
          </a:p>
        </p:txBody>
      </p:sp>
      <p:sp>
        <p:nvSpPr>
          <p:cNvPr id="42" name="Rectangle 41"/>
          <p:cNvSpPr/>
          <p:nvPr/>
        </p:nvSpPr>
        <p:spPr>
          <a:xfrm>
            <a:off x="3611880" y="4800600"/>
            <a:ext cx="180022"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0" y="4709160"/>
            <a:ext cx="914400" cy="365760"/>
          </a:xfrm>
          <a:prstGeom prst="rect">
            <a:avLst/>
          </a:prstGeom>
          <a:noFill/>
          <a:ln>
            <a:noFill/>
          </a:ln>
        </p:spPr>
        <p:txBody>
          <a:bodyPr wrap="square" lIns="0" tIns="0" rIns="0" bIns="0" anchor="ctr">
            <a:spAutoFit/>
          </a:bodyPr>
          <a:lstStyle/>
          <a:p>
            <a:pPr algn="l"/>
            <a:r>
              <a:rPr sz="1300" b="1">
                <a:solidFill>
                  <a:srgbClr val="000000"/>
                </a:solidFill>
              </a:rPr>
              <a:t>450 ms</a:t>
            </a:r>
          </a:p>
        </p:txBody>
      </p:sp>
      <p:sp>
        <p:nvSpPr>
          <p:cNvPr id="44" name="TextBox 43"/>
          <p:cNvSpPr txBox="1"/>
          <p:nvPr/>
        </p:nvSpPr>
        <p:spPr>
          <a:xfrm>
            <a:off x="457200" y="5074920"/>
            <a:ext cx="3108960" cy="365760"/>
          </a:xfrm>
          <a:prstGeom prst="rect">
            <a:avLst/>
          </a:prstGeom>
          <a:noFill/>
          <a:ln>
            <a:noFill/>
          </a:ln>
        </p:spPr>
        <p:txBody>
          <a:bodyPr wrap="square" lIns="0" tIns="0" rIns="0" bIns="0" anchor="ctr">
            <a:spAutoFit/>
          </a:bodyPr>
          <a:lstStyle/>
          <a:p>
            <a:pPr algn="l"/>
            <a:r>
              <a:rPr sz="1200" b="1">
                <a:solidFill>
                  <a:srgbClr val="000000"/>
                </a:solidFill>
              </a:rPr>
              <a:t>Real-Time Streaming</a:t>
            </a:r>
            <a:r>
              <a:rPr sz="1100" b="0">
                <a:solidFill>
                  <a:srgbClr val="000000"/>
                </a:solidFill>
              </a:rPr>
              <a:t>  Kafka, Flink</a:t>
            </a:r>
          </a:p>
        </p:txBody>
      </p:sp>
      <p:sp>
        <p:nvSpPr>
          <p:cNvPr id="45" name="Rectangle 44"/>
          <p:cNvSpPr/>
          <p:nvPr/>
        </p:nvSpPr>
        <p:spPr>
          <a:xfrm>
            <a:off x="3611880" y="5166360"/>
            <a:ext cx="48006"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029200" y="5074920"/>
            <a:ext cx="914400" cy="365760"/>
          </a:xfrm>
          <a:prstGeom prst="rect">
            <a:avLst/>
          </a:prstGeom>
          <a:noFill/>
          <a:ln>
            <a:noFill/>
          </a:ln>
        </p:spPr>
        <p:txBody>
          <a:bodyPr wrap="square" lIns="0" tIns="0" rIns="0" bIns="0" anchor="ctr">
            <a:spAutoFit/>
          </a:bodyPr>
          <a:lstStyle/>
          <a:p>
            <a:pPr algn="l"/>
            <a:r>
              <a:rPr sz="1300" b="1">
                <a:solidFill>
                  <a:srgbClr val="000000"/>
                </a:solidFill>
              </a:rPr>
              <a:t>120 ms</a:t>
            </a:r>
          </a:p>
        </p:txBody>
      </p:sp>
      <p:sp>
        <p:nvSpPr>
          <p:cNvPr id="47" name="TextBox 46"/>
          <p:cNvSpPr txBox="1"/>
          <p:nvPr/>
        </p:nvSpPr>
        <p:spPr>
          <a:xfrm>
            <a:off x="457200" y="5440680"/>
            <a:ext cx="3108960" cy="365760"/>
          </a:xfrm>
          <a:prstGeom prst="rect">
            <a:avLst/>
          </a:prstGeom>
          <a:noFill/>
          <a:ln>
            <a:noFill/>
          </a:ln>
        </p:spPr>
        <p:txBody>
          <a:bodyPr wrap="square" lIns="0" tIns="0" rIns="0" bIns="0" anchor="ctr">
            <a:spAutoFit/>
          </a:bodyPr>
          <a:lstStyle/>
          <a:p>
            <a:pPr algn="l"/>
            <a:r>
              <a:rPr sz="1200" b="1">
                <a:solidFill>
                  <a:srgbClr val="000000"/>
                </a:solidFill>
              </a:rPr>
              <a:t>EDGE</a:t>
            </a:r>
            <a:r>
              <a:rPr sz="1100" b="0">
                <a:solidFill>
                  <a:srgbClr val="000000"/>
                </a:solidFill>
              </a:rPr>
              <a:t>  PostgreSQL B-Tree</a:t>
            </a:r>
          </a:p>
        </p:txBody>
      </p:sp>
      <p:sp>
        <p:nvSpPr>
          <p:cNvPr id="48" name="Rectangle 47"/>
          <p:cNvSpPr/>
          <p:nvPr/>
        </p:nvSpPr>
        <p:spPr>
          <a:xfrm>
            <a:off x="3611880" y="5532120"/>
            <a:ext cx="36576" cy="182880"/>
          </a:xfrm>
          <a:prstGeom prst="rect">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29200" y="5440680"/>
            <a:ext cx="914400" cy="365760"/>
          </a:xfrm>
          <a:prstGeom prst="rect">
            <a:avLst/>
          </a:prstGeom>
          <a:noFill/>
          <a:ln>
            <a:noFill/>
          </a:ln>
        </p:spPr>
        <p:txBody>
          <a:bodyPr wrap="square" lIns="0" tIns="0" rIns="0" bIns="0" anchor="ctr">
            <a:spAutoFit/>
          </a:bodyPr>
          <a:lstStyle/>
          <a:p>
            <a:pPr algn="l"/>
            <a:r>
              <a:rPr sz="1300" b="1">
                <a:solidFill>
                  <a:srgbClr val="000000"/>
                </a:solidFill>
              </a:rPr>
              <a:t>28 ms</a:t>
            </a:r>
          </a:p>
        </p:txBody>
      </p:sp>
      <p:cxnSp>
        <p:nvCxnSpPr>
          <p:cNvPr id="50" name="Connector 49"/>
          <p:cNvCxnSpPr/>
          <p:nvPr/>
        </p:nvCxnSpPr>
        <p:spPr>
          <a:xfrm>
            <a:off x="457200" y="5852160"/>
            <a:ext cx="548640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57200" y="5925311"/>
            <a:ext cx="5486400" cy="548640"/>
          </a:xfrm>
          <a:prstGeom prst="rect">
            <a:avLst/>
          </a:prstGeom>
          <a:noFill/>
          <a:ln>
            <a:noFill/>
          </a:ln>
        </p:spPr>
        <p:txBody>
          <a:bodyPr wrap="square" lIns="0" tIns="0" rIns="0" bIns="0" anchor="t">
            <a:spAutoFit/>
          </a:bodyPr>
          <a:lstStyle/>
          <a:p>
            <a:pPr algn="l"/>
            <a:r>
              <a:rPr sz="1200" b="1">
                <a:solidFill>
                  <a:srgbClr val="000000"/>
                </a:solidFill>
              </a:rPr>
              <a:t>Why EDGE is better: </a:t>
            </a:r>
            <a:r>
              <a:rPr sz="1200" b="0">
                <a:solidFill>
                  <a:srgbClr val="000000"/>
                </a:solidFill>
              </a:rPr>
              <a:t>B-Tree indexes, Prisma ORM, Next.js 16 and HydraDB: 114x faster than batch, 16x than cloud ELT, 4.3x than streaming.</a:t>
            </a:r>
          </a:p>
        </p:txBody>
      </p:sp>
      <p:sp>
        <p:nvSpPr>
          <p:cNvPr id="52" name="TextBox 51"/>
          <p:cNvSpPr txBox="1"/>
          <p:nvPr/>
        </p:nvSpPr>
        <p:spPr>
          <a:xfrm>
            <a:off x="6217920" y="3840480"/>
            <a:ext cx="5486400" cy="365760"/>
          </a:xfrm>
          <a:prstGeom prst="rect">
            <a:avLst/>
          </a:prstGeom>
          <a:noFill/>
          <a:ln>
            <a:noFill/>
          </a:ln>
        </p:spPr>
        <p:txBody>
          <a:bodyPr wrap="square" lIns="0" tIns="0" rIns="0" bIns="0" anchor="b">
            <a:spAutoFit/>
          </a:bodyPr>
          <a:lstStyle/>
          <a:p>
            <a:pPr algn="l"/>
            <a:r>
              <a:rPr sz="1800" b="1">
                <a:solidFill>
                  <a:srgbClr val="000000"/>
                </a:solidFill>
              </a:rPr>
              <a:t>Storage Overhead</a:t>
            </a:r>
            <a:r>
              <a:rPr sz="1200" b="0">
                <a:solidFill>
                  <a:srgbClr val="000000"/>
                </a:solidFill>
              </a:rPr>
              <a:t>   relative size · lower is better</a:t>
            </a:r>
          </a:p>
        </p:txBody>
      </p:sp>
      <p:cxnSp>
        <p:nvCxnSpPr>
          <p:cNvPr id="53" name="Connector 52"/>
          <p:cNvCxnSpPr/>
          <p:nvPr/>
        </p:nvCxnSpPr>
        <p:spPr>
          <a:xfrm>
            <a:off x="6217920" y="4251960"/>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17920" y="4343400"/>
            <a:ext cx="3108960" cy="365760"/>
          </a:xfrm>
          <a:prstGeom prst="rect">
            <a:avLst/>
          </a:prstGeom>
          <a:noFill/>
          <a:ln>
            <a:noFill/>
          </a:ln>
        </p:spPr>
        <p:txBody>
          <a:bodyPr wrap="square" lIns="0" tIns="0" rIns="0" bIns="0" anchor="ctr">
            <a:spAutoFit/>
          </a:bodyPr>
          <a:lstStyle/>
          <a:p>
            <a:pPr algn="l"/>
            <a:r>
              <a:rPr sz="1200" b="1">
                <a:solidFill>
                  <a:srgbClr val="000000"/>
                </a:solidFill>
              </a:rPr>
              <a:t>Traditional Batch</a:t>
            </a:r>
            <a:r>
              <a:rPr sz="1100" b="0">
                <a:solidFill>
                  <a:srgbClr val="000000"/>
                </a:solidFill>
              </a:rPr>
              <a:t>  Hadoop, HDFS</a:t>
            </a:r>
          </a:p>
        </p:txBody>
      </p:sp>
      <p:sp>
        <p:nvSpPr>
          <p:cNvPr id="55" name="Rectangle 54"/>
          <p:cNvSpPr/>
          <p:nvPr/>
        </p:nvSpPr>
        <p:spPr>
          <a:xfrm>
            <a:off x="9372600" y="4434840"/>
            <a:ext cx="1280160"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789920" y="4343400"/>
            <a:ext cx="914400" cy="365760"/>
          </a:xfrm>
          <a:prstGeom prst="rect">
            <a:avLst/>
          </a:prstGeom>
          <a:noFill/>
          <a:ln>
            <a:noFill/>
          </a:ln>
        </p:spPr>
        <p:txBody>
          <a:bodyPr wrap="square" lIns="0" tIns="0" rIns="0" bIns="0" anchor="ctr">
            <a:spAutoFit/>
          </a:bodyPr>
          <a:lstStyle/>
          <a:p>
            <a:pPr algn="l"/>
            <a:r>
              <a:rPr sz="1300" b="1">
                <a:solidFill>
                  <a:srgbClr val="000000"/>
                </a:solidFill>
              </a:rPr>
              <a:t>3.8x</a:t>
            </a:r>
          </a:p>
        </p:txBody>
      </p:sp>
      <p:sp>
        <p:nvSpPr>
          <p:cNvPr id="57" name="TextBox 56"/>
          <p:cNvSpPr txBox="1"/>
          <p:nvPr/>
        </p:nvSpPr>
        <p:spPr>
          <a:xfrm>
            <a:off x="6217920" y="4709160"/>
            <a:ext cx="3108960" cy="365760"/>
          </a:xfrm>
          <a:prstGeom prst="rect">
            <a:avLst/>
          </a:prstGeom>
          <a:noFill/>
          <a:ln>
            <a:noFill/>
          </a:ln>
        </p:spPr>
        <p:txBody>
          <a:bodyPr wrap="square" lIns="0" tIns="0" rIns="0" bIns="0" anchor="ctr">
            <a:spAutoFit/>
          </a:bodyPr>
          <a:lstStyle/>
          <a:p>
            <a:pPr algn="l"/>
            <a:r>
              <a:rPr sz="1200" b="1">
                <a:solidFill>
                  <a:srgbClr val="000000"/>
                </a:solidFill>
              </a:rPr>
              <a:t>Cloud ELT</a:t>
            </a:r>
            <a:r>
              <a:rPr sz="1100" b="0">
                <a:solidFill>
                  <a:srgbClr val="000000"/>
                </a:solidFill>
              </a:rPr>
              <a:t>  Snowflake, dbt</a:t>
            </a:r>
          </a:p>
        </p:txBody>
      </p:sp>
      <p:sp>
        <p:nvSpPr>
          <p:cNvPr id="58" name="Rectangle 57"/>
          <p:cNvSpPr/>
          <p:nvPr/>
        </p:nvSpPr>
        <p:spPr>
          <a:xfrm>
            <a:off x="9372600" y="4800600"/>
            <a:ext cx="707456"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789920" y="4709160"/>
            <a:ext cx="914400" cy="365760"/>
          </a:xfrm>
          <a:prstGeom prst="rect">
            <a:avLst/>
          </a:prstGeom>
          <a:noFill/>
          <a:ln>
            <a:noFill/>
          </a:ln>
        </p:spPr>
        <p:txBody>
          <a:bodyPr wrap="square" lIns="0" tIns="0" rIns="0" bIns="0" anchor="ctr">
            <a:spAutoFit/>
          </a:bodyPr>
          <a:lstStyle/>
          <a:p>
            <a:pPr algn="l"/>
            <a:r>
              <a:rPr sz="1300" b="1">
                <a:solidFill>
                  <a:srgbClr val="000000"/>
                </a:solidFill>
              </a:rPr>
              <a:t>2.1x</a:t>
            </a:r>
          </a:p>
        </p:txBody>
      </p:sp>
      <p:sp>
        <p:nvSpPr>
          <p:cNvPr id="60" name="TextBox 59"/>
          <p:cNvSpPr txBox="1"/>
          <p:nvPr/>
        </p:nvSpPr>
        <p:spPr>
          <a:xfrm>
            <a:off x="6217920" y="5074920"/>
            <a:ext cx="3108960" cy="365760"/>
          </a:xfrm>
          <a:prstGeom prst="rect">
            <a:avLst/>
          </a:prstGeom>
          <a:noFill/>
          <a:ln>
            <a:noFill/>
          </a:ln>
        </p:spPr>
        <p:txBody>
          <a:bodyPr wrap="square" lIns="0" tIns="0" rIns="0" bIns="0" anchor="ctr">
            <a:spAutoFit/>
          </a:bodyPr>
          <a:lstStyle/>
          <a:p>
            <a:pPr algn="l"/>
            <a:r>
              <a:rPr sz="1200" b="1">
                <a:solidFill>
                  <a:srgbClr val="000000"/>
                </a:solidFill>
              </a:rPr>
              <a:t>Real-Time Streaming</a:t>
            </a:r>
            <a:r>
              <a:rPr sz="1100" b="0">
                <a:solidFill>
                  <a:srgbClr val="000000"/>
                </a:solidFill>
              </a:rPr>
              <a:t>  Kafka, RocksDB</a:t>
            </a:r>
          </a:p>
        </p:txBody>
      </p:sp>
      <p:sp>
        <p:nvSpPr>
          <p:cNvPr id="61" name="Rectangle 60"/>
          <p:cNvSpPr/>
          <p:nvPr/>
        </p:nvSpPr>
        <p:spPr>
          <a:xfrm>
            <a:off x="9372600" y="5166360"/>
            <a:ext cx="539014" cy="182880"/>
          </a:xfrm>
          <a:prstGeom prst="rect">
            <a:avLst/>
          </a:prstGeom>
          <a:solidFill>
            <a:srgbClr val="BD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789920" y="5074920"/>
            <a:ext cx="914400" cy="365760"/>
          </a:xfrm>
          <a:prstGeom prst="rect">
            <a:avLst/>
          </a:prstGeom>
          <a:noFill/>
          <a:ln>
            <a:noFill/>
          </a:ln>
        </p:spPr>
        <p:txBody>
          <a:bodyPr wrap="square" lIns="0" tIns="0" rIns="0" bIns="0" anchor="ctr">
            <a:spAutoFit/>
          </a:bodyPr>
          <a:lstStyle/>
          <a:p>
            <a:pPr algn="l"/>
            <a:r>
              <a:rPr sz="1300" b="1">
                <a:solidFill>
                  <a:srgbClr val="000000"/>
                </a:solidFill>
              </a:rPr>
              <a:t>1.6x</a:t>
            </a:r>
          </a:p>
        </p:txBody>
      </p:sp>
      <p:sp>
        <p:nvSpPr>
          <p:cNvPr id="63" name="TextBox 62"/>
          <p:cNvSpPr txBox="1"/>
          <p:nvPr/>
        </p:nvSpPr>
        <p:spPr>
          <a:xfrm>
            <a:off x="6217920" y="5440680"/>
            <a:ext cx="3108960" cy="365760"/>
          </a:xfrm>
          <a:prstGeom prst="rect">
            <a:avLst/>
          </a:prstGeom>
          <a:noFill/>
          <a:ln>
            <a:noFill/>
          </a:ln>
        </p:spPr>
        <p:txBody>
          <a:bodyPr wrap="square" lIns="0" tIns="0" rIns="0" bIns="0" anchor="ctr">
            <a:spAutoFit/>
          </a:bodyPr>
          <a:lstStyle/>
          <a:p>
            <a:pPr algn="l"/>
            <a:r>
              <a:rPr sz="1200" b="1">
                <a:solidFill>
                  <a:srgbClr val="000000"/>
                </a:solidFill>
              </a:rPr>
              <a:t>EDGE</a:t>
            </a:r>
            <a:r>
              <a:rPr sz="1100" b="0">
                <a:solidFill>
                  <a:srgbClr val="000000"/>
                </a:solidFill>
              </a:rPr>
              <a:t>  PostgreSQL 3NF</a:t>
            </a:r>
          </a:p>
        </p:txBody>
      </p:sp>
      <p:sp>
        <p:nvSpPr>
          <p:cNvPr id="64" name="Rectangle 63"/>
          <p:cNvSpPr/>
          <p:nvPr/>
        </p:nvSpPr>
        <p:spPr>
          <a:xfrm>
            <a:off x="9372600" y="5532120"/>
            <a:ext cx="370572" cy="182880"/>
          </a:xfrm>
          <a:prstGeom prst="rect">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789920" y="5440680"/>
            <a:ext cx="914400" cy="365760"/>
          </a:xfrm>
          <a:prstGeom prst="rect">
            <a:avLst/>
          </a:prstGeom>
          <a:noFill/>
          <a:ln>
            <a:noFill/>
          </a:ln>
        </p:spPr>
        <p:txBody>
          <a:bodyPr wrap="square" lIns="0" tIns="0" rIns="0" bIns="0" anchor="ctr">
            <a:spAutoFit/>
          </a:bodyPr>
          <a:lstStyle/>
          <a:p>
            <a:pPr algn="l"/>
            <a:r>
              <a:rPr sz="1300" b="1">
                <a:solidFill>
                  <a:srgbClr val="000000"/>
                </a:solidFill>
              </a:rPr>
              <a:t>1.1x</a:t>
            </a:r>
          </a:p>
        </p:txBody>
      </p:sp>
      <p:cxnSp>
        <p:nvCxnSpPr>
          <p:cNvPr id="66" name="Connector 65"/>
          <p:cNvCxnSpPr/>
          <p:nvPr/>
        </p:nvCxnSpPr>
        <p:spPr>
          <a:xfrm>
            <a:off x="6217920" y="5852160"/>
            <a:ext cx="548640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217920" y="5925311"/>
            <a:ext cx="5486400" cy="548640"/>
          </a:xfrm>
          <a:prstGeom prst="rect">
            <a:avLst/>
          </a:prstGeom>
          <a:noFill/>
          <a:ln>
            <a:noFill/>
          </a:ln>
        </p:spPr>
        <p:txBody>
          <a:bodyPr wrap="square" lIns="0" tIns="0" rIns="0" bIns="0" anchor="t">
            <a:spAutoFit/>
          </a:bodyPr>
          <a:lstStyle/>
          <a:p>
            <a:pPr algn="l"/>
            <a:r>
              <a:rPr sz="1200" b="1">
                <a:solidFill>
                  <a:srgbClr val="000000"/>
                </a:solidFill>
              </a:rPr>
              <a:t>Why EDGE is better: </a:t>
            </a:r>
            <a:r>
              <a:rPr sz="1200" b="0">
                <a:solidFill>
                  <a:srgbClr val="000000"/>
                </a:solidFill>
              </a:rPr>
              <a:t>3NF schema, B-Tree indexes, Prisma ORM and CDN images: 71% less than batch, 48% less than cloud ELT.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365760"/>
            <a:ext cx="9445752" cy="731520"/>
          </a:xfrm>
          <a:prstGeom prst="rect">
            <a:avLst/>
          </a:prstGeom>
          <a:noFill/>
          <a:ln>
            <a:noFill/>
          </a:ln>
        </p:spPr>
        <p:txBody>
          <a:bodyPr wrap="square" lIns="0" tIns="0" rIns="0" bIns="0" anchor="ctr">
            <a:spAutoFit/>
          </a:bodyPr>
          <a:lstStyle/>
          <a:p>
            <a:pPr algn="ctr"/>
            <a:r>
              <a:rPr sz="2800" b="1">
                <a:solidFill>
                  <a:srgbClr val="000000"/>
                </a:solidFill>
              </a:rPr>
              <a:t>Results: EDGE Pipeline Architecture</a:t>
            </a:r>
          </a:p>
        </p:txBody>
      </p:sp>
      <p:pic>
        <p:nvPicPr>
          <p:cNvPr id="4" name="Picture 3" descr="i_pipe.png"/>
          <p:cNvPicPr>
            <a:picLocks noChangeAspect="1"/>
          </p:cNvPicPr>
          <p:nvPr/>
        </p:nvPicPr>
        <p:blipFill>
          <a:blip r:embed="rId4"/>
          <a:stretch>
            <a:fillRect/>
          </a:stretch>
        </p:blipFill>
        <p:spPr>
          <a:xfrm>
            <a:off x="1760220" y="960120"/>
            <a:ext cx="8641080" cy="576072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p:spPr>
      </p:pic>
      <p:sp>
        <p:nvSpPr>
          <p:cNvPr id="3" name="TextBox 2"/>
          <p:cNvSpPr txBox="1"/>
          <p:nvPr/>
        </p:nvSpPr>
        <p:spPr>
          <a:xfrm>
            <a:off x="1371600" y="274320"/>
            <a:ext cx="9445752" cy="640080"/>
          </a:xfrm>
          <a:prstGeom prst="rect">
            <a:avLst/>
          </a:prstGeom>
          <a:noFill/>
        </p:spPr>
        <p:txBody>
          <a:bodyPr wrap="square" lIns="0" tIns="0" rIns="0" bIns="0" anchor="ctr">
            <a:spAutoFit/>
          </a:bodyPr>
          <a:lstStyle/>
          <a:p>
            <a:pPr algn="ctr"/>
            <a:r>
              <a:rPr sz="3200" b="1">
                <a:solidFill>
                  <a:srgbClr val="000000"/>
                </a:solidFill>
              </a:rPr>
              <a:t>EDGE Intelligence Layer</a:t>
            </a:r>
          </a:p>
        </p:txBody>
      </p:sp>
      <p:cxnSp>
        <p:nvCxnSpPr>
          <p:cNvPr id="4" name="Connector 3"/>
          <p:cNvCxnSpPr/>
          <p:nvPr/>
        </p:nvCxnSpPr>
        <p:spPr>
          <a:xfrm>
            <a:off x="548640" y="2240280"/>
            <a:ext cx="11064240" cy="0"/>
          </a:xfrm>
          <a:prstGeom prst="line">
            <a:avLst/>
          </a:prstGeom>
          <a:ln w="25400">
            <a:solidFill>
              <a:srgbClr val="A81E26"/>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00200"/>
            <a:ext cx="1737360" cy="365760"/>
          </a:xfrm>
          <a:prstGeom prst="rect">
            <a:avLst/>
          </a:prstGeom>
          <a:noFill/>
        </p:spPr>
        <p:txBody>
          <a:bodyPr wrap="square" lIns="0" tIns="0" rIns="0" bIns="0" anchor="t">
            <a:spAutoFit/>
          </a:bodyPr>
          <a:lstStyle/>
          <a:p>
            <a:pPr algn="l"/>
            <a:r>
              <a:rPr sz="1800" b="1">
                <a:solidFill>
                  <a:srgbClr val="000000"/>
                </a:solidFill>
              </a:rPr>
              <a:t>01</a:t>
            </a:r>
          </a:p>
        </p:txBody>
      </p:sp>
      <p:sp>
        <p:nvSpPr>
          <p:cNvPr id="6" name="Oval 5"/>
          <p:cNvSpPr/>
          <p:nvPr/>
        </p:nvSpPr>
        <p:spPr>
          <a:xfrm>
            <a:off x="548640" y="2130552"/>
            <a:ext cx="219456" cy="219456"/>
          </a:xfrm>
          <a:prstGeom prst="ellipse">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606040"/>
            <a:ext cx="1737360" cy="640080"/>
          </a:xfrm>
          <a:prstGeom prst="rect">
            <a:avLst/>
          </a:prstGeom>
          <a:noFill/>
        </p:spPr>
        <p:txBody>
          <a:bodyPr wrap="square" lIns="0" tIns="0" rIns="0" bIns="0" anchor="t">
            <a:spAutoFit/>
          </a:bodyPr>
          <a:lstStyle/>
          <a:p>
            <a:pPr algn="l"/>
            <a:r>
              <a:rPr sz="1500" b="1">
                <a:solidFill>
                  <a:srgbClr val="000000"/>
                </a:solidFill>
              </a:rPr>
              <a:t>PostgreSQL Ball-by-Ball Data</a:t>
            </a:r>
          </a:p>
        </p:txBody>
      </p:sp>
      <p:sp>
        <p:nvSpPr>
          <p:cNvPr id="8" name="TextBox 7"/>
          <p:cNvSpPr txBox="1"/>
          <p:nvPr/>
        </p:nvSpPr>
        <p:spPr>
          <a:xfrm>
            <a:off x="548640" y="3383280"/>
            <a:ext cx="1737360" cy="1463040"/>
          </a:xfrm>
          <a:prstGeom prst="rect">
            <a:avLst/>
          </a:prstGeom>
          <a:noFill/>
        </p:spPr>
        <p:txBody>
          <a:bodyPr wrap="square" lIns="0" tIns="0" rIns="0" bIns="0" anchor="t">
            <a:spAutoFit/>
          </a:bodyPr>
          <a:lstStyle/>
          <a:p>
            <a:pPr algn="l"/>
            <a:r>
              <a:rPr sz="1300" b="0">
                <a:solidFill>
                  <a:srgbClr val="000000"/>
                </a:solidFill>
              </a:rPr>
              <a:t>800K+ deliveries stored in a 3NF schema with composite B-Tree indexes.</a:t>
            </a:r>
          </a:p>
        </p:txBody>
      </p:sp>
      <p:sp>
        <p:nvSpPr>
          <p:cNvPr id="9" name="TextBox 8"/>
          <p:cNvSpPr txBox="1"/>
          <p:nvPr/>
        </p:nvSpPr>
        <p:spPr>
          <a:xfrm>
            <a:off x="2441447" y="1600200"/>
            <a:ext cx="1737360" cy="365760"/>
          </a:xfrm>
          <a:prstGeom prst="rect">
            <a:avLst/>
          </a:prstGeom>
          <a:noFill/>
        </p:spPr>
        <p:txBody>
          <a:bodyPr wrap="square" lIns="0" tIns="0" rIns="0" bIns="0" anchor="t">
            <a:spAutoFit/>
          </a:bodyPr>
          <a:lstStyle/>
          <a:p>
            <a:pPr algn="l"/>
            <a:r>
              <a:rPr sz="1800" b="1">
                <a:solidFill>
                  <a:srgbClr val="000000"/>
                </a:solidFill>
              </a:rPr>
              <a:t>02</a:t>
            </a:r>
          </a:p>
        </p:txBody>
      </p:sp>
      <p:sp>
        <p:nvSpPr>
          <p:cNvPr id="10" name="Oval 9"/>
          <p:cNvSpPr/>
          <p:nvPr/>
        </p:nvSpPr>
        <p:spPr>
          <a:xfrm>
            <a:off x="2441447" y="2130552"/>
            <a:ext cx="219456" cy="219456"/>
          </a:xfrm>
          <a:prstGeom prst="ellipse">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41447" y="2606040"/>
            <a:ext cx="1737360" cy="640080"/>
          </a:xfrm>
          <a:prstGeom prst="rect">
            <a:avLst/>
          </a:prstGeom>
          <a:noFill/>
        </p:spPr>
        <p:txBody>
          <a:bodyPr wrap="square" lIns="0" tIns="0" rIns="0" bIns="0" anchor="t">
            <a:spAutoFit/>
          </a:bodyPr>
          <a:lstStyle/>
          <a:p>
            <a:pPr algn="l"/>
            <a:r>
              <a:rPr sz="1500" b="1">
                <a:solidFill>
                  <a:srgbClr val="000000"/>
                </a:solidFill>
              </a:rPr>
              <a:t>Feature Engineering</a:t>
            </a:r>
          </a:p>
        </p:txBody>
      </p:sp>
      <p:sp>
        <p:nvSpPr>
          <p:cNvPr id="12" name="TextBox 11"/>
          <p:cNvSpPr txBox="1"/>
          <p:nvPr/>
        </p:nvSpPr>
        <p:spPr>
          <a:xfrm>
            <a:off x="2441447" y="3383280"/>
            <a:ext cx="1737360" cy="1463040"/>
          </a:xfrm>
          <a:prstGeom prst="rect">
            <a:avLst/>
          </a:prstGeom>
          <a:noFill/>
        </p:spPr>
        <p:txBody>
          <a:bodyPr wrap="square" lIns="0" tIns="0" rIns="0" bIns="0" anchor="t">
            <a:spAutoFit/>
          </a:bodyPr>
          <a:lstStyle/>
          <a:p>
            <a:pPr algn="l"/>
            <a:r>
              <a:rPr sz="1300" b="0">
                <a:solidFill>
                  <a:srgbClr val="000000"/>
                </a:solidFill>
              </a:rPr>
              <a:t>Strike rate, economy, dot-ball % and rolling form scores.</a:t>
            </a:r>
          </a:p>
        </p:txBody>
      </p:sp>
      <p:sp>
        <p:nvSpPr>
          <p:cNvPr id="13" name="TextBox 12"/>
          <p:cNvSpPr txBox="1"/>
          <p:nvPr/>
        </p:nvSpPr>
        <p:spPr>
          <a:xfrm>
            <a:off x="4334254" y="1600200"/>
            <a:ext cx="1737360" cy="365760"/>
          </a:xfrm>
          <a:prstGeom prst="rect">
            <a:avLst/>
          </a:prstGeom>
          <a:noFill/>
        </p:spPr>
        <p:txBody>
          <a:bodyPr wrap="square" lIns="0" tIns="0" rIns="0" bIns="0" anchor="t">
            <a:spAutoFit/>
          </a:bodyPr>
          <a:lstStyle/>
          <a:p>
            <a:pPr algn="l"/>
            <a:r>
              <a:rPr sz="1800" b="1">
                <a:solidFill>
                  <a:srgbClr val="000000"/>
                </a:solidFill>
              </a:rPr>
              <a:t>03</a:t>
            </a:r>
          </a:p>
        </p:txBody>
      </p:sp>
      <p:sp>
        <p:nvSpPr>
          <p:cNvPr id="14" name="Oval 13"/>
          <p:cNvSpPr/>
          <p:nvPr/>
        </p:nvSpPr>
        <p:spPr>
          <a:xfrm>
            <a:off x="4334254" y="2130552"/>
            <a:ext cx="219456" cy="219456"/>
          </a:xfrm>
          <a:prstGeom prst="ellipse">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34254" y="2606040"/>
            <a:ext cx="1737360" cy="640080"/>
          </a:xfrm>
          <a:prstGeom prst="rect">
            <a:avLst/>
          </a:prstGeom>
          <a:noFill/>
        </p:spPr>
        <p:txBody>
          <a:bodyPr wrap="square" lIns="0" tIns="0" rIns="0" bIns="0" anchor="t">
            <a:spAutoFit/>
          </a:bodyPr>
          <a:lstStyle/>
          <a:p>
            <a:pPr algn="l"/>
            <a:r>
              <a:rPr sz="1500" b="1">
                <a:solidFill>
                  <a:srgbClr val="000000"/>
                </a:solidFill>
              </a:rPr>
              <a:t>Micro-Battle Engine</a:t>
            </a:r>
          </a:p>
        </p:txBody>
      </p:sp>
      <p:sp>
        <p:nvSpPr>
          <p:cNvPr id="16" name="TextBox 15"/>
          <p:cNvSpPr txBox="1"/>
          <p:nvPr/>
        </p:nvSpPr>
        <p:spPr>
          <a:xfrm>
            <a:off x="4334254" y="3383280"/>
            <a:ext cx="1737360" cy="1463040"/>
          </a:xfrm>
          <a:prstGeom prst="rect">
            <a:avLst/>
          </a:prstGeom>
          <a:noFill/>
        </p:spPr>
        <p:txBody>
          <a:bodyPr wrap="square" lIns="0" tIns="0" rIns="0" bIns="0" anchor="t">
            <a:spAutoFit/>
          </a:bodyPr>
          <a:lstStyle/>
          <a:p>
            <a:pPr algn="l"/>
            <a:r>
              <a:rPr sz="1300" b="0">
                <a:solidFill>
                  <a:srgbClr val="000000"/>
                </a:solidFill>
              </a:rPr>
              <a:t>Batter vs bowler head-to-head from indexed (batter, bowler, match) queries.</a:t>
            </a:r>
          </a:p>
        </p:txBody>
      </p:sp>
      <p:sp>
        <p:nvSpPr>
          <p:cNvPr id="17" name="TextBox 16"/>
          <p:cNvSpPr txBox="1"/>
          <p:nvPr/>
        </p:nvSpPr>
        <p:spPr>
          <a:xfrm>
            <a:off x="6227061" y="1600200"/>
            <a:ext cx="1737360" cy="365760"/>
          </a:xfrm>
          <a:prstGeom prst="rect">
            <a:avLst/>
          </a:prstGeom>
          <a:noFill/>
        </p:spPr>
        <p:txBody>
          <a:bodyPr wrap="square" lIns="0" tIns="0" rIns="0" bIns="0" anchor="t">
            <a:spAutoFit/>
          </a:bodyPr>
          <a:lstStyle/>
          <a:p>
            <a:pPr algn="l"/>
            <a:r>
              <a:rPr sz="1800" b="1">
                <a:solidFill>
                  <a:srgbClr val="000000"/>
                </a:solidFill>
              </a:rPr>
              <a:t>04</a:t>
            </a:r>
          </a:p>
        </p:txBody>
      </p:sp>
      <p:sp>
        <p:nvSpPr>
          <p:cNvPr id="18" name="Oval 17"/>
          <p:cNvSpPr/>
          <p:nvPr/>
        </p:nvSpPr>
        <p:spPr>
          <a:xfrm>
            <a:off x="6227061" y="2130552"/>
            <a:ext cx="219456" cy="219456"/>
          </a:xfrm>
          <a:prstGeom prst="ellipse">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27061" y="2606040"/>
            <a:ext cx="1737360" cy="640080"/>
          </a:xfrm>
          <a:prstGeom prst="rect">
            <a:avLst/>
          </a:prstGeom>
          <a:noFill/>
        </p:spPr>
        <p:txBody>
          <a:bodyPr wrap="square" lIns="0" tIns="0" rIns="0" bIns="0" anchor="t">
            <a:spAutoFit/>
          </a:bodyPr>
          <a:lstStyle/>
          <a:p>
            <a:pPr algn="l"/>
            <a:r>
              <a:rPr sz="1500" b="1">
                <a:solidFill>
                  <a:srgbClr val="000000"/>
                </a:solidFill>
              </a:rPr>
              <a:t>Fantasy Projection Engine</a:t>
            </a:r>
          </a:p>
        </p:txBody>
      </p:sp>
      <p:sp>
        <p:nvSpPr>
          <p:cNvPr id="20" name="TextBox 19"/>
          <p:cNvSpPr txBox="1"/>
          <p:nvPr/>
        </p:nvSpPr>
        <p:spPr>
          <a:xfrm>
            <a:off x="6227061" y="3383280"/>
            <a:ext cx="1737360" cy="1463040"/>
          </a:xfrm>
          <a:prstGeom prst="rect">
            <a:avLst/>
          </a:prstGeom>
          <a:noFill/>
        </p:spPr>
        <p:txBody>
          <a:bodyPr wrap="square" lIns="0" tIns="0" rIns="0" bIns="0" anchor="t">
            <a:spAutoFit/>
          </a:bodyPr>
          <a:lstStyle/>
          <a:p>
            <a:pPr algn="l"/>
            <a:r>
              <a:rPr sz="1300" b="0">
                <a:solidFill>
                  <a:srgbClr val="000000"/>
                </a:solidFill>
              </a:rPr>
              <a:t>Turns the features into projected player performance.</a:t>
            </a:r>
          </a:p>
        </p:txBody>
      </p:sp>
      <p:sp>
        <p:nvSpPr>
          <p:cNvPr id="21" name="TextBox 20"/>
          <p:cNvSpPr txBox="1"/>
          <p:nvPr/>
        </p:nvSpPr>
        <p:spPr>
          <a:xfrm>
            <a:off x="8119868" y="1600200"/>
            <a:ext cx="1737360" cy="365760"/>
          </a:xfrm>
          <a:prstGeom prst="rect">
            <a:avLst/>
          </a:prstGeom>
          <a:noFill/>
        </p:spPr>
        <p:txBody>
          <a:bodyPr wrap="square" lIns="0" tIns="0" rIns="0" bIns="0" anchor="t">
            <a:spAutoFit/>
          </a:bodyPr>
          <a:lstStyle/>
          <a:p>
            <a:pPr algn="l"/>
            <a:r>
              <a:rPr sz="1800" b="1">
                <a:solidFill>
                  <a:srgbClr val="000000"/>
                </a:solidFill>
              </a:rPr>
              <a:t>05</a:t>
            </a:r>
          </a:p>
        </p:txBody>
      </p:sp>
      <p:sp>
        <p:nvSpPr>
          <p:cNvPr id="22" name="Oval 21"/>
          <p:cNvSpPr/>
          <p:nvPr/>
        </p:nvSpPr>
        <p:spPr>
          <a:xfrm>
            <a:off x="8119868" y="2130552"/>
            <a:ext cx="219456" cy="219456"/>
          </a:xfrm>
          <a:prstGeom prst="ellipse">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19868" y="2606040"/>
            <a:ext cx="1737360" cy="640080"/>
          </a:xfrm>
          <a:prstGeom prst="rect">
            <a:avLst/>
          </a:prstGeom>
          <a:noFill/>
        </p:spPr>
        <p:txBody>
          <a:bodyPr wrap="square" lIns="0" tIns="0" rIns="0" bIns="0" anchor="t">
            <a:spAutoFit/>
          </a:bodyPr>
          <a:lstStyle/>
          <a:p>
            <a:pPr algn="l"/>
            <a:r>
              <a:rPr sz="1500" b="1">
                <a:solidFill>
                  <a:srgbClr val="000000"/>
                </a:solidFill>
              </a:rPr>
              <a:t>Captain / VC / Hidden Gems</a:t>
            </a:r>
          </a:p>
        </p:txBody>
      </p:sp>
      <p:sp>
        <p:nvSpPr>
          <p:cNvPr id="24" name="TextBox 23"/>
          <p:cNvSpPr txBox="1"/>
          <p:nvPr/>
        </p:nvSpPr>
        <p:spPr>
          <a:xfrm>
            <a:off x="8119868" y="3383280"/>
            <a:ext cx="1737360" cy="1463040"/>
          </a:xfrm>
          <a:prstGeom prst="rect">
            <a:avLst/>
          </a:prstGeom>
          <a:noFill/>
        </p:spPr>
        <p:txBody>
          <a:bodyPr wrap="square" lIns="0" tIns="0" rIns="0" bIns="0" anchor="t">
            <a:spAutoFit/>
          </a:bodyPr>
          <a:lstStyle/>
          <a:p>
            <a:pPr algn="l"/>
            <a:r>
              <a:rPr sz="1300" b="0">
                <a:solidFill>
                  <a:srgbClr val="000000"/>
                </a:solidFill>
              </a:rPr>
              <a:t>Ranks captain, vice-captain and under-the-radar picks.</a:t>
            </a:r>
          </a:p>
        </p:txBody>
      </p:sp>
      <p:sp>
        <p:nvSpPr>
          <p:cNvPr id="25" name="TextBox 24"/>
          <p:cNvSpPr txBox="1"/>
          <p:nvPr/>
        </p:nvSpPr>
        <p:spPr>
          <a:xfrm>
            <a:off x="10012675" y="1600200"/>
            <a:ext cx="1737360" cy="365760"/>
          </a:xfrm>
          <a:prstGeom prst="rect">
            <a:avLst/>
          </a:prstGeom>
          <a:noFill/>
        </p:spPr>
        <p:txBody>
          <a:bodyPr wrap="square" lIns="0" tIns="0" rIns="0" bIns="0" anchor="t">
            <a:spAutoFit/>
          </a:bodyPr>
          <a:lstStyle/>
          <a:p>
            <a:pPr algn="l"/>
            <a:r>
              <a:rPr sz="1800" b="1">
                <a:solidFill>
                  <a:srgbClr val="000000"/>
                </a:solidFill>
              </a:rPr>
              <a:t>06</a:t>
            </a:r>
          </a:p>
        </p:txBody>
      </p:sp>
      <p:sp>
        <p:nvSpPr>
          <p:cNvPr id="26" name="Oval 25"/>
          <p:cNvSpPr/>
          <p:nvPr/>
        </p:nvSpPr>
        <p:spPr>
          <a:xfrm>
            <a:off x="10012675" y="2130552"/>
            <a:ext cx="219456" cy="219456"/>
          </a:xfrm>
          <a:prstGeom prst="ellipse">
            <a:avLst/>
          </a:prstGeom>
          <a:solidFill>
            <a:srgbClr val="A8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12675" y="2606040"/>
            <a:ext cx="1737360" cy="640080"/>
          </a:xfrm>
          <a:prstGeom prst="rect">
            <a:avLst/>
          </a:prstGeom>
          <a:noFill/>
        </p:spPr>
        <p:txBody>
          <a:bodyPr wrap="square" lIns="0" tIns="0" rIns="0" bIns="0" anchor="t">
            <a:spAutoFit/>
          </a:bodyPr>
          <a:lstStyle/>
          <a:p>
            <a:pPr algn="l"/>
            <a:r>
              <a:rPr sz="1500" b="1">
                <a:solidFill>
                  <a:srgbClr val="000000"/>
                </a:solidFill>
              </a:rPr>
              <a:t>Grounded AI Explanation</a:t>
            </a:r>
          </a:p>
        </p:txBody>
      </p:sp>
      <p:sp>
        <p:nvSpPr>
          <p:cNvPr id="28" name="TextBox 27"/>
          <p:cNvSpPr txBox="1"/>
          <p:nvPr/>
        </p:nvSpPr>
        <p:spPr>
          <a:xfrm>
            <a:off x="10012675" y="3383280"/>
            <a:ext cx="1737360" cy="1463040"/>
          </a:xfrm>
          <a:prstGeom prst="rect">
            <a:avLst/>
          </a:prstGeom>
          <a:noFill/>
        </p:spPr>
        <p:txBody>
          <a:bodyPr wrap="square" lIns="0" tIns="0" rIns="0" bIns="0" anchor="t">
            <a:spAutoFit/>
          </a:bodyPr>
          <a:lstStyle/>
          <a:p>
            <a:pPr algn="l"/>
            <a:r>
              <a:rPr sz="1300" b="0">
                <a:solidFill>
                  <a:srgbClr val="000000"/>
                </a:solidFill>
              </a:rPr>
              <a:t>The LLM explains each pick using database facts, not guesses.</a:t>
            </a:r>
          </a:p>
        </p:txBody>
      </p:sp>
      <p:sp>
        <p:nvSpPr>
          <p:cNvPr id="29" name="TextBox 28"/>
          <p:cNvSpPr txBox="1"/>
          <p:nvPr/>
        </p:nvSpPr>
        <p:spPr>
          <a:xfrm>
            <a:off x="548640" y="5212080"/>
            <a:ext cx="11064240" cy="548640"/>
          </a:xfrm>
          <a:prstGeom prst="rect">
            <a:avLst/>
          </a:prstGeom>
          <a:noFill/>
        </p:spPr>
        <p:txBody>
          <a:bodyPr wrap="square" lIns="0" tIns="0" rIns="0" bIns="0" anchor="ctr">
            <a:spAutoFit/>
          </a:bodyPr>
          <a:lstStyle/>
          <a:p>
            <a:pPr algn="ctr"/>
            <a:r>
              <a:rPr sz="2000" b="1">
                <a:solidFill>
                  <a:srgbClr val="000000"/>
                </a:solidFill>
              </a:rPr>
              <a:t>We engineered the data → we analyse it → we turn it into cricket intelligence.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365760"/>
            <a:ext cx="9445752" cy="731520"/>
          </a:xfrm>
          <a:prstGeom prst="rect">
            <a:avLst/>
          </a:prstGeom>
          <a:noFill/>
          <a:ln>
            <a:noFill/>
          </a:ln>
        </p:spPr>
        <p:txBody>
          <a:bodyPr wrap="square" lIns="0" tIns="0" rIns="0" bIns="0" anchor="ctr">
            <a:spAutoFit/>
          </a:bodyPr>
          <a:lstStyle/>
          <a:p>
            <a:pPr algn="ctr"/>
            <a:r>
              <a:rPr sz="3200" b="1">
                <a:solidFill>
                  <a:srgbClr val="000000"/>
                </a:solidFill>
              </a:rPr>
              <a:t>Results: Key Outcomes</a:t>
            </a:r>
          </a:p>
        </p:txBody>
      </p:sp>
      <p:cxnSp>
        <p:nvCxnSpPr>
          <p:cNvPr id="4" name="Connector 3"/>
          <p:cNvCxnSpPr/>
          <p:nvPr/>
        </p:nvCxnSpPr>
        <p:spPr>
          <a:xfrm>
            <a:off x="640080" y="1463040"/>
            <a:ext cx="5212080" cy="0"/>
          </a:xfrm>
          <a:prstGeom prst="line">
            <a:avLst/>
          </a:prstGeom>
          <a:ln w="28575">
            <a:solidFill>
              <a:srgbClr val="A81E2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645920"/>
            <a:ext cx="5212080" cy="731520"/>
          </a:xfrm>
          <a:prstGeom prst="rect">
            <a:avLst/>
          </a:prstGeom>
          <a:noFill/>
          <a:ln>
            <a:noFill/>
          </a:ln>
        </p:spPr>
        <p:txBody>
          <a:bodyPr wrap="square" lIns="0" tIns="0" rIns="0" bIns="0" anchor="t">
            <a:spAutoFit/>
          </a:bodyPr>
          <a:lstStyle/>
          <a:p>
            <a:pPr algn="l"/>
            <a:r>
              <a:rPr sz="3800" b="1">
                <a:solidFill>
                  <a:srgbClr val="000000"/>
                </a:solidFill>
              </a:rPr>
              <a:t>140 min → 88 sec</a:t>
            </a:r>
          </a:p>
        </p:txBody>
      </p:sp>
      <p:sp>
        <p:nvSpPr>
          <p:cNvPr id="6" name="TextBox 5"/>
          <p:cNvSpPr txBox="1"/>
          <p:nvPr/>
        </p:nvSpPr>
        <p:spPr>
          <a:xfrm>
            <a:off x="640080" y="2468880"/>
            <a:ext cx="5212080" cy="822960"/>
          </a:xfrm>
          <a:prstGeom prst="rect">
            <a:avLst/>
          </a:prstGeom>
          <a:noFill/>
          <a:ln>
            <a:noFill/>
          </a:ln>
        </p:spPr>
        <p:txBody>
          <a:bodyPr wrap="square" lIns="0" tIns="0" rIns="0" bIns="0" anchor="t">
            <a:spAutoFit/>
          </a:bodyPr>
          <a:lstStyle/>
          <a:p>
            <a:pPr algn="l"/>
            <a:r>
              <a:rPr sz="1500" b="0">
                <a:solidFill>
                  <a:srgbClr val="000000"/>
                </a:solidFill>
              </a:rPr>
              <a:t>Data ingestion runtime for 800,000+ balls (batch tuple streaming)</a:t>
            </a:r>
          </a:p>
        </p:txBody>
      </p:sp>
      <p:cxnSp>
        <p:nvCxnSpPr>
          <p:cNvPr id="7" name="Connector 6"/>
          <p:cNvCxnSpPr/>
          <p:nvPr/>
        </p:nvCxnSpPr>
        <p:spPr>
          <a:xfrm>
            <a:off x="6309360" y="1463040"/>
            <a:ext cx="5212080" cy="0"/>
          </a:xfrm>
          <a:prstGeom prst="line">
            <a:avLst/>
          </a:prstGeom>
          <a:ln w="28575">
            <a:solidFill>
              <a:srgbClr val="A81E2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0" y="1645920"/>
            <a:ext cx="5212080" cy="731520"/>
          </a:xfrm>
          <a:prstGeom prst="rect">
            <a:avLst/>
          </a:prstGeom>
          <a:noFill/>
          <a:ln>
            <a:noFill/>
          </a:ln>
        </p:spPr>
        <p:txBody>
          <a:bodyPr wrap="square" lIns="0" tIns="0" rIns="0" bIns="0" anchor="t">
            <a:spAutoFit/>
          </a:bodyPr>
          <a:lstStyle/>
          <a:p>
            <a:pPr algn="l"/>
            <a:r>
              <a:rPr sz="3800" b="1">
                <a:solidFill>
                  <a:srgbClr val="000000"/>
                </a:solidFill>
              </a:rPr>
              <a:t>&lt; 35 ms</a:t>
            </a:r>
          </a:p>
        </p:txBody>
      </p:sp>
      <p:sp>
        <p:nvSpPr>
          <p:cNvPr id="9" name="TextBox 8"/>
          <p:cNvSpPr txBox="1"/>
          <p:nvPr/>
        </p:nvSpPr>
        <p:spPr>
          <a:xfrm>
            <a:off x="6309360" y="2468880"/>
            <a:ext cx="5212080" cy="822960"/>
          </a:xfrm>
          <a:prstGeom prst="rect">
            <a:avLst/>
          </a:prstGeom>
          <a:noFill/>
          <a:ln>
            <a:noFill/>
          </a:ln>
        </p:spPr>
        <p:txBody>
          <a:bodyPr wrap="square" lIns="0" tIns="0" rIns="0" bIns="0" anchor="t">
            <a:spAutoFit/>
          </a:bodyPr>
          <a:lstStyle/>
          <a:p>
            <a:pPr algn="l"/>
            <a:r>
              <a:rPr sz="1500" b="0">
                <a:solidFill>
                  <a:srgbClr val="000000"/>
                </a:solidFill>
              </a:rPr>
              <a:t>Analytical $queryRaw queries over 11.3M+ historical rows (composite B-Tree indexing)</a:t>
            </a:r>
          </a:p>
        </p:txBody>
      </p:sp>
      <p:cxnSp>
        <p:nvCxnSpPr>
          <p:cNvPr id="10" name="Connector 9"/>
          <p:cNvCxnSpPr/>
          <p:nvPr/>
        </p:nvCxnSpPr>
        <p:spPr>
          <a:xfrm>
            <a:off x="640080" y="3931920"/>
            <a:ext cx="5212080" cy="0"/>
          </a:xfrm>
          <a:prstGeom prst="line">
            <a:avLst/>
          </a:prstGeom>
          <a:ln w="28575">
            <a:solidFill>
              <a:srgbClr val="A81E2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4114800"/>
            <a:ext cx="5212080" cy="731520"/>
          </a:xfrm>
          <a:prstGeom prst="rect">
            <a:avLst/>
          </a:prstGeom>
          <a:noFill/>
          <a:ln>
            <a:noFill/>
          </a:ln>
        </p:spPr>
        <p:txBody>
          <a:bodyPr wrap="square" lIns="0" tIns="0" rIns="0" bIns="0" anchor="t">
            <a:spAutoFit/>
          </a:bodyPr>
          <a:lstStyle/>
          <a:p>
            <a:pPr algn="l"/>
            <a:r>
              <a:rPr sz="3800" b="1">
                <a:solidFill>
                  <a:srgbClr val="000000"/>
                </a:solidFill>
              </a:rPr>
              <a:t>~12 GB saved</a:t>
            </a:r>
          </a:p>
        </p:txBody>
      </p:sp>
      <p:sp>
        <p:nvSpPr>
          <p:cNvPr id="12" name="TextBox 11"/>
          <p:cNvSpPr txBox="1"/>
          <p:nvPr/>
        </p:nvSpPr>
        <p:spPr>
          <a:xfrm>
            <a:off x="640080" y="4937760"/>
            <a:ext cx="5212080" cy="822960"/>
          </a:xfrm>
          <a:prstGeom prst="rect">
            <a:avLst/>
          </a:prstGeom>
          <a:noFill/>
          <a:ln>
            <a:noFill/>
          </a:ln>
        </p:spPr>
        <p:txBody>
          <a:bodyPr wrap="square" lIns="0" tIns="0" rIns="0" bIns="0" anchor="t">
            <a:spAutoFit/>
          </a:bodyPr>
          <a:lstStyle/>
          <a:p>
            <a:pPr algn="l"/>
            <a:r>
              <a:rPr sz="1500" b="0">
                <a:solidFill>
                  <a:srgbClr val="000000"/>
                </a:solidFill>
              </a:rPr>
              <a:t>Storage saved by streaming ESPN Cricinfo CDN headshots, with 100% cache hit rate and SVG fallbacks</a:t>
            </a:r>
          </a:p>
        </p:txBody>
      </p:sp>
      <p:cxnSp>
        <p:nvCxnSpPr>
          <p:cNvPr id="13" name="Connector 12"/>
          <p:cNvCxnSpPr/>
          <p:nvPr/>
        </p:nvCxnSpPr>
        <p:spPr>
          <a:xfrm>
            <a:off x="6309360" y="3931920"/>
            <a:ext cx="5212080" cy="0"/>
          </a:xfrm>
          <a:prstGeom prst="line">
            <a:avLst/>
          </a:prstGeom>
          <a:ln w="28575">
            <a:solidFill>
              <a:srgbClr val="A81E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09360" y="4114800"/>
            <a:ext cx="5212080" cy="731520"/>
          </a:xfrm>
          <a:prstGeom prst="rect">
            <a:avLst/>
          </a:prstGeom>
          <a:noFill/>
          <a:ln>
            <a:noFill/>
          </a:ln>
        </p:spPr>
        <p:txBody>
          <a:bodyPr wrap="square" lIns="0" tIns="0" rIns="0" bIns="0" anchor="t">
            <a:spAutoFit/>
          </a:bodyPr>
          <a:lstStyle/>
          <a:p>
            <a:pPr algn="l"/>
            <a:r>
              <a:rPr sz="3800" b="1">
                <a:solidFill>
                  <a:srgbClr val="000000"/>
                </a:solidFill>
              </a:rPr>
              <a:t>Zero downtime</a:t>
            </a:r>
          </a:p>
        </p:txBody>
      </p:sp>
      <p:sp>
        <p:nvSpPr>
          <p:cNvPr id="15" name="TextBox 14"/>
          <p:cNvSpPr txBox="1"/>
          <p:nvPr/>
        </p:nvSpPr>
        <p:spPr>
          <a:xfrm>
            <a:off x="6309360" y="4937760"/>
            <a:ext cx="5212080" cy="822960"/>
          </a:xfrm>
          <a:prstGeom prst="rect">
            <a:avLst/>
          </a:prstGeom>
          <a:noFill/>
          <a:ln>
            <a:noFill/>
          </a:ln>
        </p:spPr>
        <p:txBody>
          <a:bodyPr wrap="square" lIns="0" tIns="0" rIns="0" bIns="0" anchor="t">
            <a:spAutoFit/>
          </a:bodyPr>
          <a:lstStyle/>
          <a:p>
            <a:pPr algn="l"/>
            <a:r>
              <a:rPr sz="1500" b="0">
                <a:solidFill>
                  <a:srgbClr val="000000"/>
                </a:solidFill>
              </a:rPr>
              <a:t>AI inference failover: FreeLLMAPI → Google Gemini Flash 1.5 → Groq LLaMA 3.1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1371600" y="365760"/>
            <a:ext cx="9445752" cy="731520"/>
          </a:xfrm>
          <a:prstGeom prst="rect">
            <a:avLst/>
          </a:prstGeom>
          <a:noFill/>
          <a:ln>
            <a:noFill/>
          </a:ln>
        </p:spPr>
        <p:txBody>
          <a:bodyPr wrap="square" lIns="0" tIns="0" rIns="0" bIns="0" anchor="ctr">
            <a:spAutoFit/>
          </a:bodyPr>
          <a:lstStyle/>
          <a:p>
            <a:pPr algn="ctr"/>
            <a:r>
              <a:rPr sz="3200" b="1">
                <a:solidFill>
                  <a:srgbClr val="000000"/>
                </a:solidFill>
              </a:rPr>
              <a:t>Conclusion</a:t>
            </a:r>
          </a:p>
        </p:txBody>
      </p:sp>
      <p:sp>
        <p:nvSpPr>
          <p:cNvPr id="4" name="TextBox 3"/>
          <p:cNvSpPr txBox="1"/>
          <p:nvPr/>
        </p:nvSpPr>
        <p:spPr>
          <a:xfrm>
            <a:off x="640080" y="1325880"/>
            <a:ext cx="1005840" cy="914400"/>
          </a:xfrm>
          <a:prstGeom prst="rect">
            <a:avLst/>
          </a:prstGeom>
          <a:noFill/>
          <a:ln>
            <a:noFill/>
          </a:ln>
        </p:spPr>
        <p:txBody>
          <a:bodyPr wrap="square" lIns="0" tIns="0" rIns="0" bIns="0" anchor="t">
            <a:spAutoFit/>
          </a:bodyPr>
          <a:lstStyle/>
          <a:p>
            <a:pPr algn="l"/>
            <a:r>
              <a:rPr sz="5400" b="1">
                <a:solidFill>
                  <a:srgbClr val="000000"/>
                </a:solidFill>
              </a:rPr>
              <a:t>1</a:t>
            </a:r>
          </a:p>
        </p:txBody>
      </p:sp>
      <p:sp>
        <p:nvSpPr>
          <p:cNvPr id="5" name="TextBox 4"/>
          <p:cNvSpPr txBox="1"/>
          <p:nvPr/>
        </p:nvSpPr>
        <p:spPr>
          <a:xfrm>
            <a:off x="1737360" y="1371600"/>
            <a:ext cx="9784080" cy="365760"/>
          </a:xfrm>
          <a:prstGeom prst="rect">
            <a:avLst/>
          </a:prstGeom>
          <a:noFill/>
          <a:ln>
            <a:noFill/>
          </a:ln>
        </p:spPr>
        <p:txBody>
          <a:bodyPr wrap="square" lIns="0" tIns="0" rIns="0" bIns="0" anchor="t">
            <a:spAutoFit/>
          </a:bodyPr>
          <a:lstStyle/>
          <a:p>
            <a:pPr algn="l"/>
            <a:r>
              <a:rPr sz="1900" b="1">
                <a:solidFill>
                  <a:srgbClr val="000000"/>
                </a:solidFill>
              </a:rPr>
              <a:t>Practical Demonstration of the Data Engineering Lifecycle</a:t>
            </a:r>
          </a:p>
        </p:txBody>
      </p:sp>
      <p:sp>
        <p:nvSpPr>
          <p:cNvPr id="6" name="TextBox 5"/>
          <p:cNvSpPr txBox="1"/>
          <p:nvPr/>
        </p:nvSpPr>
        <p:spPr>
          <a:xfrm>
            <a:off x="1737360" y="1828800"/>
            <a:ext cx="9784080" cy="914400"/>
          </a:xfrm>
          <a:prstGeom prst="rect">
            <a:avLst/>
          </a:prstGeom>
          <a:noFill/>
          <a:ln>
            <a:noFill/>
          </a:ln>
        </p:spPr>
        <p:txBody>
          <a:bodyPr wrap="square" lIns="0" tIns="0" rIns="0" bIns="0" anchor="t">
            <a:spAutoFit/>
          </a:bodyPr>
          <a:lstStyle/>
          <a:p>
            <a:pPr algn="l"/>
            <a:r>
              <a:rPr sz="1500" b="0">
                <a:solidFill>
                  <a:srgbClr val="000000"/>
                </a:solidFill>
              </a:rPr>
              <a:t>High-performance analytics does not require costly cloud data warehouses. Tuple batching, relational normalisation, composite indexing and entity resolution deliver enterprise-grade speed on open-source infrastructure.</a:t>
            </a:r>
          </a:p>
        </p:txBody>
      </p:sp>
      <p:cxnSp>
        <p:nvCxnSpPr>
          <p:cNvPr id="7" name="Connector 6"/>
          <p:cNvCxnSpPr/>
          <p:nvPr/>
        </p:nvCxnSpPr>
        <p:spPr>
          <a:xfrm>
            <a:off x="640080" y="2834640"/>
            <a:ext cx="1088136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3017520"/>
            <a:ext cx="1005840" cy="914400"/>
          </a:xfrm>
          <a:prstGeom prst="rect">
            <a:avLst/>
          </a:prstGeom>
          <a:noFill/>
          <a:ln>
            <a:noFill/>
          </a:ln>
        </p:spPr>
        <p:txBody>
          <a:bodyPr wrap="square" lIns="0" tIns="0" rIns="0" bIns="0" anchor="t">
            <a:spAutoFit/>
          </a:bodyPr>
          <a:lstStyle/>
          <a:p>
            <a:pPr algn="l"/>
            <a:r>
              <a:rPr sz="5400" b="1">
                <a:solidFill>
                  <a:srgbClr val="000000"/>
                </a:solidFill>
              </a:rPr>
              <a:t>2</a:t>
            </a:r>
          </a:p>
        </p:txBody>
      </p:sp>
      <p:sp>
        <p:nvSpPr>
          <p:cNvPr id="9" name="TextBox 8"/>
          <p:cNvSpPr txBox="1"/>
          <p:nvPr/>
        </p:nvSpPr>
        <p:spPr>
          <a:xfrm>
            <a:off x="1737360" y="3063240"/>
            <a:ext cx="9784080" cy="365760"/>
          </a:xfrm>
          <a:prstGeom prst="rect">
            <a:avLst/>
          </a:prstGeom>
          <a:noFill/>
          <a:ln>
            <a:noFill/>
          </a:ln>
        </p:spPr>
        <p:txBody>
          <a:bodyPr wrap="square" lIns="0" tIns="0" rIns="0" bIns="0" anchor="t">
            <a:spAutoFit/>
          </a:bodyPr>
          <a:lstStyle/>
          <a:p>
            <a:pPr algn="l"/>
            <a:r>
              <a:rPr sz="1900" b="1">
                <a:solidFill>
                  <a:srgbClr val="000000"/>
                </a:solidFill>
              </a:rPr>
              <a:t>Hybrid Architecture Advantage</a:t>
            </a:r>
          </a:p>
        </p:txBody>
      </p:sp>
      <p:sp>
        <p:nvSpPr>
          <p:cNvPr id="10" name="TextBox 9"/>
          <p:cNvSpPr txBox="1"/>
          <p:nvPr/>
        </p:nvSpPr>
        <p:spPr>
          <a:xfrm>
            <a:off x="1737360" y="3520440"/>
            <a:ext cx="9784080" cy="914400"/>
          </a:xfrm>
          <a:prstGeom prst="rect">
            <a:avLst/>
          </a:prstGeom>
          <a:noFill/>
          <a:ln>
            <a:noFill/>
          </a:ln>
        </p:spPr>
        <p:txBody>
          <a:bodyPr wrap="square" lIns="0" tIns="0" rIns="0" bIns="0" anchor="t">
            <a:spAutoFit/>
          </a:bodyPr>
          <a:lstStyle/>
          <a:p>
            <a:pPr algn="l"/>
            <a:r>
              <a:rPr sz="1500" b="0">
                <a:solidFill>
                  <a:srgbClr val="000000"/>
                </a:solidFill>
              </a:rPr>
              <a:t>Unifying historical batch data (Cricsheet) with real-time operational feeds (CricAPI) provides a scalable blueprint for sports analytics platforms.</a:t>
            </a:r>
          </a:p>
        </p:txBody>
      </p:sp>
      <p:cxnSp>
        <p:nvCxnSpPr>
          <p:cNvPr id="11" name="Connector 10"/>
          <p:cNvCxnSpPr/>
          <p:nvPr/>
        </p:nvCxnSpPr>
        <p:spPr>
          <a:xfrm>
            <a:off x="640080" y="4526280"/>
            <a:ext cx="1088136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4709160"/>
            <a:ext cx="1005840" cy="914400"/>
          </a:xfrm>
          <a:prstGeom prst="rect">
            <a:avLst/>
          </a:prstGeom>
          <a:noFill/>
          <a:ln>
            <a:noFill/>
          </a:ln>
        </p:spPr>
        <p:txBody>
          <a:bodyPr wrap="square" lIns="0" tIns="0" rIns="0" bIns="0" anchor="t">
            <a:spAutoFit/>
          </a:bodyPr>
          <a:lstStyle/>
          <a:p>
            <a:pPr algn="l"/>
            <a:r>
              <a:rPr sz="5400" b="1">
                <a:solidFill>
                  <a:srgbClr val="000000"/>
                </a:solidFill>
              </a:rPr>
              <a:t>3</a:t>
            </a:r>
          </a:p>
        </p:txBody>
      </p:sp>
      <p:sp>
        <p:nvSpPr>
          <p:cNvPr id="13" name="TextBox 12"/>
          <p:cNvSpPr txBox="1"/>
          <p:nvPr/>
        </p:nvSpPr>
        <p:spPr>
          <a:xfrm>
            <a:off x="1737360" y="4754880"/>
            <a:ext cx="9784080" cy="365760"/>
          </a:xfrm>
          <a:prstGeom prst="rect">
            <a:avLst/>
          </a:prstGeom>
          <a:noFill/>
          <a:ln>
            <a:noFill/>
          </a:ln>
        </p:spPr>
        <p:txBody>
          <a:bodyPr wrap="square" lIns="0" tIns="0" rIns="0" bIns="0" anchor="t">
            <a:spAutoFit/>
          </a:bodyPr>
          <a:lstStyle/>
          <a:p>
            <a:pPr algn="l"/>
            <a:r>
              <a:rPr sz="1900" b="1">
                <a:solidFill>
                  <a:srgbClr val="000000"/>
                </a:solidFill>
              </a:rPr>
              <a:t>Factual Grounding of Generative AI</a:t>
            </a:r>
          </a:p>
        </p:txBody>
      </p:sp>
      <p:sp>
        <p:nvSpPr>
          <p:cNvPr id="14" name="TextBox 13"/>
          <p:cNvSpPr txBox="1"/>
          <p:nvPr/>
        </p:nvSpPr>
        <p:spPr>
          <a:xfrm>
            <a:off x="1737360" y="5212080"/>
            <a:ext cx="9784080" cy="914400"/>
          </a:xfrm>
          <a:prstGeom prst="rect">
            <a:avLst/>
          </a:prstGeom>
          <a:noFill/>
          <a:ln>
            <a:noFill/>
          </a:ln>
        </p:spPr>
        <p:txBody>
          <a:bodyPr wrap="square" lIns="0" tIns="0" rIns="0" bIns="0" anchor="t">
            <a:spAutoFit/>
          </a:bodyPr>
          <a:lstStyle/>
          <a:p>
            <a:pPr algn="l"/>
            <a:r>
              <a:rPr sz="1500" b="0">
                <a:solidFill>
                  <a:srgbClr val="000000"/>
                </a:solidFill>
              </a:rPr>
              <a:t>Embedding HydraDB graph traversals and Hindsight memory in the serving layer grounds large language models in empirical ball-by-ball database facts, addressing AI hallucination.</a:t>
            </a:r>
          </a:p>
        </p:txBody>
      </p:sp>
      <p:cxnSp>
        <p:nvCxnSpPr>
          <p:cNvPr id="15" name="Connector 14"/>
          <p:cNvCxnSpPr/>
          <p:nvPr/>
        </p:nvCxnSpPr>
        <p:spPr>
          <a:xfrm>
            <a:off x="640080" y="6217920"/>
            <a:ext cx="10881360" cy="0"/>
          </a:xfrm>
          <a:prstGeom prst="line">
            <a:avLst/>
          </a:prstGeom>
          <a:ln w="9525">
            <a:solidFill>
              <a:srgbClr val="D3CFC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p:spPr>
      </p:pic>
      <p:sp>
        <p:nvSpPr>
          <p:cNvPr id="3" name="TextBox 2"/>
          <p:cNvSpPr txBox="1"/>
          <p:nvPr/>
        </p:nvSpPr>
        <p:spPr>
          <a:xfrm>
            <a:off x="1371600" y="274320"/>
            <a:ext cx="9445752" cy="640080"/>
          </a:xfrm>
          <a:prstGeom prst="rect">
            <a:avLst/>
          </a:prstGeom>
          <a:noFill/>
        </p:spPr>
        <p:txBody>
          <a:bodyPr wrap="square" lIns="0" tIns="0" rIns="0" bIns="0" anchor="ctr">
            <a:spAutoFit/>
          </a:bodyPr>
          <a:lstStyle/>
          <a:p>
            <a:pPr algn="ctr"/>
            <a:r>
              <a:rPr sz="2800" b="1">
                <a:solidFill>
                  <a:srgbClr val="000000"/>
                </a:solidFill>
              </a:rPr>
              <a:t>References: Data Feeds &amp; Repositories</a:t>
            </a:r>
          </a:p>
        </p:txBody>
      </p:sp>
      <p:sp>
        <p:nvSpPr>
          <p:cNvPr id="4" name="TextBox 3"/>
          <p:cNvSpPr txBox="1"/>
          <p:nvPr/>
        </p:nvSpPr>
        <p:spPr>
          <a:xfrm>
            <a:off x="457200" y="1097280"/>
            <a:ext cx="5486400" cy="365760"/>
          </a:xfrm>
          <a:prstGeom prst="rect">
            <a:avLst/>
          </a:prstGeom>
          <a:noFill/>
        </p:spPr>
        <p:txBody>
          <a:bodyPr wrap="square" lIns="0" tIns="0" rIns="0" bIns="0" anchor="b">
            <a:spAutoFit/>
          </a:bodyPr>
          <a:lstStyle/>
          <a:p>
            <a:pPr algn="l"/>
            <a:r>
              <a:rPr sz="1800" b="1">
                <a:solidFill>
                  <a:srgbClr val="000000"/>
                </a:solidFill>
              </a:rPr>
              <a:t>Data Feeds &amp; External APIs</a:t>
            </a:r>
          </a:p>
        </p:txBody>
      </p:sp>
      <p:cxnSp>
        <p:nvCxnSpPr>
          <p:cNvPr id="5" name="Connector 4"/>
          <p:cNvCxnSpPr/>
          <p:nvPr/>
        </p:nvCxnSpPr>
        <p:spPr>
          <a:xfrm>
            <a:off x="457200" y="1536192"/>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691640"/>
            <a:ext cx="5486400" cy="640080"/>
          </a:xfrm>
          <a:prstGeom prst="rect">
            <a:avLst/>
          </a:prstGeom>
          <a:noFill/>
        </p:spPr>
        <p:txBody>
          <a:bodyPr wrap="square" lIns="0" tIns="0" rIns="0" bIns="0" anchor="t">
            <a:spAutoFit/>
          </a:bodyPr>
          <a:lstStyle/>
          <a:p>
            <a:pPr algn="l"/>
            <a:r>
              <a:rPr sz="1400" b="1">
                <a:solidFill>
                  <a:srgbClr val="000000"/>
                </a:solidFill>
              </a:rPr>
              <a:t>1. Cricsheet</a:t>
            </a:r>
          </a:p>
          <a:p>
            <a:pPr>
              <a:spcBef>
                <a:spcPts val="200"/>
              </a:spcBef>
            </a:pPr>
            <a:r>
              <a:rPr sz="1200" b="0">
                <a:solidFill>
                  <a:srgbClr val="000000"/>
                </a:solidFill>
              </a:rPr>
              <a:t>Open ball-by-ball JSON archive (/ipl, /odis, /t20, /tests): 800K+ deliveries, 5,000+ players, 4,500+ matches.</a:t>
            </a:r>
          </a:p>
        </p:txBody>
      </p:sp>
      <p:sp>
        <p:nvSpPr>
          <p:cNvPr id="7" name="TextBox 6">
            <a:hlinkClick r:id="rId4"/>
          </p:cNvPr>
          <p:cNvSpPr txBox="1"/>
          <p:nvPr/>
        </p:nvSpPr>
        <p:spPr>
          <a:xfrm>
            <a:off x="457200" y="2496312"/>
            <a:ext cx="5486400" cy="169277"/>
          </a:xfrm>
          <a:prstGeom prst="rect">
            <a:avLst/>
          </a:prstGeom>
          <a:noFill/>
        </p:spPr>
        <p:txBody>
          <a:bodyPr wrap="square" lIns="0" tIns="0" rIns="0" bIns="0" anchor="t">
            <a:spAutoFit/>
          </a:bodyPr>
          <a:lstStyle/>
          <a:p>
            <a:pPr algn="l"/>
            <a:r>
              <a:rPr sz="1100" b="0" dirty="0">
                <a:solidFill>
                  <a:srgbClr val="000000"/>
                </a:solidFill>
                <a:hlinkClick r:id="rId4"/>
              </a:rPr>
              <a:t>https://cricsheet.org/</a:t>
            </a:r>
            <a:r>
              <a:rPr lang="en-IN" sz="1100" b="0" dirty="0">
                <a:solidFill>
                  <a:srgbClr val="000000"/>
                </a:solidFill>
              </a:rPr>
              <a:t> </a:t>
            </a:r>
            <a:endParaRPr sz="1100" b="0" dirty="0">
              <a:solidFill>
                <a:srgbClr val="000000"/>
              </a:solidFill>
            </a:endParaRPr>
          </a:p>
        </p:txBody>
      </p:sp>
      <p:sp>
        <p:nvSpPr>
          <p:cNvPr id="8" name="TextBox 7"/>
          <p:cNvSpPr txBox="1"/>
          <p:nvPr/>
        </p:nvSpPr>
        <p:spPr>
          <a:xfrm>
            <a:off x="457200" y="2880360"/>
            <a:ext cx="5486400" cy="640080"/>
          </a:xfrm>
          <a:prstGeom prst="rect">
            <a:avLst/>
          </a:prstGeom>
          <a:noFill/>
        </p:spPr>
        <p:txBody>
          <a:bodyPr wrap="square" lIns="0" tIns="0" rIns="0" bIns="0" anchor="t">
            <a:spAutoFit/>
          </a:bodyPr>
          <a:lstStyle/>
          <a:p>
            <a:pPr algn="l"/>
            <a:r>
              <a:rPr sz="1400" b="1">
                <a:solidFill>
                  <a:srgbClr val="000000"/>
                </a:solidFill>
              </a:rPr>
              <a:t>2. CricketData.org / CricAPI</a:t>
            </a:r>
          </a:p>
          <a:p>
            <a:pPr>
              <a:spcBef>
                <a:spcPts val="200"/>
              </a:spcBef>
            </a:pPr>
            <a:r>
              <a:rPr sz="1200" b="0">
                <a:solidFill>
                  <a:srgbClr val="000000"/>
                </a:solidFill>
              </a:rPr>
              <a:t>Real-time REST endpoints for live match scores, running scorecards and international fixtures.</a:t>
            </a:r>
          </a:p>
        </p:txBody>
      </p:sp>
      <p:sp>
        <p:nvSpPr>
          <p:cNvPr id="9" name="TextBox 8">
            <a:hlinkClick r:id="rId5"/>
          </p:cNvPr>
          <p:cNvSpPr txBox="1"/>
          <p:nvPr/>
        </p:nvSpPr>
        <p:spPr>
          <a:xfrm>
            <a:off x="457200" y="3685032"/>
            <a:ext cx="5486400" cy="169277"/>
          </a:xfrm>
          <a:prstGeom prst="rect">
            <a:avLst/>
          </a:prstGeom>
          <a:noFill/>
        </p:spPr>
        <p:txBody>
          <a:bodyPr wrap="square" lIns="0" tIns="0" rIns="0" bIns="0" anchor="t">
            <a:spAutoFit/>
          </a:bodyPr>
          <a:lstStyle/>
          <a:p>
            <a:pPr algn="l"/>
            <a:r>
              <a:rPr sz="1100" b="0" dirty="0">
                <a:solidFill>
                  <a:srgbClr val="000000"/>
                </a:solidFill>
                <a:hlinkClick r:id="rId5"/>
              </a:rPr>
              <a:t>https://cricapi.com/</a:t>
            </a:r>
            <a:r>
              <a:rPr lang="en-IN" sz="1100" b="0" dirty="0">
                <a:solidFill>
                  <a:srgbClr val="000000"/>
                </a:solidFill>
              </a:rPr>
              <a:t> </a:t>
            </a:r>
            <a:endParaRPr sz="1100" b="0" dirty="0">
              <a:solidFill>
                <a:srgbClr val="000000"/>
              </a:solidFill>
            </a:endParaRPr>
          </a:p>
        </p:txBody>
      </p:sp>
      <p:sp>
        <p:nvSpPr>
          <p:cNvPr id="10" name="TextBox 9"/>
          <p:cNvSpPr txBox="1"/>
          <p:nvPr/>
        </p:nvSpPr>
        <p:spPr>
          <a:xfrm>
            <a:off x="457200" y="4069080"/>
            <a:ext cx="5486400" cy="640080"/>
          </a:xfrm>
          <a:prstGeom prst="rect">
            <a:avLst/>
          </a:prstGeom>
          <a:noFill/>
        </p:spPr>
        <p:txBody>
          <a:bodyPr wrap="square" lIns="0" tIns="0" rIns="0" bIns="0" anchor="t">
            <a:spAutoFit/>
          </a:bodyPr>
          <a:lstStyle/>
          <a:p>
            <a:pPr algn="l"/>
            <a:r>
              <a:rPr sz="1400" b="1">
                <a:solidFill>
                  <a:srgbClr val="000000"/>
                </a:solidFill>
              </a:rPr>
              <a:t>3. ESPN Cricinfo CDN</a:t>
            </a:r>
          </a:p>
          <a:p>
            <a:pPr>
              <a:spcBef>
                <a:spcPts val="200"/>
              </a:spcBef>
            </a:pPr>
            <a:r>
              <a:rPr sz="1200" b="0">
                <a:solidFill>
                  <a:srgbClr val="000000"/>
                </a:solidFill>
              </a:rPr>
              <a:t>Player headshots resolved dynamically by ESPN ID (/i/headshots/cricket/players/full/{espnId}.png).</a:t>
            </a:r>
          </a:p>
        </p:txBody>
      </p:sp>
      <p:sp>
        <p:nvSpPr>
          <p:cNvPr id="11" name="TextBox 10">
            <a:hlinkClick r:id="rId6"/>
          </p:cNvPr>
          <p:cNvSpPr txBox="1"/>
          <p:nvPr/>
        </p:nvSpPr>
        <p:spPr>
          <a:xfrm>
            <a:off x="457200" y="4873752"/>
            <a:ext cx="5486400" cy="169277"/>
          </a:xfrm>
          <a:prstGeom prst="rect">
            <a:avLst/>
          </a:prstGeom>
          <a:noFill/>
        </p:spPr>
        <p:txBody>
          <a:bodyPr wrap="square" lIns="0" tIns="0" rIns="0" bIns="0" anchor="t">
            <a:spAutoFit/>
          </a:bodyPr>
          <a:lstStyle/>
          <a:p>
            <a:pPr algn="l"/>
            <a:r>
              <a:rPr sz="1100" b="0" dirty="0">
                <a:solidFill>
                  <a:srgbClr val="000000"/>
                </a:solidFill>
                <a:hlinkClick r:id="rId6"/>
              </a:rPr>
              <a:t>https://a.espncdn.com/</a:t>
            </a:r>
            <a:r>
              <a:rPr lang="en-IN" sz="1100" b="0" dirty="0">
                <a:solidFill>
                  <a:srgbClr val="000000"/>
                </a:solidFill>
              </a:rPr>
              <a:t> </a:t>
            </a:r>
            <a:endParaRPr sz="1100" b="0" dirty="0">
              <a:solidFill>
                <a:srgbClr val="000000"/>
              </a:solidFill>
            </a:endParaRPr>
          </a:p>
        </p:txBody>
      </p:sp>
      <p:sp>
        <p:nvSpPr>
          <p:cNvPr id="12" name="TextBox 11"/>
          <p:cNvSpPr txBox="1"/>
          <p:nvPr/>
        </p:nvSpPr>
        <p:spPr>
          <a:xfrm>
            <a:off x="457200" y="5257800"/>
            <a:ext cx="5486400" cy="640080"/>
          </a:xfrm>
          <a:prstGeom prst="rect">
            <a:avLst/>
          </a:prstGeom>
          <a:noFill/>
        </p:spPr>
        <p:txBody>
          <a:bodyPr wrap="square" lIns="0" tIns="0" rIns="0" bIns="0" anchor="t">
            <a:spAutoFit/>
          </a:bodyPr>
          <a:lstStyle/>
          <a:p>
            <a:pPr algn="l"/>
            <a:r>
              <a:rPr sz="1400" b="1">
                <a:solidFill>
                  <a:srgbClr val="000000"/>
                </a:solidFill>
              </a:rPr>
              <a:t>4. SportMonks Cricket Catalog</a:t>
            </a:r>
          </a:p>
          <a:p>
            <a:pPr>
              <a:spcBef>
                <a:spcPts val="200"/>
              </a:spcBef>
            </a:pPr>
            <a:r>
              <a:rPr sz="1200" b="0">
                <a:solidFill>
                  <a:srgbClr val="000000"/>
                </a:solidFill>
              </a:rPr>
              <a:t>Metadata CSV (players_data_with_all_info.csv): 17,385+ players with birth dates, batting styles and bowling types.</a:t>
            </a:r>
          </a:p>
        </p:txBody>
      </p:sp>
      <p:sp>
        <p:nvSpPr>
          <p:cNvPr id="13" name="TextBox 12">
            <a:hlinkClick r:id="rId7"/>
          </p:cNvPr>
          <p:cNvSpPr txBox="1"/>
          <p:nvPr/>
        </p:nvSpPr>
        <p:spPr>
          <a:xfrm>
            <a:off x="457200" y="6062472"/>
            <a:ext cx="5486400" cy="169277"/>
          </a:xfrm>
          <a:prstGeom prst="rect">
            <a:avLst/>
          </a:prstGeom>
          <a:noFill/>
        </p:spPr>
        <p:txBody>
          <a:bodyPr wrap="square" lIns="0" tIns="0" rIns="0" bIns="0" anchor="t">
            <a:spAutoFit/>
          </a:bodyPr>
          <a:lstStyle/>
          <a:p>
            <a:pPr algn="l"/>
            <a:r>
              <a:rPr sz="1100" b="0" dirty="0">
                <a:solidFill>
                  <a:srgbClr val="000000"/>
                </a:solidFill>
                <a:hlinkClick r:id="rId7"/>
              </a:rPr>
              <a:t>https://www.sportmonks.com/cricket-api/</a:t>
            </a:r>
            <a:r>
              <a:rPr lang="en-IN" sz="1100" b="0" dirty="0">
                <a:solidFill>
                  <a:srgbClr val="000000"/>
                </a:solidFill>
              </a:rPr>
              <a:t> </a:t>
            </a:r>
            <a:endParaRPr sz="1100" b="0" dirty="0">
              <a:solidFill>
                <a:srgbClr val="000000"/>
              </a:solidFill>
            </a:endParaRPr>
          </a:p>
        </p:txBody>
      </p:sp>
      <p:sp>
        <p:nvSpPr>
          <p:cNvPr id="14" name="TextBox 13"/>
          <p:cNvSpPr txBox="1"/>
          <p:nvPr/>
        </p:nvSpPr>
        <p:spPr>
          <a:xfrm>
            <a:off x="6309360" y="1097280"/>
            <a:ext cx="5486400" cy="365760"/>
          </a:xfrm>
          <a:prstGeom prst="rect">
            <a:avLst/>
          </a:prstGeom>
          <a:noFill/>
        </p:spPr>
        <p:txBody>
          <a:bodyPr wrap="square" lIns="0" tIns="0" rIns="0" bIns="0" anchor="b">
            <a:spAutoFit/>
          </a:bodyPr>
          <a:lstStyle/>
          <a:p>
            <a:pPr algn="l"/>
            <a:r>
              <a:rPr sz="1800" b="1">
                <a:solidFill>
                  <a:srgbClr val="000000"/>
                </a:solidFill>
              </a:rPr>
              <a:t>Architectural Repositories</a:t>
            </a:r>
          </a:p>
        </p:txBody>
      </p:sp>
      <p:cxnSp>
        <p:nvCxnSpPr>
          <p:cNvPr id="15" name="Connector 14"/>
          <p:cNvCxnSpPr/>
          <p:nvPr/>
        </p:nvCxnSpPr>
        <p:spPr>
          <a:xfrm>
            <a:off x="6309360" y="1536192"/>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09360" y="1691640"/>
            <a:ext cx="5486400" cy="640080"/>
          </a:xfrm>
          <a:prstGeom prst="rect">
            <a:avLst/>
          </a:prstGeom>
          <a:noFill/>
        </p:spPr>
        <p:txBody>
          <a:bodyPr wrap="square" lIns="0" tIns="0" rIns="0" bIns="0" anchor="t">
            <a:spAutoFit/>
          </a:bodyPr>
          <a:lstStyle/>
          <a:p>
            <a:pPr algn="l"/>
            <a:r>
              <a:rPr sz="1400" b="1">
                <a:solidFill>
                  <a:srgbClr val="000000"/>
                </a:solidFill>
              </a:rPr>
              <a:t>1. RocketRide</a:t>
            </a:r>
          </a:p>
          <a:p>
            <a:pPr>
              <a:spcBef>
                <a:spcPts val="200"/>
              </a:spcBef>
            </a:pPr>
            <a:r>
              <a:rPr sz="1200" b="0">
                <a:solidFill>
                  <a:srgbClr val="000000"/>
                </a:solidFill>
              </a:rPr>
              <a:t>Reference for idempotent request handling and resilient API processing.</a:t>
            </a:r>
          </a:p>
        </p:txBody>
      </p:sp>
      <p:sp>
        <p:nvSpPr>
          <p:cNvPr id="17" name="TextBox 16">
            <a:hlinkClick r:id="rId8"/>
          </p:cNvPr>
          <p:cNvSpPr txBox="1"/>
          <p:nvPr/>
        </p:nvSpPr>
        <p:spPr>
          <a:xfrm>
            <a:off x="6309360" y="2496312"/>
            <a:ext cx="5486400" cy="169277"/>
          </a:xfrm>
          <a:prstGeom prst="rect">
            <a:avLst/>
          </a:prstGeom>
          <a:noFill/>
        </p:spPr>
        <p:txBody>
          <a:bodyPr wrap="square" lIns="0" tIns="0" rIns="0" bIns="0" anchor="t">
            <a:spAutoFit/>
          </a:bodyPr>
          <a:lstStyle/>
          <a:p>
            <a:pPr algn="l"/>
            <a:r>
              <a:rPr sz="1100" b="0" dirty="0">
                <a:solidFill>
                  <a:srgbClr val="000000"/>
                </a:solidFill>
                <a:hlinkClick r:id="rId8"/>
              </a:rPr>
              <a:t>https://github.com/rocketride-org/rocketride-server</a:t>
            </a:r>
            <a:r>
              <a:rPr lang="en-IN" sz="1100" b="0" dirty="0">
                <a:solidFill>
                  <a:srgbClr val="000000"/>
                </a:solidFill>
              </a:rPr>
              <a:t> </a:t>
            </a:r>
            <a:endParaRPr sz="1100" b="0" dirty="0">
              <a:solidFill>
                <a:srgbClr val="000000"/>
              </a:solidFill>
            </a:endParaRPr>
          </a:p>
        </p:txBody>
      </p:sp>
      <p:sp>
        <p:nvSpPr>
          <p:cNvPr id="18" name="TextBox 17"/>
          <p:cNvSpPr txBox="1"/>
          <p:nvPr/>
        </p:nvSpPr>
        <p:spPr>
          <a:xfrm>
            <a:off x="6309360" y="2880360"/>
            <a:ext cx="5486400" cy="640080"/>
          </a:xfrm>
          <a:prstGeom prst="rect">
            <a:avLst/>
          </a:prstGeom>
          <a:noFill/>
        </p:spPr>
        <p:txBody>
          <a:bodyPr wrap="square" lIns="0" tIns="0" rIns="0" bIns="0" anchor="t">
            <a:spAutoFit/>
          </a:bodyPr>
          <a:lstStyle/>
          <a:p>
            <a:pPr algn="l"/>
            <a:r>
              <a:rPr sz="1400" b="1">
                <a:solidFill>
                  <a:srgbClr val="000000"/>
                </a:solidFill>
              </a:rPr>
              <a:t>2. HydraDB</a:t>
            </a:r>
          </a:p>
          <a:p>
            <a:pPr>
              <a:spcBef>
                <a:spcPts val="200"/>
              </a:spcBef>
            </a:pPr>
            <a:r>
              <a:rPr sz="1200" b="0">
                <a:solidFill>
                  <a:srgbClr val="000000"/>
                </a:solidFill>
              </a:rPr>
              <a:t>Reference for column-oriented analytics and high-throughput query optimisation on delivery data.</a:t>
            </a:r>
          </a:p>
        </p:txBody>
      </p:sp>
      <p:sp>
        <p:nvSpPr>
          <p:cNvPr id="19" name="TextBox 18">
            <a:hlinkClick r:id="rId9"/>
          </p:cNvPr>
          <p:cNvSpPr txBox="1"/>
          <p:nvPr/>
        </p:nvSpPr>
        <p:spPr>
          <a:xfrm>
            <a:off x="6309360" y="3685032"/>
            <a:ext cx="5486400" cy="169277"/>
          </a:xfrm>
          <a:prstGeom prst="rect">
            <a:avLst/>
          </a:prstGeom>
          <a:noFill/>
        </p:spPr>
        <p:txBody>
          <a:bodyPr wrap="square" lIns="0" tIns="0" rIns="0" bIns="0" anchor="t">
            <a:spAutoFit/>
          </a:bodyPr>
          <a:lstStyle/>
          <a:p>
            <a:pPr algn="l"/>
            <a:r>
              <a:rPr sz="1100" b="0" dirty="0">
                <a:solidFill>
                  <a:srgbClr val="000000"/>
                </a:solidFill>
                <a:hlinkClick r:id="rId9"/>
              </a:rPr>
              <a:t>https://github.com/hydra-db/hydradb</a:t>
            </a:r>
            <a:r>
              <a:rPr lang="en-IN" sz="1100" b="0" dirty="0">
                <a:solidFill>
                  <a:srgbClr val="000000"/>
                </a:solidFill>
              </a:rPr>
              <a:t> </a:t>
            </a:r>
            <a:endParaRPr sz="1100" b="0" dirty="0">
              <a:solidFill>
                <a:srgbClr val="000000"/>
              </a:solidFill>
            </a:endParaRPr>
          </a:p>
        </p:txBody>
      </p:sp>
      <p:sp>
        <p:nvSpPr>
          <p:cNvPr id="20" name="TextBox 19"/>
          <p:cNvSpPr txBox="1"/>
          <p:nvPr/>
        </p:nvSpPr>
        <p:spPr>
          <a:xfrm>
            <a:off x="6309360" y="4069080"/>
            <a:ext cx="5486400" cy="640080"/>
          </a:xfrm>
          <a:prstGeom prst="rect">
            <a:avLst/>
          </a:prstGeom>
          <a:noFill/>
        </p:spPr>
        <p:txBody>
          <a:bodyPr wrap="square" lIns="0" tIns="0" rIns="0" bIns="0" anchor="t">
            <a:spAutoFit/>
          </a:bodyPr>
          <a:lstStyle/>
          <a:p>
            <a:pPr algn="l"/>
            <a:r>
              <a:rPr sz="1400" b="1">
                <a:solidFill>
                  <a:srgbClr val="000000"/>
                </a:solidFill>
              </a:rPr>
              <a:t>3. Hindsight</a:t>
            </a:r>
          </a:p>
          <a:p>
            <a:pPr>
              <a:spcBef>
                <a:spcPts val="200"/>
              </a:spcBef>
            </a:pPr>
            <a:r>
              <a:rPr sz="1200" b="0">
                <a:solidFill>
                  <a:srgbClr val="000000"/>
                </a:solidFill>
              </a:rPr>
              <a:t>Reference for retrospective match simulations, state replay and historic outcome verification.</a:t>
            </a:r>
          </a:p>
        </p:txBody>
      </p:sp>
      <p:sp>
        <p:nvSpPr>
          <p:cNvPr id="21" name="TextBox 20">
            <a:hlinkClick r:id="rId10"/>
          </p:cNvPr>
          <p:cNvSpPr txBox="1"/>
          <p:nvPr/>
        </p:nvSpPr>
        <p:spPr>
          <a:xfrm>
            <a:off x="6309360" y="4873752"/>
            <a:ext cx="5486400" cy="169277"/>
          </a:xfrm>
          <a:prstGeom prst="rect">
            <a:avLst/>
          </a:prstGeom>
          <a:noFill/>
        </p:spPr>
        <p:txBody>
          <a:bodyPr wrap="square" lIns="0" tIns="0" rIns="0" bIns="0" anchor="t">
            <a:spAutoFit/>
          </a:bodyPr>
          <a:lstStyle/>
          <a:p>
            <a:pPr algn="l"/>
            <a:r>
              <a:rPr sz="1100" b="0" dirty="0">
                <a:solidFill>
                  <a:srgbClr val="000000"/>
                </a:solidFill>
                <a:hlinkClick r:id="rId10"/>
              </a:rPr>
              <a:t>https://github.com/vectorize-io/hindsight</a:t>
            </a:r>
            <a:r>
              <a:rPr lang="en-IN" sz="1100" b="0" dirty="0">
                <a:solidFill>
                  <a:srgbClr val="000000"/>
                </a:solidFill>
              </a:rPr>
              <a:t>  </a:t>
            </a:r>
            <a:endParaRPr sz="1100" b="0" dirty="0">
              <a:solidFill>
                <a:srgbClr val="000000"/>
              </a:solidFill>
            </a:endParaRPr>
          </a:p>
        </p:txBody>
      </p:sp>
      <p:sp>
        <p:nvSpPr>
          <p:cNvPr id="22" name="TextBox 21"/>
          <p:cNvSpPr txBox="1"/>
          <p:nvPr/>
        </p:nvSpPr>
        <p:spPr>
          <a:xfrm>
            <a:off x="6309360" y="5257800"/>
            <a:ext cx="5486400" cy="640080"/>
          </a:xfrm>
          <a:prstGeom prst="rect">
            <a:avLst/>
          </a:prstGeom>
          <a:noFill/>
        </p:spPr>
        <p:txBody>
          <a:bodyPr wrap="square" lIns="0" tIns="0" rIns="0" bIns="0" anchor="t">
            <a:spAutoFit/>
          </a:bodyPr>
          <a:lstStyle/>
          <a:p>
            <a:pPr algn="l"/>
            <a:r>
              <a:rPr sz="1400" b="1">
                <a:solidFill>
                  <a:srgbClr val="000000"/>
                </a:solidFill>
              </a:rPr>
              <a:t>4. Self-Driving Agents</a:t>
            </a:r>
          </a:p>
          <a:p>
            <a:pPr>
              <a:spcBef>
                <a:spcPts val="200"/>
              </a:spcBef>
            </a:pPr>
            <a:r>
              <a:rPr sz="1200" b="0">
                <a:solidFill>
                  <a:srgbClr val="000000"/>
                </a:solidFill>
              </a:rPr>
              <a:t>Reference for agentic AI decision loops used in the tactical bowling/batting match advisors.</a:t>
            </a:r>
          </a:p>
        </p:txBody>
      </p:sp>
      <p:sp>
        <p:nvSpPr>
          <p:cNvPr id="23" name="TextBox 22">
            <a:hlinkClick r:id="rId11"/>
          </p:cNvPr>
          <p:cNvSpPr txBox="1"/>
          <p:nvPr/>
        </p:nvSpPr>
        <p:spPr>
          <a:xfrm>
            <a:off x="6309360" y="6062472"/>
            <a:ext cx="5486400" cy="169277"/>
          </a:xfrm>
          <a:prstGeom prst="rect">
            <a:avLst/>
          </a:prstGeom>
          <a:noFill/>
        </p:spPr>
        <p:txBody>
          <a:bodyPr wrap="square" lIns="0" tIns="0" rIns="0" bIns="0" anchor="t">
            <a:spAutoFit/>
          </a:bodyPr>
          <a:lstStyle/>
          <a:p>
            <a:pPr algn="l"/>
            <a:r>
              <a:rPr sz="1100" b="0" dirty="0">
                <a:solidFill>
                  <a:srgbClr val="000000"/>
                </a:solidFill>
                <a:hlinkClick r:id="rId11"/>
              </a:rPr>
              <a:t>https://github.com/vectorize-io/self-driving-agents</a:t>
            </a:r>
            <a:r>
              <a:rPr lang="en-IN" sz="1100" b="0" dirty="0">
                <a:solidFill>
                  <a:srgbClr val="000000"/>
                </a:solidFill>
              </a:rPr>
              <a:t> </a:t>
            </a:r>
            <a:endParaRPr sz="1100" b="0" dirty="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p:spPr>
      </p:pic>
      <p:sp>
        <p:nvSpPr>
          <p:cNvPr id="3" name="TextBox 2"/>
          <p:cNvSpPr txBox="1"/>
          <p:nvPr/>
        </p:nvSpPr>
        <p:spPr>
          <a:xfrm>
            <a:off x="1371600" y="274320"/>
            <a:ext cx="9445752" cy="640080"/>
          </a:xfrm>
          <a:prstGeom prst="rect">
            <a:avLst/>
          </a:prstGeom>
          <a:noFill/>
        </p:spPr>
        <p:txBody>
          <a:bodyPr wrap="square" lIns="0" tIns="0" rIns="0" bIns="0" anchor="ctr">
            <a:spAutoFit/>
          </a:bodyPr>
          <a:lstStyle/>
          <a:p>
            <a:pPr algn="ctr"/>
            <a:r>
              <a:rPr sz="2800" b="1">
                <a:solidFill>
                  <a:srgbClr val="000000"/>
                </a:solidFill>
              </a:rPr>
              <a:t>References: Data Engineering &amp; Analytics</a:t>
            </a:r>
          </a:p>
        </p:txBody>
      </p:sp>
      <p:sp>
        <p:nvSpPr>
          <p:cNvPr id="4" name="TextBox 3"/>
          <p:cNvSpPr txBox="1"/>
          <p:nvPr/>
        </p:nvSpPr>
        <p:spPr>
          <a:xfrm>
            <a:off x="457200" y="1097280"/>
            <a:ext cx="5486400" cy="365760"/>
          </a:xfrm>
          <a:prstGeom prst="rect">
            <a:avLst/>
          </a:prstGeom>
          <a:noFill/>
        </p:spPr>
        <p:txBody>
          <a:bodyPr wrap="square" lIns="0" tIns="0" rIns="0" bIns="0" anchor="b">
            <a:spAutoFit/>
          </a:bodyPr>
          <a:lstStyle/>
          <a:p>
            <a:pPr algn="l"/>
            <a:r>
              <a:rPr sz="1800" b="1">
                <a:solidFill>
                  <a:srgbClr val="000000"/>
                </a:solidFill>
              </a:rPr>
              <a:t>Fundamentals of Data Engineering</a:t>
            </a:r>
          </a:p>
        </p:txBody>
      </p:sp>
      <p:cxnSp>
        <p:nvCxnSpPr>
          <p:cNvPr id="5" name="Connector 4"/>
          <p:cNvCxnSpPr/>
          <p:nvPr/>
        </p:nvCxnSpPr>
        <p:spPr>
          <a:xfrm>
            <a:off x="457200" y="1536192"/>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737360"/>
            <a:ext cx="5486400" cy="4114800"/>
          </a:xfrm>
          <a:prstGeom prst="rect">
            <a:avLst/>
          </a:prstGeom>
          <a:noFill/>
        </p:spPr>
        <p:txBody>
          <a:bodyPr wrap="square" lIns="0" tIns="0" rIns="0" bIns="0" anchor="t">
            <a:spAutoFit/>
          </a:bodyPr>
          <a:lstStyle/>
          <a:p>
            <a:pPr algn="l"/>
            <a:r>
              <a:rPr sz="1600" b="1">
                <a:solidFill>
                  <a:srgbClr val="000000"/>
                </a:solidFill>
              </a:rPr>
              <a:t>Joe Reis &amp; Matt Housley</a:t>
            </a:r>
          </a:p>
          <a:p>
            <a:pPr>
              <a:spcBef>
                <a:spcPts val="600"/>
              </a:spcBef>
            </a:pPr>
            <a:r>
              <a:rPr sz="1500" b="0">
                <a:solidFill>
                  <a:srgbClr val="000000"/>
                </a:solidFill>
              </a:rPr>
              <a:t>Guides the 5-layer design implemented in the codebase:</a:t>
            </a:r>
          </a:p>
          <a:p>
            <a:pPr>
              <a:spcBef>
                <a:spcPts val="800"/>
              </a:spcBef>
            </a:pPr>
            <a:r>
              <a:rPr sz="1500" b="0">
                <a:solidFill>
                  <a:srgbClr val="000000"/>
                </a:solidFill>
              </a:rPr>
              <a:t>1.  1_Data_Sources/</a:t>
            </a:r>
          </a:p>
          <a:p>
            <a:pPr>
              <a:spcBef>
                <a:spcPts val="800"/>
              </a:spcBef>
            </a:pPr>
            <a:r>
              <a:rPr sz="1500" b="0">
                <a:solidFill>
                  <a:srgbClr val="000000"/>
                </a:solidFill>
              </a:rPr>
              <a:t>2.  2_Ingestion_Layer/</a:t>
            </a:r>
          </a:p>
          <a:p>
            <a:pPr>
              <a:spcBef>
                <a:spcPts val="800"/>
              </a:spcBef>
            </a:pPr>
            <a:r>
              <a:rPr sz="1500" b="0">
                <a:solidFill>
                  <a:srgbClr val="000000"/>
                </a:solidFill>
              </a:rPr>
              <a:t>3.  3_Storage_Layer/</a:t>
            </a:r>
          </a:p>
          <a:p>
            <a:pPr>
              <a:spcBef>
                <a:spcPts val="800"/>
              </a:spcBef>
            </a:pPr>
            <a:r>
              <a:rPr sz="1500" b="0">
                <a:solidFill>
                  <a:srgbClr val="000000"/>
                </a:solidFill>
              </a:rPr>
              <a:t>4.  4_Processing_Layer/</a:t>
            </a:r>
          </a:p>
          <a:p>
            <a:pPr>
              <a:spcBef>
                <a:spcPts val="800"/>
              </a:spcBef>
            </a:pPr>
            <a:r>
              <a:rPr sz="1500" b="0">
                <a:solidFill>
                  <a:srgbClr val="000000"/>
                </a:solidFill>
              </a:rPr>
              <a:t>5.  5_Serving_Layer/</a:t>
            </a:r>
          </a:p>
        </p:txBody>
      </p:sp>
      <p:sp>
        <p:nvSpPr>
          <p:cNvPr id="7" name="TextBox 6"/>
          <p:cNvSpPr txBox="1"/>
          <p:nvPr/>
        </p:nvSpPr>
        <p:spPr>
          <a:xfrm>
            <a:off x="6309360" y="1097280"/>
            <a:ext cx="5486400" cy="365760"/>
          </a:xfrm>
          <a:prstGeom prst="rect">
            <a:avLst/>
          </a:prstGeom>
          <a:noFill/>
        </p:spPr>
        <p:txBody>
          <a:bodyPr wrap="square" lIns="0" tIns="0" rIns="0" bIns="0" anchor="b">
            <a:spAutoFit/>
          </a:bodyPr>
          <a:lstStyle/>
          <a:p>
            <a:pPr algn="l"/>
            <a:r>
              <a:rPr sz="1800" b="1">
                <a:solidFill>
                  <a:srgbClr val="000000"/>
                </a:solidFill>
              </a:rPr>
              <a:t>Cricket Analytics Formulations</a:t>
            </a:r>
          </a:p>
        </p:txBody>
      </p:sp>
      <p:cxnSp>
        <p:nvCxnSpPr>
          <p:cNvPr id="8" name="Connector 7"/>
          <p:cNvCxnSpPr/>
          <p:nvPr/>
        </p:nvCxnSpPr>
        <p:spPr>
          <a:xfrm>
            <a:off x="6309360" y="1536192"/>
            <a:ext cx="5486400" cy="0"/>
          </a:xfrm>
          <a:prstGeom prst="line">
            <a:avLst/>
          </a:prstGeom>
          <a:ln w="19050">
            <a:solidFill>
              <a:srgbClr val="A81E2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309360" y="1737360"/>
            <a:ext cx="5486400" cy="4114800"/>
          </a:xfrm>
          <a:prstGeom prst="rect">
            <a:avLst/>
          </a:prstGeom>
          <a:noFill/>
        </p:spPr>
        <p:txBody>
          <a:bodyPr wrap="square" lIns="0" tIns="0" rIns="0" bIns="0" anchor="t">
            <a:spAutoFit/>
          </a:bodyPr>
          <a:lstStyle/>
          <a:p>
            <a:pPr algn="l"/>
            <a:r>
              <a:rPr sz="1600" b="1">
                <a:solidFill>
                  <a:srgbClr val="000000"/>
                </a:solidFill>
              </a:rPr>
              <a:t>Win Probability &amp; Chase Models</a:t>
            </a:r>
          </a:p>
          <a:p>
            <a:pPr>
              <a:spcBef>
                <a:spcPts val="400"/>
              </a:spcBef>
            </a:pPr>
            <a:r>
              <a:rPr sz="1500" b="0">
                <a:solidFill>
                  <a:srgbClr val="000000"/>
                </a:solidFill>
              </a:rPr>
              <a:t>Chasing equation factoring required run rate (RRR), wicket preservation index and historical run progression.</a:t>
            </a:r>
          </a:p>
          <a:p>
            <a:pPr>
              <a:spcBef>
                <a:spcPts val="2200"/>
              </a:spcBef>
            </a:pPr>
            <a:r>
              <a:rPr sz="1600" b="1">
                <a:solidFill>
                  <a:srgbClr val="000000"/>
                </a:solidFill>
              </a:rPr>
              <a:t>Rolling Form Scores</a:t>
            </a:r>
          </a:p>
          <a:p>
            <a:pPr>
              <a:spcBef>
                <a:spcPts val="400"/>
              </a:spcBef>
            </a:pPr>
            <a:r>
              <a:rPr sz="1500" b="0">
                <a:solidFill>
                  <a:srgbClr val="000000"/>
                </a:solidFill>
              </a:rPr>
              <a:t>Short-term (5-innings) and long-term (10-innings) weighted exponential decay metrics for player momentum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0249380" y="0"/>
            <a:ext cx="1942620" cy="622550"/>
          </a:xfrm>
          <a:prstGeom prst="rect">
            <a:avLst/>
          </a:prstGeom>
          <a:ln>
            <a:noFill/>
          </a:ln>
        </p:spPr>
      </p:pic>
      <p:sp>
        <p:nvSpPr>
          <p:cNvPr id="3" name="TextBox 2"/>
          <p:cNvSpPr txBox="1"/>
          <p:nvPr/>
        </p:nvSpPr>
        <p:spPr>
          <a:xfrm>
            <a:off x="457200" y="2560320"/>
            <a:ext cx="11247120" cy="1280160"/>
          </a:xfrm>
          <a:prstGeom prst="rect">
            <a:avLst/>
          </a:prstGeom>
          <a:noFill/>
          <a:ln>
            <a:noFill/>
          </a:ln>
        </p:spPr>
        <p:txBody>
          <a:bodyPr wrap="square" lIns="0" tIns="0" rIns="0" bIns="0" anchor="ctr">
            <a:spAutoFit/>
          </a:bodyPr>
          <a:lstStyle/>
          <a:p>
            <a:pPr algn="ctr"/>
            <a:r>
              <a:rPr sz="6000" b="1">
                <a:solidFill>
                  <a:srgbClr val="000000"/>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6017</TotalTime>
  <Words>2088</Words>
  <Application>Microsoft Office PowerPoint</Application>
  <PresentationFormat>Widescreen</PresentationFormat>
  <Paragraphs>221</Paragraphs>
  <Slides>16</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Aptos</vt:lpstr>
      <vt:lpstr>Aptos Display</vt:lpstr>
      <vt:lpstr>Arial</vt:lpstr>
      <vt:lpstr>Calibri</vt:lpstr>
      <vt:lpstr>Calibri Light</vt:lpstr>
      <vt:lpstr>Times New Roman</vt:lpstr>
      <vt:lpstr>Office Theme</vt:lpstr>
      <vt:lpstr>1_Office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vds 7</cp:lastModifiedBy>
  <cp:revision>11</cp:revision>
  <dcterms:created xsi:type="dcterms:W3CDTF">2026-08-08T06:33:56Z</dcterms:created>
  <dcterms:modified xsi:type="dcterms:W3CDTF">2026-10-06T09:24:09Z</dcterms:modified>
</cp:coreProperties>
</file>