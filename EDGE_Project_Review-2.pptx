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1"/>
  </p:notesMasterIdLst>
  <p:sldIdLst>
    <p:sldId id="286" r:id="rId3"/>
    <p:sldId id="262" r:id="rId4"/>
    <p:sldId id="257" r:id="rId6"/>
    <p:sldId id="903" r:id="rId7"/>
    <p:sldId id="924" r:id="rId8"/>
    <p:sldId id="902" r:id="rId9"/>
    <p:sldId id="910" r:id="rId10"/>
    <p:sldId id="916" r:id="rId14"/>
    <p:sldId id="90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E0EA8E-CC0E-46E3-BE9E-9948A49AC1A4}" v="1" dt="2026-09-22T08:51:20.12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033" autoAdjust="0"/>
  </p:normalViewPr>
  <p:slideViewPr>
    <p:cSldViewPr snapToGrid="0">
      <p:cViewPr varScale="1">
        <p:scale>
          <a:sx n="78" d="100"/>
          <a:sy n="78" d="100"/>
        </p:scale>
        <p:origin x="850"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4" Type="http://schemas.openxmlformats.org/officeDocument/2006/relationships/slide" Target="slides/slide12.xml"/><Relationship Id="rId15" Type="http://schemas.openxmlformats.org/officeDocument/2006/relationships/slide" Target="slides/slide13.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36" Type="http://schemas.microsoft.com/office/2016/11/relationships/changesInfo" Target="changesInfos/changesInfo1.xml"/><Relationship Id="rId3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ds 7" userId="33559902d3ed092c" providerId="LiveId" clId="{9C56A98E-D754-451F-B35A-0C71D8D9F560}"/>
    <pc:docChg chg="undo custSel modSld sldOrd">
      <pc:chgData name="vds 7" userId="33559902d3ed092c" providerId="LiveId" clId="{9C56A98E-D754-451F-B35A-0C71D8D9F560}" dt="2026-09-27T08:46:29.753" v="32" actId="1035"/>
      <pc:docMkLst>
        <pc:docMk/>
      </pc:docMkLst>
      <pc:sldChg chg="modSp mod">
        <pc:chgData name="vds 7" userId="33559902d3ed092c" providerId="LiveId" clId="{9C56A98E-D754-451F-B35A-0C71D8D9F560}" dt="2026-09-27T08:34:08.658" v="25" actId="1036"/>
        <pc:sldMkLst>
          <pc:docMk/>
          <pc:sldMk cId="3029277067" sldId="902"/>
        </pc:sldMkLst>
        <pc:graphicFrameChg chg="mod">
          <ac:chgData name="vds 7" userId="33559902d3ed092c" providerId="LiveId" clId="{9C56A98E-D754-451F-B35A-0C71D8D9F560}" dt="2026-09-27T08:34:08.658" v="25" actId="1036"/>
          <ac:graphicFrameMkLst>
            <pc:docMk/>
            <pc:sldMk cId="3029277067" sldId="902"/>
            <ac:graphicFrameMk id="4" creationId="{AACD11AD-3AF5-B626-2B60-0567E4585BB7}"/>
          </ac:graphicFrameMkLst>
        </pc:graphicFrameChg>
      </pc:sldChg>
      <pc:sldChg chg="modSp mod">
        <pc:chgData name="vds 7" userId="33559902d3ed092c" providerId="LiveId" clId="{9C56A98E-D754-451F-B35A-0C71D8D9F560}" dt="2026-09-22T08:40:15.399" v="19" actId="20577"/>
        <pc:sldMkLst>
          <pc:docMk/>
          <pc:sldMk cId="3524135319" sldId="905"/>
        </pc:sldMkLst>
        <pc:spChg chg="mod">
          <ac:chgData name="vds 7" userId="33559902d3ed092c" providerId="LiveId" clId="{9C56A98E-D754-451F-B35A-0C71D8D9F560}" dt="2026-09-22T08:40:15.399" v="19" actId="20577"/>
          <ac:spMkLst>
            <pc:docMk/>
            <pc:sldMk cId="3524135319" sldId="905"/>
            <ac:spMk id="104" creationId="{00000000-0000-0000-0000-000000000000}"/>
          </ac:spMkLst>
        </pc:spChg>
      </pc:sldChg>
      <pc:sldChg chg="modSp mod">
        <pc:chgData name="vds 7" userId="33559902d3ed092c" providerId="LiveId" clId="{9C56A98E-D754-451F-B35A-0C71D8D9F560}" dt="2026-09-27T08:34:36.276" v="26" actId="1036"/>
        <pc:sldMkLst>
          <pc:docMk/>
          <pc:sldMk cId="1030314092" sldId="910"/>
        </pc:sldMkLst>
        <pc:graphicFrameChg chg="mod">
          <ac:chgData name="vds 7" userId="33559902d3ed092c" providerId="LiveId" clId="{9C56A98E-D754-451F-B35A-0C71D8D9F560}" dt="2026-09-27T08:34:36.276" v="26" actId="1036"/>
          <ac:graphicFrameMkLst>
            <pc:docMk/>
            <pc:sldMk cId="1030314092" sldId="910"/>
            <ac:graphicFrameMk id="2" creationId="{584B6121-4F6E-7527-BFFE-A3B6B03A1057}"/>
          </ac:graphicFrameMkLst>
        </pc:graphicFrameChg>
      </pc:sldChg>
      <pc:sldChg chg="ord">
        <pc:chgData name="vds 7" userId="33559902d3ed092c" providerId="LiveId" clId="{9C56A98E-D754-451F-B35A-0C71D8D9F560}" dt="2026-09-22T08:58:52.469" v="23"/>
        <pc:sldMkLst>
          <pc:docMk/>
          <pc:sldMk cId="3917782940" sldId="911"/>
        </pc:sldMkLst>
      </pc:sldChg>
      <pc:sldChg chg="addSp delSp modSp mod">
        <pc:chgData name="vds 7" userId="33559902d3ed092c" providerId="LiveId" clId="{9C56A98E-D754-451F-B35A-0C71D8D9F560}" dt="2026-09-22T08:51:18.042" v="21" actId="22"/>
        <pc:sldMkLst>
          <pc:docMk/>
          <pc:sldMk cId="2065876014" sldId="912"/>
        </pc:sldMkLst>
        <pc:spChg chg="mod">
          <ac:chgData name="vds 7" userId="33559902d3ed092c" providerId="LiveId" clId="{9C56A98E-D754-451F-B35A-0C71D8D9F560}" dt="2026-09-22T08:34:50.569" v="13" actId="27636"/>
          <ac:spMkLst>
            <pc:docMk/>
            <pc:sldMk cId="2065876014" sldId="912"/>
            <ac:spMk id="501" creationId="{00000000-0000-0000-0000-000000000000}"/>
          </ac:spMkLst>
        </pc:spChg>
        <pc:spChg chg="mod">
          <ac:chgData name="vds 7" userId="33559902d3ed092c" providerId="LiveId" clId="{9C56A98E-D754-451F-B35A-0C71D8D9F560}" dt="2026-09-22T08:35:19.932" v="14" actId="255"/>
          <ac:spMkLst>
            <pc:docMk/>
            <pc:sldMk cId="2065876014" sldId="912"/>
            <ac:spMk id="502" creationId="{00000000-0000-0000-0000-000000000000}"/>
          </ac:spMkLst>
        </pc:spChg>
        <pc:spChg chg="mod">
          <ac:chgData name="vds 7" userId="33559902d3ed092c" providerId="LiveId" clId="{9C56A98E-D754-451F-B35A-0C71D8D9F560}" dt="2026-09-22T08:35:26.984" v="15" actId="255"/>
          <ac:spMkLst>
            <pc:docMk/>
            <pc:sldMk cId="2065876014" sldId="912"/>
            <ac:spMk id="503" creationId="{00000000-0000-0000-0000-000000000000}"/>
          </ac:spMkLst>
        </pc:spChg>
        <pc:spChg chg="mod">
          <ac:chgData name="vds 7" userId="33559902d3ed092c" providerId="LiveId" clId="{9C56A98E-D754-451F-B35A-0C71D8D9F560}" dt="2026-09-22T08:35:34.295" v="16" actId="255"/>
          <ac:spMkLst>
            <pc:docMk/>
            <pc:sldMk cId="2065876014" sldId="912"/>
            <ac:spMk id="504" creationId="{00000000-0000-0000-0000-000000000000}"/>
          </ac:spMkLst>
        </pc:spChg>
      </pc:sldChg>
      <pc:sldChg chg="modSp mod">
        <pc:chgData name="vds 7" userId="33559902d3ed092c" providerId="LiveId" clId="{9C56A98E-D754-451F-B35A-0C71D8D9F560}" dt="2026-09-27T08:46:29.753" v="32" actId="1035"/>
        <pc:sldMkLst>
          <pc:docMk/>
          <pc:sldMk cId="1648027208" sldId="921"/>
        </pc:sldMkLst>
        <pc:picChg chg="mod">
          <ac:chgData name="vds 7" userId="33559902d3ed092c" providerId="LiveId" clId="{9C56A98E-D754-451F-B35A-0C71D8D9F560}" dt="2026-09-27T08:46:29.753" v="32" actId="1035"/>
          <ac:picMkLst>
            <pc:docMk/>
            <pc:sldMk cId="1648027208" sldId="921"/>
            <ac:picMk id="7" creationId="{3D7F363F-812A-AA12-86A4-81A233DC1947}"/>
          </ac:picMkLst>
        </pc:picChg>
      </pc:sldChg>
      <pc:sldChg chg="addSp modSp mod">
        <pc:chgData name="vds 7" userId="33559902d3ed092c" providerId="LiveId" clId="{9C56A98E-D754-451F-B35A-0C71D8D9F560}" dt="2026-09-27T08:35:50.636" v="27" actId="1036"/>
        <pc:sldMkLst>
          <pc:docMk/>
          <pc:sldMk cId="3659569516" sldId="923"/>
        </pc:sldMkLst>
        <pc:spChg chg="mod">
          <ac:chgData name="vds 7" userId="33559902d3ed092c" providerId="LiveId" clId="{9C56A98E-D754-451F-B35A-0C71D8D9F560}" dt="2026-09-27T08:35:50.636" v="27" actId="1036"/>
          <ac:spMkLst>
            <pc:docMk/>
            <pc:sldMk cId="3659569516" sldId="923"/>
            <ac:spMk id="2" creationId="{E93E1ED7-A6BF-B000-FC4A-321B5C7DEB4E}"/>
          </ac:spMkLst>
        </pc:spChg>
        <pc:picChg chg="mod">
          <ac:chgData name="vds 7" userId="33559902d3ed092c" providerId="LiveId" clId="{9C56A98E-D754-451F-B35A-0C71D8D9F560}" dt="2026-09-27T08:35:50.636" v="27" actId="1036"/>
          <ac:picMkLst>
            <pc:docMk/>
            <pc:sldMk cId="3659569516" sldId="923"/>
            <ac:picMk id="5" creationId="{FA3D90F6-38C0-71CB-E5CB-FF0C253AF657}"/>
          </ac:picMkLst>
        </pc:picChg>
        <pc:inkChg chg="add mod">
          <ac:chgData name="vds 7" userId="33559902d3ed092c" providerId="LiveId" clId="{9C56A98E-D754-451F-B35A-0C71D8D9F560}" dt="2026-09-27T08:35:50.636" v="27" actId="1036"/>
          <ac:inkMkLst>
            <pc:docMk/>
            <pc:sldMk cId="3659569516" sldId="923"/>
            <ac:inkMk id="3" creationId="{115AA0E3-D29D-7F80-8AC0-51BFE5989C9A}"/>
          </ac:inkMkLst>
        </pc:inkChg>
        <pc:inkChg chg="add mod">
          <ac:chgData name="vds 7" userId="33559902d3ed092c" providerId="LiveId" clId="{9C56A98E-D754-451F-B35A-0C71D8D9F560}" dt="2026-09-27T08:35:50.636" v="27" actId="1036"/>
          <ac:inkMkLst>
            <pc:docMk/>
            <pc:sldMk cId="3659569516" sldId="923"/>
            <ac:inkMk id="4" creationId="{04E7F268-F7CC-FEC9-570D-C293951D99F1}"/>
          </ac:inkMkLst>
        </pc:inkChg>
      </pc:sldChg>
      <pc:sldChg chg="ord">
        <pc:chgData name="vds 7" userId="33559902d3ed092c" providerId="LiveId" clId="{9C56A98E-D754-451F-B35A-0C71D8D9F560}" dt="2026-09-22T08:33:00.178" v="5"/>
        <pc:sldMkLst>
          <pc:docMk/>
          <pc:sldMk cId="595642197" sldId="92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9/27/2026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Good morning everyone. Today we are presenting our project </a:t>
            </a:r>
            <a:r>
              <a:rPr lang="en-US" b="1"/>
              <a:t>EDGE, or Evidence-Driven Game Engine</a:t>
            </a:r>
            <a:r>
              <a:rPr lang="en-US"/>
              <a:t>.</a:t>
            </a:r>
          </a:p>
          <a:p>
            <a:r>
              <a:rPr lang="en-US"/>
              <a:t>EDGE is an </a:t>
            </a:r>
            <a:r>
              <a:rPr lang="en-US" b="1"/>
              <a:t>AI-powered cricket intelligence platform</a:t>
            </a:r>
            <a:r>
              <a:rPr lang="en-US"/>
              <a:t> that converts large amounts of cricket data into simple and useful insights.</a:t>
            </a:r>
          </a:p>
          <a:p>
            <a:r>
              <a:rPr lang="en-US"/>
              <a:t>Our team consists of </a:t>
            </a:r>
            <a:r>
              <a:rPr lang="en-US" b="1"/>
              <a:t>Dhruva Sai, Nikhil Shreyas, and P Lahari</a:t>
            </a:r>
            <a:r>
              <a:rPr lang="en-US"/>
              <a:t>, under the guidance of </a:t>
            </a:r>
            <a:r>
              <a:rPr lang="en-US" b="1"/>
              <a:t>Dr. N. Shirisha</a:t>
            </a:r>
            <a:r>
              <a:rPr lang="en-US"/>
              <a:t>.</a:t>
            </a:r>
          </a:p>
          <a:p>
            <a:endParaRPr lang="en-IN"/>
          </a:p>
        </p:txBody>
      </p:sp>
      <p:sp>
        <p:nvSpPr>
          <p:cNvPr id="4" name="Slide Number Placeholder 3"/>
          <p:cNvSpPr>
            <a:spLocks noGrp="1"/>
          </p:cNvSpPr>
          <p:nvPr>
            <p:ph type="sldNum" sz="quarter" idx="5"/>
          </p:nvPr>
        </p:nvSpPr>
        <p:spPr/>
        <p:txBody>
          <a:bodyPr/>
          <a:lstStyle/>
          <a:p>
            <a:fld id="{9F19044B-B5AF-477C-950C-4ED51263438D}" type="slidenum">
              <a:rPr lang="en-US" smtClean="0"/>
              <a:t>1</a:t>
            </a:fld>
            <a:endParaRPr lang="en-US"/>
          </a:p>
        </p:txBody>
      </p:sp>
    </p:spTree>
    <p:extLst>
      <p:ext uri="{BB962C8B-B14F-4D97-AF65-F5344CB8AC3E}">
        <p14:creationId xmlns:p14="http://schemas.microsoft.com/office/powerpoint/2010/main" val="21580682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This is our </a:t>
            </a:r>
            <a:r>
              <a:rPr lang="en-US" b="1"/>
              <a:t>first project review</a:t>
            </a:r>
            <a:r>
              <a:rPr lang="en-US"/>
              <a:t> for EDGE.</a:t>
            </a:r>
          </a:p>
          <a:p>
            <a:r>
              <a:rPr lang="en-US"/>
              <a:t>Our main aim is to collect, process, and </a:t>
            </a:r>
            <a:r>
              <a:rPr lang="en-US" err="1"/>
              <a:t>analyse</a:t>
            </a:r>
            <a:r>
              <a:rPr lang="en-US"/>
              <a:t> cricket data and provide meaningful insights through a single platform.</a:t>
            </a:r>
          </a:p>
          <a:p>
            <a:r>
              <a:rPr lang="en-US"/>
              <a:t>In this review, we will cover our </a:t>
            </a:r>
            <a:r>
              <a:rPr lang="en-US" b="1"/>
              <a:t>project background, literature survey, objectives, problem gap, innovation, challenges, and future work</a:t>
            </a:r>
            <a:r>
              <a:rPr lang="en-US"/>
              <a:t>.</a:t>
            </a:r>
          </a:p>
          <a:p>
            <a:endParaRPr lang="en-IN"/>
          </a:p>
        </p:txBody>
      </p:sp>
      <p:sp>
        <p:nvSpPr>
          <p:cNvPr id="4" name="Slide Number Placeholder 3"/>
          <p:cNvSpPr>
            <a:spLocks noGrp="1"/>
          </p:cNvSpPr>
          <p:nvPr>
            <p:ph type="sldNum" sz="quarter" idx="5"/>
          </p:nvPr>
        </p:nvSpPr>
        <p:spPr/>
        <p:txBody>
          <a:bodyPr/>
          <a:lstStyle/>
          <a:p>
            <a:fld id="{BF84AE20-9EAE-4BB7-93AC-7EFA05BCA1CF}" type="slidenum">
              <a:rPr lang="en-IN" smtClean="0"/>
              <a:t>2</a:t>
            </a:fld>
            <a:endParaRPr lang="en-IN"/>
          </a:p>
        </p:txBody>
      </p:sp>
    </p:spTree>
    <p:extLst>
      <p:ext uri="{BB962C8B-B14F-4D97-AF65-F5344CB8AC3E}">
        <p14:creationId xmlns:p14="http://schemas.microsoft.com/office/powerpoint/2010/main" val="22274734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Cricket produces a huge amount of data from every ball, run, wicket, and player action. However, most of this data is available only in raw scorecards, making it difficult to get useful insights quickly.</a:t>
            </a:r>
          </a:p>
          <a:p>
            <a:r>
              <a:rPr lang="en-US"/>
              <a:t>Our project </a:t>
            </a:r>
            <a:r>
              <a:rPr lang="en-US" b="1"/>
              <a:t>EDGE — Evidence-Driven Game Engine</a:t>
            </a:r>
            <a:r>
              <a:rPr lang="en-US"/>
              <a:t> solves this by converting detailed ball-by-ball data into </a:t>
            </a:r>
            <a:r>
              <a:rPr lang="en-US" b="1"/>
              <a:t>simple and actionable insights</a:t>
            </a:r>
            <a:r>
              <a:rPr lang="en-US"/>
              <a:t>.</a:t>
            </a:r>
          </a:p>
          <a:p>
            <a:r>
              <a:rPr lang="en-US"/>
              <a:t>EDGE uses more than </a:t>
            </a:r>
            <a:r>
              <a:rPr lang="en-US" b="1"/>
              <a:t>800,000 deliveries, 5,000 player profiles, and 4,500 matches</a:t>
            </a:r>
            <a:r>
              <a:rPr lang="en-US"/>
              <a:t> from different formats and years.</a:t>
            </a:r>
          </a:p>
          <a:p>
            <a:r>
              <a:rPr lang="en-US"/>
              <a:t>It provides AI features like the </a:t>
            </a:r>
            <a:r>
              <a:rPr lang="en-US" b="1"/>
              <a:t>Match Situation Advisor</a:t>
            </a:r>
            <a:r>
              <a:rPr lang="en-US"/>
              <a:t> and </a:t>
            </a:r>
            <a:r>
              <a:rPr lang="en-US" b="1"/>
              <a:t>Bowling Change Recommender</a:t>
            </a:r>
            <a:r>
              <a:rPr lang="en-US"/>
              <a:t>, along with tools such as the </a:t>
            </a:r>
            <a:r>
              <a:rPr lang="en-US" b="1"/>
              <a:t>Live Match Centre, ICC Rankings, IPL Franchise Intelligence Hub, and chase win-probability simulator</a:t>
            </a:r>
            <a:r>
              <a:rPr lang="en-US"/>
              <a:t>.</a:t>
            </a:r>
          </a:p>
          <a:p>
            <a:r>
              <a:rPr lang="en-US"/>
              <a:t>Behind these features, a structured data pipeline keeps the cricket data </a:t>
            </a:r>
            <a:r>
              <a:rPr lang="en-US" err="1"/>
              <a:t>organised</a:t>
            </a:r>
            <a:r>
              <a:rPr lang="en-US"/>
              <a:t> and allows new seasons to be added easily.</a:t>
            </a:r>
          </a:p>
          <a:p>
            <a:r>
              <a:rPr lang="en-US"/>
              <a:t>Overall, EDGE combines </a:t>
            </a:r>
            <a:r>
              <a:rPr lang="en-US" b="1"/>
              <a:t>historical cricket data, analytics, visualizations, and AI</a:t>
            </a:r>
            <a:r>
              <a:rPr lang="en-US"/>
              <a:t> to make advanced cricket analysis easier for </a:t>
            </a:r>
            <a:r>
              <a:rPr lang="en-US" b="1"/>
              <a:t>fans, analysts, and franchises</a:t>
            </a:r>
            <a:r>
              <a:rPr lang="en-US"/>
              <a:t>.</a:t>
            </a:r>
          </a:p>
          <a:p>
            <a:endParaRPr lang="en-IN"/>
          </a:p>
        </p:txBody>
      </p:sp>
      <p:sp>
        <p:nvSpPr>
          <p:cNvPr id="4" name="Slide Number Placeholder 3"/>
          <p:cNvSpPr>
            <a:spLocks noGrp="1"/>
          </p:cNvSpPr>
          <p:nvPr>
            <p:ph type="sldNum" sz="quarter" idx="5"/>
          </p:nvPr>
        </p:nvSpPr>
        <p:spPr/>
        <p:txBody>
          <a:bodyPr/>
          <a:lstStyle/>
          <a:p>
            <a:fld id="{9F19044B-B5AF-477C-950C-4ED51263438D}" type="slidenum">
              <a:rPr lang="en-US" smtClean="0"/>
              <a:t>4</a:t>
            </a:fld>
            <a:endParaRPr lang="en-US"/>
          </a:p>
        </p:txBody>
      </p:sp>
    </p:spTree>
    <p:extLst>
      <p:ext uri="{BB962C8B-B14F-4D97-AF65-F5344CB8AC3E}">
        <p14:creationId xmlns:p14="http://schemas.microsoft.com/office/powerpoint/2010/main" val="33901046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Cricket generates a large amount of data such as </a:t>
            </a:r>
            <a:r>
              <a:rPr lang="en-US" b="1"/>
              <a:t>runs, wickets, player performances, and match situations</a:t>
            </a:r>
            <a:r>
              <a:rPr lang="en-US"/>
              <a:t>.</a:t>
            </a:r>
          </a:p>
          <a:p>
            <a:r>
              <a:rPr lang="en-US"/>
              <a:t>Traditionally, this data is mainly used for scorecards and basic statistics, while many useful insights remain unexplored.</a:t>
            </a:r>
          </a:p>
          <a:p>
            <a:r>
              <a:rPr lang="en-US"/>
              <a:t>Our goal is to convert this detailed data into </a:t>
            </a:r>
            <a:r>
              <a:rPr lang="en-US" b="1"/>
              <a:t>meaningful and actionable insights</a:t>
            </a:r>
            <a:r>
              <a:rPr lang="en-US"/>
              <a:t> using a data pipeline, web application, and generative AI.</a:t>
            </a:r>
          </a:p>
          <a:p>
            <a:r>
              <a:rPr lang="en-US"/>
              <a:t>EDGE brings </a:t>
            </a:r>
            <a:r>
              <a:rPr lang="en-US" b="1"/>
              <a:t>historical data, live information, analytics, and AI</a:t>
            </a:r>
            <a:r>
              <a:rPr lang="en-US"/>
              <a:t> together in one platform.</a:t>
            </a:r>
          </a:p>
          <a:p>
            <a:endParaRPr lang="en-IN"/>
          </a:p>
        </p:txBody>
      </p:sp>
      <p:sp>
        <p:nvSpPr>
          <p:cNvPr id="4" name="Slide Number Placeholder 3"/>
          <p:cNvSpPr>
            <a:spLocks noGrp="1"/>
          </p:cNvSpPr>
          <p:nvPr>
            <p:ph type="sldNum" sz="quarter" idx="5"/>
          </p:nvPr>
        </p:nvSpPr>
        <p:spPr/>
        <p:txBody>
          <a:bodyPr/>
          <a:lstStyle/>
          <a:p>
            <a:fld id="{9F19044B-B5AF-477C-950C-4ED51263438D}" type="slidenum">
              <a:rPr lang="en-US" smtClean="0"/>
              <a:t>5</a:t>
            </a:fld>
            <a:endParaRPr lang="en-US"/>
          </a:p>
        </p:txBody>
      </p:sp>
    </p:spTree>
    <p:extLst>
      <p:ext uri="{BB962C8B-B14F-4D97-AF65-F5344CB8AC3E}">
        <p14:creationId xmlns:p14="http://schemas.microsoft.com/office/powerpoint/2010/main" val="23753637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studied existing research on </a:t>
            </a:r>
            <a:r>
              <a:rPr lang="en-US" b="1"/>
              <a:t>cricket prediction and strategy generation</a:t>
            </a:r>
            <a:r>
              <a:rPr lang="en-US"/>
              <a:t>.</a:t>
            </a:r>
          </a:p>
          <a:p>
            <a:r>
              <a:rPr lang="en-US"/>
              <a:t>Some studies mainly focus on </a:t>
            </a:r>
            <a:r>
              <a:rPr lang="en-US" b="1"/>
              <a:t>pre-match prediction</a:t>
            </a:r>
            <a:r>
              <a:rPr lang="en-US"/>
              <a:t>, while others have limited real-time match analysis.</a:t>
            </a:r>
          </a:p>
          <a:p>
            <a:r>
              <a:rPr lang="en-US"/>
              <a:t>We also found research on in-game prediction, but one study was limited mainly to IPL matches from </a:t>
            </a:r>
            <a:r>
              <a:rPr lang="en-US" b="1"/>
              <a:t>2008 to 2020</a:t>
            </a:r>
            <a:r>
              <a:rPr lang="en-US"/>
              <a:t>.</a:t>
            </a:r>
          </a:p>
          <a:p>
            <a:r>
              <a:rPr lang="en-US"/>
              <a:t>From this, we identified a gap in combining </a:t>
            </a:r>
            <a:r>
              <a:rPr lang="en-US" b="1"/>
              <a:t>ball-by-ball data, live match situations, analytics, and AI-based reasoning</a:t>
            </a:r>
            <a:r>
              <a:rPr lang="en-US"/>
              <a:t> in one platform.</a:t>
            </a:r>
          </a:p>
          <a:p>
            <a:r>
              <a:rPr lang="en-US"/>
              <a:t>This research gap forms the basis of our </a:t>
            </a:r>
            <a:r>
              <a:rPr lang="en-US" b="1"/>
              <a:t>EDGE project</a:t>
            </a:r>
            <a:r>
              <a:rPr lang="en-US"/>
              <a:t>. </a:t>
            </a:r>
          </a:p>
          <a:p>
            <a:endParaRPr lang="en-IN"/>
          </a:p>
        </p:txBody>
      </p:sp>
      <p:sp>
        <p:nvSpPr>
          <p:cNvPr id="4" name="Slide Number Placeholder 3"/>
          <p:cNvSpPr>
            <a:spLocks noGrp="1"/>
          </p:cNvSpPr>
          <p:nvPr>
            <p:ph type="sldNum" sz="quarter" idx="5"/>
          </p:nvPr>
        </p:nvSpPr>
        <p:spPr/>
        <p:txBody>
          <a:bodyPr/>
          <a:lstStyle/>
          <a:p>
            <a:fld id="{CE162C7A-CC9D-4035-A213-68F795EB7A2A}" type="slidenum">
              <a:rPr lang="en-IN" smtClean="0"/>
              <a:t>7</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9/27/2026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9/27/2026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9/27/2026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9/27/2026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9/27/2026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9/27/2026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9/27/2026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9/27/2026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9/27/2026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9/27/2026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9/27/2026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1F6EA6A-8FF5-49DF-BDDD-F7431B447D8F}" type="datetime3">
              <a:rPr lang="en-US" smtClean="0"/>
              <a:t>27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F411EB6-9770-43AB-BBCE-044F1DB66B82}" type="datetime3">
              <a:rPr lang="en-US" smtClean="0"/>
              <a:t>27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27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84FAC05-A025-4B8A-AB88-2AE8812F8A48}" type="datetime3">
              <a:rPr lang="en-US" smtClean="0"/>
              <a:t>27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87906D5-6813-455D-BAA0-28A983958C32}" type="datetime3">
              <a:rPr lang="en-US" smtClean="0"/>
              <a:t>27 September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F4309C4-DF5F-4FAA-9214-A2117415D598}" type="datetime3">
              <a:rPr lang="en-US" smtClean="0"/>
              <a:t>27 September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27 September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27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27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30D9772-7494-4C65-A0D8-1FBD740B2E65}" type="datetime3">
              <a:rPr lang="en-US" smtClean="0"/>
              <a:t>27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BB089DC-0019-49C7-8AD2-EF5D896393D8}" type="datetime3">
              <a:rPr lang="en-US" smtClean="0"/>
              <a:t>27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9/27/2026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27 September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www.klh.edu.in/" TargetMode="Externa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hyperlink" Target="https://arxiv.org/search/cs?searchtype=author&amp;query=Shenoy,+A+V" TargetMode="External"/><Relationship Id="rId4" Type="http://schemas.openxmlformats.org/officeDocument/2006/relationships/hyperlink" Target="https://arxiv.org/search/cs?searchtype=author&amp;query=Singhvi,+A" TargetMode="External"/><Relationship Id="rId5" Type="http://schemas.openxmlformats.org/officeDocument/2006/relationships/hyperlink" Target="https://arxiv.org/search/cs?searchtype=author&amp;query=Racha,+S" TargetMode="External"/><Relationship Id="rId6" Type="http://schemas.openxmlformats.org/officeDocument/2006/relationships/hyperlink" Target="https://arxiv.org/search/cs?searchtype=author&amp;query=Tunuguntla,+S" TargetMode="External"/><Relationship Id="rId7" Type="http://schemas.openxmlformats.org/officeDocument/2006/relationships/hyperlink" Target="https://arxiv.org/abs/2209.06346" TargetMode="External"/><Relationship Id="rId8" Type="http://schemas.openxmlformats.org/officeDocument/2006/relationships/hyperlink" Target="https://doi.org/10.1177/17479541221119738" TargetMode="External"/><Relationship Id="rId9" Type="http://schemas.openxmlformats.org/officeDocument/2006/relationships/hyperlink" Target="https://ieeexplore.ieee.org/document/10705216/" TargetMode="External"/><Relationship Id="rId10"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nature.com/articles/s41598-026-36555-6" TargetMode="External"/><Relationship Id="rId3" Type="http://schemas.openxmlformats.org/officeDocument/2006/relationships/hyperlink" Target="https://ieeexplore.ieee.org/document/9198668/" TargetMode="External"/><Relationship Id="rId4" Type="http://schemas.openxmlformats.org/officeDocument/2006/relationships/hyperlink" Target="https://journals.sagepub.com/doi/10.3233/JSA-200580" TargetMode="External"/><Relationship Id="rId5"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19425" y="1036793"/>
            <a:ext cx="6153150" cy="176589"/>
          </a:xfrm>
        </p:spPr>
        <p:txBody>
          <a:bodyPr>
            <a:normAutofit fontScale="90000"/>
          </a:bodyPr>
          <a:lstStyle/>
          <a:p>
            <a:pPr>
              <a:defRPr/>
            </a:pPr>
            <a:br>
              <a:rPr lang="en-US" sz="1350" b="1">
                <a:solidFill>
                  <a:schemeClr val="accent1"/>
                </a:solidFill>
                <a:latin typeface="Times New Roman" pitchFamily="18" charset="0"/>
                <a:cs typeface="Times New Roman" pitchFamily="18" charset="0"/>
              </a:rPr>
            </a:br>
            <a:br>
              <a:rPr lang="en-US" sz="2200" b="1">
                <a:latin typeface="Times New Roman" pitchFamily="18" charset="0"/>
                <a:cs typeface="Times New Roman" pitchFamily="18" charset="0"/>
              </a:rPr>
            </a:br>
            <a:br>
              <a:rPr lang="en-US" sz="1350">
                <a:latin typeface="Times New Roman" pitchFamily="18" charset="0"/>
                <a:cs typeface="Times New Roman" pitchFamily="18" charset="0"/>
              </a:rPr>
            </a:br>
            <a:r>
              <a:rPr lang="en-US" sz="2200">
                <a:latin typeface="Times New Roman" pitchFamily="18" charset="0"/>
                <a:cs typeface="Times New Roman" pitchFamily="18" charset="0"/>
              </a:rPr>
              <a:t> </a:t>
            </a:r>
            <a:br>
              <a:rPr lang="en-US" sz="2200">
                <a:latin typeface="Times New Roman" pitchFamily="18" charset="0"/>
                <a:cs typeface="Times New Roman" pitchFamily="18" charset="0"/>
              </a:rPr>
            </a:br>
            <a:r>
              <a:rPr lang="en-US" sz="2200">
                <a:latin typeface="Times New Roman" pitchFamily="18" charset="0"/>
                <a:cs typeface="Times New Roman" pitchFamily="18" charset="0"/>
              </a:rPr>
              <a:t> </a:t>
            </a:r>
            <a:br>
              <a:rPr lang="en-US" b="1"/>
            </a:br>
            <a:endParaRPr lang="en-US" sz="3000" b="1">
              <a:latin typeface="Times New Roman" pitchFamily="18" charset="0"/>
              <a:cs typeface="Times New Roman" pitchFamily="18" charset="0"/>
            </a:endParaRPr>
          </a:p>
        </p:txBody>
      </p:sp>
      <p:sp>
        <p:nvSpPr>
          <p:cNvPr id="3" name="Subtitle 2"/>
          <p:cNvSpPr>
            <a:spLocks noGrp="1"/>
          </p:cNvSpPr>
          <p:nvPr>
            <p:ph type="subTitle" idx="1"/>
          </p:nvPr>
        </p:nvSpPr>
        <p:spPr>
          <a:xfrm>
            <a:off x="2799704" y="556340"/>
            <a:ext cx="6343650" cy="2799768"/>
          </a:xfrm>
        </p:spPr>
        <p:txBody>
          <a:bodyPr>
            <a:normAutofit fontScale="25000" lnSpcReduction="20000"/>
          </a:bodyPr>
          <a:lstStyle/>
          <a:p>
            <a:pPr>
              <a:lnSpc>
                <a:spcPct val="80000"/>
              </a:lnSpc>
              <a:defRPr/>
            </a:pPr>
            <a:endParaRPr lang="en-US" sz="1500" dirty="0">
              <a:solidFill>
                <a:srgbClr val="0D0D0D"/>
              </a:solidFill>
              <a:latin typeface="Times New Roman" pitchFamily="18" charset="0"/>
              <a:cs typeface="Times New Roman" pitchFamily="18" charset="0"/>
            </a:endParaRPr>
          </a:p>
          <a:p>
            <a:pPr>
              <a:lnSpc>
                <a:spcPct val="80000"/>
              </a:lnSpc>
              <a:defRPr/>
            </a:pPr>
            <a:endParaRPr lang="en-US" sz="6400" b="1" dirty="0">
              <a:latin typeface="Times New Roman" pitchFamily="18" charset="0"/>
              <a:cs typeface="Times New Roman" pitchFamily="18" charset="0"/>
            </a:endParaRPr>
          </a:p>
          <a:p>
            <a:pPr>
              <a:lnSpc>
                <a:spcPct val="80000"/>
              </a:lnSpc>
              <a:defRPr/>
            </a:pPr>
            <a:r>
              <a:rPr lang="en-US" sz="6400" b="1" dirty="0">
                <a:latin typeface="Times New Roman" pitchFamily="18" charset="0"/>
                <a:cs typeface="Times New Roman" pitchFamily="18" charset="0"/>
              </a:rPr>
              <a:t> </a:t>
            </a:r>
            <a:r>
              <a:rPr lang="en-US" sz="8000" b="1" dirty="0">
                <a:latin typeface="Times New Roman" pitchFamily="18" charset="0"/>
                <a:cs typeface="Times New Roman" pitchFamily="18" charset="0"/>
              </a:rPr>
              <a:t>Team members</a:t>
            </a:r>
          </a:p>
          <a:p>
            <a:pPr>
              <a:lnSpc>
                <a:spcPct val="80000"/>
              </a:lnSpc>
              <a:defRPr/>
            </a:pPr>
            <a:endParaRPr lang="en-US" sz="6400" b="1" dirty="0">
              <a:latin typeface="Times New Roman" pitchFamily="18" charset="0"/>
              <a:cs typeface="Times New Roman" pitchFamily="18" charset="0"/>
            </a:endParaRPr>
          </a:p>
          <a:p>
            <a:pPr>
              <a:lnSpc>
                <a:spcPct val="80000"/>
              </a:lnSpc>
              <a:defRPr/>
            </a:pPr>
            <a:endParaRPr lang="en-US" sz="4900" b="1" dirty="0">
              <a:solidFill>
                <a:srgbClr val="00B0F0"/>
              </a:solidFill>
              <a:latin typeface="Times New Roman" pitchFamily="18" charset="0"/>
              <a:cs typeface="Times New Roman" pitchFamily="18" charset="0"/>
            </a:endParaRPr>
          </a:p>
          <a:p>
            <a:pPr algn="just">
              <a:lnSpc>
                <a:spcPct val="80000"/>
              </a:lnSpc>
              <a:defRPr/>
            </a:pPr>
            <a:r>
              <a:rPr lang="en-US" sz="5600" b="1" dirty="0">
                <a:latin typeface="Times New Roman" pitchFamily="18" charset="0"/>
                <a:cs typeface="Times New Roman" pitchFamily="18" charset="0"/>
              </a:rPr>
              <a:t>                                                 Roll No             Name</a:t>
            </a:r>
          </a:p>
          <a:p>
            <a:pPr algn="just">
              <a:lnSpc>
                <a:spcPct val="80000"/>
              </a:lnSpc>
              <a:defRPr/>
            </a:pPr>
            <a:r>
              <a:rPr lang="en-US" sz="5600" b="1" dirty="0">
                <a:latin typeface="Times New Roman" pitchFamily="18" charset="0"/>
                <a:cs typeface="Times New Roman" pitchFamily="18" charset="0"/>
              </a:rPr>
              <a:t>		        </a:t>
            </a:r>
            <a:r>
              <a:rPr lang="en-US" sz="5600" dirty="0">
                <a:latin typeface="Times New Roman" pitchFamily="18" charset="0"/>
                <a:cs typeface="Times New Roman" pitchFamily="18" charset="0"/>
              </a:rPr>
              <a:t>2420030552      P LAHARI</a:t>
            </a:r>
            <a:endParaRPr lang="en-US" sz="5600" b="1" dirty="0">
              <a:latin typeface="Times New Roman" pitchFamily="18" charset="0"/>
              <a:cs typeface="Times New Roman" pitchFamily="18" charset="0"/>
            </a:endParaRPr>
          </a:p>
          <a:p>
            <a:pPr algn="just">
              <a:lnSpc>
                <a:spcPct val="80000"/>
              </a:lnSpc>
              <a:defRPr/>
            </a:pPr>
            <a:r>
              <a:rPr lang="en-US" sz="5600" b="1" dirty="0">
                <a:latin typeface="Times New Roman" pitchFamily="18" charset="0"/>
                <a:cs typeface="Times New Roman" pitchFamily="18" charset="0"/>
              </a:rPr>
              <a:t>		        </a:t>
            </a:r>
            <a:r>
              <a:rPr lang="en-US" sz="5600" dirty="0">
                <a:latin typeface="Times New Roman" pitchFamily="18" charset="0"/>
                <a:cs typeface="Times New Roman" pitchFamily="18" charset="0"/>
              </a:rPr>
              <a:t>2420030009</a:t>
            </a:r>
            <a:r>
              <a:rPr lang="en-US" sz="5600" dirty="0"/>
              <a:t>       </a:t>
            </a:r>
            <a:r>
              <a:rPr lang="en-US" sz="5600" dirty="0">
                <a:latin typeface="Times New Roman" panose="02020603050405020304" pitchFamily="18" charset="0"/>
                <a:cs typeface="Times New Roman" panose="02020603050405020304" pitchFamily="18" charset="0"/>
              </a:rPr>
              <a:t>V. DHRUVA SAI</a:t>
            </a:r>
            <a:endParaRPr lang="en-IN" sz="5600" dirty="0">
              <a:latin typeface="Times New Roman" panose="02020603050405020304" pitchFamily="18" charset="0"/>
              <a:cs typeface="Times New Roman" panose="02020603050405020304" pitchFamily="18" charset="0"/>
            </a:endParaRPr>
          </a:p>
          <a:p>
            <a:pPr algn="just">
              <a:lnSpc>
                <a:spcPct val="80000"/>
              </a:lnSpc>
              <a:defRPr/>
            </a:pPr>
            <a:r>
              <a:rPr lang="en-US" sz="5600" dirty="0">
                <a:latin typeface="Times New Roman" pitchFamily="18" charset="0"/>
                <a:cs typeface="Times New Roman" pitchFamily="18" charset="0"/>
              </a:rPr>
              <a:t>                                                 2420030310      NIKHIL SHREYAS</a:t>
            </a:r>
          </a:p>
          <a:p>
            <a:pPr algn="just"/>
            <a:r>
              <a:rPr lang="en-US" sz="4800" dirty="0">
                <a:latin typeface="Times New Roman" pitchFamily="18" charset="0"/>
                <a:cs typeface="Times New Roman" pitchFamily="18" charset="0"/>
              </a:rPr>
              <a:t>                                                             </a:t>
            </a:r>
            <a:endParaRPr lang="en-US" sz="4200" b="1" dirty="0">
              <a:solidFill>
                <a:srgbClr val="FF0000"/>
              </a:solidFill>
              <a:latin typeface="Times New Roman" pitchFamily="18" charset="0"/>
              <a:cs typeface="Times New Roman" pitchFamily="18" charset="0"/>
            </a:endParaRPr>
          </a:p>
          <a:p>
            <a:pPr>
              <a:lnSpc>
                <a:spcPct val="80000"/>
              </a:lnSpc>
              <a:defRPr/>
            </a:pPr>
            <a:r>
              <a:rPr lang="en-GB" sz="4200" b="1" i="1" dirty="0">
                <a:solidFill>
                  <a:srgbClr val="FF0000"/>
                </a:solidFill>
                <a:latin typeface="Times New Roman" panose="02020603050405020304" pitchFamily="18" charset="0"/>
                <a:ea typeface="Times New Roman" panose="02020603050405020304" pitchFamily="18" charset="0"/>
              </a:rPr>
              <a:t>Under the guidance of </a:t>
            </a:r>
            <a:endParaRPr lang="en-US" sz="4200" dirty="0">
              <a:solidFill>
                <a:srgbClr val="0D0D0D"/>
              </a:solidFill>
              <a:latin typeface="Times New Roman" pitchFamily="18" charset="0"/>
              <a:cs typeface="Times New Roman" pitchFamily="18" charset="0"/>
            </a:endParaRPr>
          </a:p>
          <a:p>
            <a:pPr>
              <a:lnSpc>
                <a:spcPct val="80000"/>
              </a:lnSpc>
              <a:defRPr/>
            </a:pPr>
            <a:r>
              <a:rPr lang="en-US" sz="4200" b="1" dirty="0">
                <a:latin typeface="Times New Roman" panose="02020603050405020304" pitchFamily="18" charset="0"/>
                <a:cs typeface="Times New Roman" panose="02020603050405020304" pitchFamily="18" charset="0"/>
              </a:rPr>
              <a:t>Dr. N Shirisha</a:t>
            </a:r>
          </a:p>
          <a:p>
            <a:pPr>
              <a:lnSpc>
                <a:spcPct val="80000"/>
              </a:lnSpc>
              <a:defRPr/>
            </a:pPr>
            <a:r>
              <a:rPr lang="en-US" sz="4200" b="1" dirty="0">
                <a:latin typeface="Times New Roman" panose="02020603050405020304" pitchFamily="18" charset="0"/>
                <a:cs typeface="Times New Roman" panose="02020603050405020304" pitchFamily="18" charset="0"/>
              </a:rPr>
              <a:t>Associate Professor</a:t>
            </a:r>
          </a:p>
          <a:p>
            <a:pPr>
              <a:lnSpc>
                <a:spcPct val="80000"/>
              </a:lnSpc>
              <a:defRPr/>
            </a:pPr>
            <a:r>
              <a:rPr lang="en-US" sz="5600" b="1" dirty="0">
                <a:solidFill>
                  <a:srgbClr val="0070C0"/>
                </a:solidFill>
                <a:latin typeface="Times New Roman" pitchFamily="18" charset="0"/>
                <a:cs typeface="Times New Roman" pitchFamily="18" charset="0"/>
              </a:rPr>
              <a:t>Department of Computer Science and Engineering</a:t>
            </a:r>
          </a:p>
          <a:p>
            <a:pPr>
              <a:lnSpc>
                <a:spcPct val="80000"/>
              </a:lnSpc>
              <a:defRPr/>
            </a:pPr>
            <a:r>
              <a:rPr lang="en-US" sz="4200" b="1" dirty="0">
                <a:solidFill>
                  <a:srgbClr val="0D0D0D"/>
                </a:solidFill>
                <a:latin typeface="Times New Roman" pitchFamily="18" charset="0"/>
                <a:cs typeface="Times New Roman" pitchFamily="18" charset="0"/>
              </a:rPr>
              <a:t>                                                </a:t>
            </a:r>
            <a:r>
              <a:rPr lang="en-US" sz="4200" dirty="0">
                <a:solidFill>
                  <a:srgbClr val="0D0D0D"/>
                </a:solidFill>
                <a:latin typeface="Times New Roman" pitchFamily="18" charset="0"/>
                <a:cs typeface="Times New Roman" pitchFamily="18" charset="0"/>
              </a:rPr>
              <a:t>                              </a:t>
            </a:r>
            <a:r>
              <a:rPr lang="en-US" sz="1800" dirty="0">
                <a:solidFill>
                  <a:srgbClr val="0D0D0D"/>
                </a:solidFill>
                <a:latin typeface="Times New Roman" pitchFamily="18" charset="0"/>
                <a:cs typeface="Times New Roman" pitchFamily="18" charset="0"/>
              </a:rPr>
              <a:t>                                            </a:t>
            </a:r>
          </a:p>
        </p:txBody>
      </p:sp>
      <p:sp>
        <p:nvSpPr>
          <p:cNvPr id="13" name="TextBox 12">
            <a:extLst>
              <a:ext uri="{FF2B5EF4-FFF2-40B4-BE49-F238E27FC236}">
                <a16:creationId xmlns:a16="http://schemas.microsoft.com/office/drawing/2014/main" id="{BF7BED8D-5B4C-C6AD-A1A2-3B730E16187D}"/>
              </a:ext>
            </a:extLst>
          </p:cNvPr>
          <p:cNvSpPr txBox="1"/>
          <p:nvPr/>
        </p:nvSpPr>
        <p:spPr>
          <a:xfrm>
            <a:off x="2903350" y="5297505"/>
            <a:ext cx="6858000" cy="1047403"/>
          </a:xfrm>
          <a:prstGeom prst="rect">
            <a:avLst/>
          </a:prstGeom>
          <a:noFill/>
        </p:spPr>
        <p:txBody>
          <a:bodyPr wrap="square">
            <a:spAutoFit/>
          </a:bodyPr>
          <a:lstStyle/>
          <a:p>
            <a:pPr algn="ctr">
              <a:lnSpc>
                <a:spcPct val="107000"/>
              </a:lnSpc>
              <a:spcBef>
                <a:spcPts val="1166"/>
              </a:spcBef>
              <a:spcAft>
                <a:spcPts val="600"/>
              </a:spcAft>
            </a:pPr>
            <a:r>
              <a:rPr lang="en-GB" sz="2100" b="1" kern="100">
                <a:latin typeface="Times New Roman" panose="02020603050405020304" pitchFamily="18" charset="0"/>
                <a:ea typeface="Times New Roman" panose="02020603050405020304" pitchFamily="18" charset="0"/>
                <a:cs typeface="Times New Roman" panose="02020603050405020304" pitchFamily="18" charset="0"/>
              </a:rPr>
              <a:t>Koneru </a:t>
            </a:r>
            <a:r>
              <a:rPr lang="en-GB" sz="2100" b="1" kern="100" err="1">
                <a:latin typeface="Times New Roman" panose="02020603050405020304" pitchFamily="18" charset="0"/>
                <a:ea typeface="Times New Roman" panose="02020603050405020304" pitchFamily="18" charset="0"/>
                <a:cs typeface="Times New Roman" panose="02020603050405020304" pitchFamily="18" charset="0"/>
              </a:rPr>
              <a:t>Lakshmaiah</a:t>
            </a:r>
            <a:r>
              <a:rPr lang="en-GB" sz="2100" b="1" kern="100">
                <a:latin typeface="Times New Roman" panose="02020603050405020304" pitchFamily="18" charset="0"/>
                <a:ea typeface="Times New Roman" panose="02020603050405020304" pitchFamily="18" charset="0"/>
                <a:cs typeface="Times New Roman" panose="02020603050405020304" pitchFamily="18" charset="0"/>
              </a:rPr>
              <a:t> Education Foundation</a:t>
            </a:r>
            <a:br>
              <a:rPr lang="en-GB" sz="1350" b="1" kern="100">
                <a:latin typeface="Times New Roman" panose="02020603050405020304" pitchFamily="18" charset="0"/>
                <a:ea typeface="Times New Roman" panose="02020603050405020304" pitchFamily="18" charset="0"/>
                <a:cs typeface="Times New Roman" panose="02020603050405020304" pitchFamily="18" charset="0"/>
              </a:rPr>
            </a:br>
            <a:r>
              <a:rPr lang="en-GB" sz="1350" b="1" kern="100">
                <a:latin typeface="Times New Roman" panose="02020603050405020304" pitchFamily="18" charset="0"/>
                <a:ea typeface="Times New Roman" panose="02020603050405020304" pitchFamily="18" charset="0"/>
                <a:cs typeface="Times New Roman" panose="02020603050405020304" pitchFamily="18" charset="0"/>
              </a:rPr>
              <a:t>(Deemed to be University </a:t>
            </a:r>
            <a:r>
              <a:rPr lang="en-GB" sz="1350" b="1" kern="100" err="1">
                <a:latin typeface="Times New Roman" panose="02020603050405020304" pitchFamily="18" charset="0"/>
                <a:ea typeface="Times New Roman" panose="02020603050405020304" pitchFamily="18" charset="0"/>
                <a:cs typeface="Times New Roman" panose="02020603050405020304" pitchFamily="18" charset="0"/>
              </a:rPr>
              <a:t>estd</a:t>
            </a:r>
            <a:r>
              <a:rPr lang="en-GB" sz="1350" b="1" kern="100">
                <a:latin typeface="Times New Roman" panose="02020603050405020304" pitchFamily="18" charset="0"/>
                <a:ea typeface="Times New Roman" panose="02020603050405020304" pitchFamily="18" charset="0"/>
                <a:cs typeface="Times New Roman" panose="02020603050405020304" pitchFamily="18" charset="0"/>
              </a:rPr>
              <a:t>. u/s. 3 of the UGC Act, 1956)</a:t>
            </a:r>
            <a:br>
              <a:rPr lang="en-GB" sz="1350" b="1" kern="100">
                <a:latin typeface="Times New Roman" panose="02020603050405020304" pitchFamily="18" charset="0"/>
                <a:ea typeface="Times New Roman" panose="02020603050405020304" pitchFamily="18" charset="0"/>
                <a:cs typeface="Times New Roman" panose="02020603050405020304" pitchFamily="18" charset="0"/>
              </a:rPr>
            </a:br>
            <a:r>
              <a:rPr lang="en-GB" sz="1200" b="1" kern="100">
                <a:latin typeface="Times New Roman" panose="02020603050405020304" pitchFamily="18" charset="0"/>
                <a:ea typeface="Times New Roman" panose="02020603050405020304" pitchFamily="18" charset="0"/>
                <a:cs typeface="Times New Roman" panose="02020603050405020304" pitchFamily="18" charset="0"/>
              </a:rPr>
              <a:t>Off-Campus: </a:t>
            </a:r>
            <a:r>
              <a:rPr lang="en-GB" sz="1200" b="1" kern="100" err="1">
                <a:latin typeface="Times New Roman" panose="02020603050405020304" pitchFamily="18" charset="0"/>
                <a:ea typeface="Times New Roman" panose="02020603050405020304" pitchFamily="18" charset="0"/>
                <a:cs typeface="Times New Roman" panose="02020603050405020304" pitchFamily="18" charset="0"/>
              </a:rPr>
              <a:t>Bachupally-Gandimaisamma</a:t>
            </a:r>
            <a:r>
              <a:rPr lang="en-GB" sz="1200" b="1" kern="100">
                <a:latin typeface="Times New Roman" panose="02020603050405020304" pitchFamily="18" charset="0"/>
                <a:ea typeface="Times New Roman" panose="02020603050405020304" pitchFamily="18" charset="0"/>
                <a:cs typeface="Times New Roman" panose="02020603050405020304" pitchFamily="18" charset="0"/>
              </a:rPr>
              <a:t> Road, </a:t>
            </a:r>
            <a:r>
              <a:rPr lang="en-GB" sz="1200" b="1" kern="100" err="1">
                <a:latin typeface="Times New Roman" panose="02020603050405020304" pitchFamily="18" charset="0"/>
                <a:ea typeface="Times New Roman" panose="02020603050405020304" pitchFamily="18" charset="0"/>
                <a:cs typeface="Times New Roman" panose="02020603050405020304" pitchFamily="18" charset="0"/>
              </a:rPr>
              <a:t>Bowrampet</a:t>
            </a:r>
            <a:r>
              <a:rPr lang="en-GB" sz="1200" b="1" kern="100">
                <a:latin typeface="Times New Roman" panose="02020603050405020304" pitchFamily="18" charset="0"/>
                <a:ea typeface="Times New Roman" panose="02020603050405020304" pitchFamily="18" charset="0"/>
                <a:cs typeface="Times New Roman" panose="02020603050405020304" pitchFamily="18" charset="0"/>
              </a:rPr>
              <a:t>, Hyderabad, Telangana - 500 043.</a:t>
            </a:r>
            <a:br>
              <a:rPr lang="en-GB" sz="1200" b="1" kern="100">
                <a:latin typeface="Times New Roman" panose="02020603050405020304" pitchFamily="18" charset="0"/>
                <a:ea typeface="Times New Roman" panose="02020603050405020304" pitchFamily="18" charset="0"/>
                <a:cs typeface="Times New Roman" panose="02020603050405020304" pitchFamily="18" charset="0"/>
              </a:rPr>
            </a:br>
            <a:r>
              <a:rPr lang="en-GB" sz="1200" b="1" kern="100">
                <a:latin typeface="Times New Roman" panose="02020603050405020304" pitchFamily="18" charset="0"/>
                <a:ea typeface="Times New Roman" panose="02020603050405020304" pitchFamily="18" charset="0"/>
                <a:cs typeface="Times New Roman" panose="02020603050405020304" pitchFamily="18" charset="0"/>
              </a:rPr>
              <a:t>Phone No: 7815926816, </a:t>
            </a:r>
            <a:r>
              <a:rPr lang="en-GB" sz="1200" b="1" u="sng" kern="100">
                <a:solidFill>
                  <a:srgbClr val="467886"/>
                </a:solidFill>
                <a:latin typeface="Times New Roman" panose="02020603050405020304" pitchFamily="18" charset="0"/>
                <a:ea typeface="Times New Roman" panose="02020603050405020304" pitchFamily="18" charset="0"/>
                <a:cs typeface="Times New Roman" panose="02020603050405020304" pitchFamily="18" charset="0"/>
                <a:hlinkClick r:id="rId3"/>
              </a:rPr>
              <a:t>www.klh.edu.in</a:t>
            </a:r>
            <a:endParaRPr lang="en-US" sz="1200" kern="100">
              <a:latin typeface="Aptos" panose="020B0004020202020204" pitchFamily="34" charset="0"/>
              <a:ea typeface="Aptos" panose="020B000402020202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A2923E41-97D0-4F6C-49B5-B2194BF28C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58505" y="4357720"/>
            <a:ext cx="1874990" cy="939785"/>
          </a:xfrm>
          <a:prstGeom prst="rect">
            <a:avLst/>
          </a:prstGeom>
          <a:noFill/>
          <a:ln>
            <a:noFill/>
          </a:ln>
        </p:spPr>
      </p:pic>
      <p:sp>
        <p:nvSpPr>
          <p:cNvPr id="7" name="TextBox 6">
            <a:extLst>
              <a:ext uri="{FF2B5EF4-FFF2-40B4-BE49-F238E27FC236}">
                <a16:creationId xmlns:a16="http://schemas.microsoft.com/office/drawing/2014/main" id="{53448101-9BBC-E504-8E34-77B5C29EA187}"/>
              </a:ext>
            </a:extLst>
          </p:cNvPr>
          <p:cNvSpPr txBox="1"/>
          <p:nvPr/>
        </p:nvSpPr>
        <p:spPr>
          <a:xfrm>
            <a:off x="3048646" y="43681"/>
            <a:ext cx="6094708" cy="523220"/>
          </a:xfrm>
          <a:prstGeom prst="rect">
            <a:avLst/>
          </a:prstGeom>
          <a:noFill/>
        </p:spPr>
        <p:txBody>
          <a:bodyPr wrap="square">
            <a:spAutoFit/>
          </a:bodyPr>
          <a:lstStyle/>
          <a:p>
            <a:pPr lvl="0" algn="ctr">
              <a:defRPr/>
            </a:pPr>
            <a:r>
              <a:rPr lang="en-US" sz="2800" b="1">
                <a:latin typeface="Times New Roman" panose="02020603050405020304" pitchFamily="18" charset="0"/>
                <a:cs typeface="Times New Roman" panose="02020603050405020304" pitchFamily="18" charset="0"/>
              </a:rPr>
              <a:t>Evidence-Driven-Game-Engine</a:t>
            </a:r>
            <a:endParaRPr lang="en-IN" sz="360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5253038" y="2925962"/>
            <a:ext cx="6200774" cy="338554"/>
          </a:xfrm>
          <a:prstGeom prst="rect">
            <a:avLst/>
          </a:prstGeom>
          <a:noFill/>
          <a:effectLst>
            <a:glow rad="139700">
              <a:schemeClr val="accent2">
                <a:satMod val="175000"/>
                <a:alpha val="40000"/>
              </a:schemeClr>
            </a:glow>
          </a:effectLst>
        </p:spPr>
        <p:txBody>
          <a:bodyPr wrap="square">
            <a:spAutoFit/>
          </a:bodyPr>
          <a:lstStyle/>
          <a:p>
            <a:pPr lvl="0">
              <a:defRPr/>
            </a:pPr>
            <a:r>
              <a:rPr lang="en-IN" sz="1600" b="1">
                <a:solidFill>
                  <a:srgbClr val="C00000"/>
                </a:solidFill>
                <a:latin typeface="Times New Roman" panose="02020603050405020304" pitchFamily="18" charset="0"/>
                <a:cs typeface="Times New Roman" panose="02020603050405020304" pitchFamily="18" charset="0"/>
              </a:rPr>
              <a:t>Team Members</a:t>
            </a:r>
          </a:p>
        </p:txBody>
      </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r>
              <a:rPr lang="en-US" b="1"/>
              <a:t>Date</a:t>
            </a:r>
            <a:endParaRPr lang="en-IN" b="1"/>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a:t>SOA Project Review-2</a:t>
            </a:r>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defRPr/>
            </a:pPr>
            <a:r>
              <a:rPr lang="en-US" sz="2800" b="1">
                <a:solidFill>
                  <a:schemeClr val="bg1"/>
                </a:solidFill>
                <a:latin typeface="Times New Roman" panose="02020603050405020304" pitchFamily="18" charset="0"/>
                <a:cs typeface="Times New Roman" panose="02020603050405020304" pitchFamily="18" charset="0"/>
              </a:rPr>
              <a:t>Evidence-Driven-Game-Engine</a:t>
            </a:r>
            <a:endParaRPr lang="en-IN" sz="3600">
              <a:solidFill>
                <a:schemeClr val="bg1"/>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584775"/>
          </a:xfrm>
          <a:prstGeom prst="rect">
            <a:avLst/>
          </a:prstGeom>
          <a:noFill/>
        </p:spPr>
        <p:txBody>
          <a:bodyPr wrap="square">
            <a:spAutoFit/>
          </a:bodyPr>
          <a:lstStyle/>
          <a:p>
            <a:pPr lvl="0" algn="ctr">
              <a:defRPr/>
            </a:pPr>
            <a:r>
              <a:rPr lang="en-IN" sz="3200" b="1">
                <a:latin typeface="Times New Roman" panose="02020603050405020304" pitchFamily="18" charset="0"/>
                <a:cs typeface="Times New Roman" panose="02020603050405020304" pitchFamily="18" charset="0"/>
              </a:rPr>
              <a:t>Review-2</a:t>
            </a:r>
          </a:p>
        </p:txBody>
      </p:sp>
      <p:graphicFrame>
        <p:nvGraphicFramePr>
          <p:cNvPr id="2" name="Table 1">
            <a:extLst>
              <a:ext uri="{FF2B5EF4-FFF2-40B4-BE49-F238E27FC236}">
                <a16:creationId xmlns:a16="http://schemas.microsoft.com/office/drawing/2014/main" id="{0BE0ADED-D752-3A08-A07E-DBED3BF5BFC9}"/>
              </a:ext>
            </a:extLst>
          </p:cNvPr>
          <p:cNvGraphicFramePr>
            <a:graphicFrameLocks noGrp="1"/>
          </p:cNvGraphicFramePr>
          <p:nvPr>
            <p:extLst>
              <p:ext uri="{D42A27DB-BD31-4B8C-83A1-F6EECF244321}">
                <p14:modId xmlns:p14="http://schemas.microsoft.com/office/powerpoint/2010/main" val="149249200"/>
              </p:ext>
            </p:extLst>
          </p:nvPr>
        </p:nvGraphicFramePr>
        <p:xfrm>
          <a:off x="2209800" y="3276621"/>
          <a:ext cx="8128000" cy="140579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207094112"/>
                    </a:ext>
                  </a:extLst>
                </a:gridCol>
                <a:gridCol w="4064000">
                  <a:extLst>
                    <a:ext uri="{9D8B030D-6E8A-4147-A177-3AD203B41FA5}">
                      <a16:colId xmlns:a16="http://schemas.microsoft.com/office/drawing/2014/main" val="2687091373"/>
                    </a:ext>
                  </a:extLst>
                </a:gridCol>
              </a:tblGrid>
              <a:tr h="468597">
                <a:tc>
                  <a:txBody>
                    <a:bodyPr/>
                    <a:lstStyle/>
                    <a:p>
                      <a:r>
                        <a:rPr lang="en-US" b="1"/>
                        <a:t>P LAHARI</a:t>
                      </a:r>
                      <a:endParaRPr lang="en-IN" b="1"/>
                    </a:p>
                  </a:txBody>
                  <a:tcPr/>
                </a:tc>
                <a:tc>
                  <a:txBody>
                    <a:bodyPr/>
                    <a:lstStyle/>
                    <a:p>
                      <a:r>
                        <a:rPr lang="en-US" b="1"/>
                        <a:t>2420030552</a:t>
                      </a:r>
                      <a:endParaRPr lang="en-IN" b="1"/>
                    </a:p>
                  </a:txBody>
                  <a:tcPr/>
                </a:tc>
                <a:extLst>
                  <a:ext uri="{0D108BD9-81ED-4DB2-BD59-A6C34878D82A}">
                    <a16:rowId xmlns:a16="http://schemas.microsoft.com/office/drawing/2014/main" val="939106477"/>
                  </a:ext>
                </a:extLst>
              </a:tr>
              <a:tr h="468597">
                <a:tc>
                  <a:txBody>
                    <a:bodyPr/>
                    <a:lstStyle/>
                    <a:p>
                      <a:r>
                        <a:rPr lang="en-US" b="1"/>
                        <a:t>NIKHIL SHREYAS</a:t>
                      </a:r>
                      <a:endParaRPr lang="en-IN" b="1"/>
                    </a:p>
                  </a:txBody>
                  <a:tcPr/>
                </a:tc>
                <a:tc>
                  <a:txBody>
                    <a:bodyPr/>
                    <a:lstStyle/>
                    <a:p>
                      <a:r>
                        <a:rPr lang="en-IN" sz="1800" b="1" kern="1200">
                          <a:solidFill>
                            <a:schemeClr val="dk1"/>
                          </a:solidFill>
                          <a:effectLst/>
                          <a:latin typeface="+mn-lt"/>
                          <a:ea typeface="+mn-ea"/>
                          <a:cs typeface="+mn-cs"/>
                        </a:rPr>
                        <a:t>2420030310</a:t>
                      </a:r>
                      <a:endParaRPr lang="en-IN"/>
                    </a:p>
                  </a:txBody>
                  <a:tcPr/>
                </a:tc>
                <a:extLst>
                  <a:ext uri="{0D108BD9-81ED-4DB2-BD59-A6C34878D82A}">
                    <a16:rowId xmlns:a16="http://schemas.microsoft.com/office/drawing/2014/main" val="4139085253"/>
                  </a:ext>
                </a:extLst>
              </a:tr>
              <a:tr h="468597">
                <a:tc>
                  <a:txBody>
                    <a:bodyPr/>
                    <a:lstStyle/>
                    <a:p>
                      <a:r>
                        <a:rPr lang="en-US" b="1"/>
                        <a:t>DHRUVA SAI</a:t>
                      </a:r>
                      <a:endParaRPr lang="en-IN" b="1"/>
                    </a:p>
                  </a:txBody>
                  <a:tcPr/>
                </a:tc>
                <a:tc>
                  <a:txBody>
                    <a:bodyPr/>
                    <a:lstStyle/>
                    <a:p>
                      <a:r>
                        <a:rPr lang="en-US" b="1"/>
                        <a:t>2420030009</a:t>
                      </a:r>
                      <a:endParaRPr lang="en-IN" b="1"/>
                    </a:p>
                  </a:txBody>
                  <a:tcPr/>
                </a:tc>
                <a:extLst>
                  <a:ext uri="{0D108BD9-81ED-4DB2-BD59-A6C34878D82A}">
                    <a16:rowId xmlns:a16="http://schemas.microsoft.com/office/drawing/2014/main" val="3444130293"/>
                  </a:ext>
                </a:extLst>
              </a:tr>
            </a:tbl>
          </a:graphicData>
        </a:graphic>
      </p:graphicFrame>
    </p:spTree>
    <p:extLst>
      <p:ext uri="{BB962C8B-B14F-4D97-AF65-F5344CB8AC3E}">
        <p14:creationId xmlns:p14="http://schemas.microsoft.com/office/powerpoint/2010/main" val="22476026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3"/>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825B490D-F2B0-4F05-09BC-A6EC821C4B05}"/>
              </a:ext>
            </a:extLst>
          </p:cNvPr>
          <p:cNvSpPr txBox="1"/>
          <p:nvPr/>
        </p:nvSpPr>
        <p:spPr>
          <a:xfrm>
            <a:off x="3597168" y="311275"/>
            <a:ext cx="3363132" cy="707886"/>
          </a:xfrm>
          <a:prstGeom prst="rect">
            <a:avLst/>
          </a:prstGeom>
          <a:noFill/>
        </p:spPr>
        <p:txBody>
          <a:bodyPr wrap="square" rtlCol="0">
            <a:spAutoFit/>
          </a:bodyPr>
          <a:lstStyle/>
          <a:p>
            <a:r>
              <a:rPr lang="en-US" sz="4000" b="1" dirty="0">
                <a:latin typeface="+mj-lt"/>
              </a:rPr>
              <a:t>ABSTRACT</a:t>
            </a:r>
            <a:endParaRPr lang="en-IN" sz="4000" b="1" dirty="0">
              <a:latin typeface="+mj-lt"/>
            </a:endParaRPr>
          </a:p>
        </p:txBody>
      </p:sp>
      <p:sp>
        <p:nvSpPr>
          <p:cNvPr id="6" name="TextBox 5"/>
          <p:cNvSpPr txBox="1"/>
          <p:nvPr/>
        </p:nvSpPr>
        <p:spPr>
          <a:xfrm>
            <a:off x="921099" y="1455668"/>
            <a:ext cx="8715270" cy="4592881"/>
          </a:xfrm>
          <a:prstGeom prst="rect">
            <a:avLst/>
          </a:prstGeom>
          <a:noFill/>
        </p:spPr>
        <p:txBody>
          <a:bodyPr wrap="square" anchor="ctr">
            <a:noAutofit/>
          </a:bodyPr>
          <a:lstStyle/>
          <a:p>
            <a:pPr marL="285750" indent="-285750">
              <a:buFont typeface="Arial" panose="020B0604020202020204" pitchFamily="34" charset="0"/>
              <a:buChar char="•"/>
            </a:pPr>
            <a:r>
              <a:rPr lang="en-US" dirty="0">
                <a:latin typeface="+mj-lt"/>
                <a:cs typeface="Arial" panose="020B0604020202020204" pitchFamily="34" charset="0"/>
              </a:rPr>
              <a:t>Cricket generates enormous ball-by-ball data, but most of it stays locked in raw scorecards, leaving deeper insight largely unexplored.</a:t>
            </a:r>
          </a:p>
          <a:p>
            <a:pPr marL="285750" indent="-285750">
              <a:buFont typeface="Arial" panose="020B0604020202020204" pitchFamily="34" charset="0"/>
              <a:buChar char="•"/>
            </a:pPr>
            <a:r>
              <a:rPr lang="en-US" dirty="0">
                <a:latin typeface="+mj-lt"/>
                <a:cs typeface="Arial" panose="020B0604020202020204" pitchFamily="34" charset="0"/>
              </a:rPr>
              <a:t>EDGE — Evidence-Driven Game Engine turns this raw data into simple, actionable insights through an AI-powered cricket intelligence platform.</a:t>
            </a:r>
          </a:p>
          <a:p>
            <a:pPr marL="285750" indent="-285750">
              <a:buFont typeface="Arial" panose="020B0604020202020204" pitchFamily="34" charset="0"/>
              <a:buChar char="•"/>
            </a:pPr>
            <a:r>
              <a:rPr lang="en-US" dirty="0">
                <a:latin typeface="+mj-lt"/>
                <a:cs typeface="Arial" panose="020B0604020202020204" pitchFamily="34" charset="0"/>
              </a:rPr>
              <a:t>Built on 800,000+ deliveries, 5,000+ player profiles, and 4,500+ matches spanning multiple formats and years.</a:t>
            </a:r>
          </a:p>
          <a:p>
            <a:pPr marL="285750" indent="-285750">
              <a:buFont typeface="Arial" panose="020B0604020202020204" pitchFamily="34" charset="0"/>
              <a:buChar char="•"/>
            </a:pPr>
            <a:r>
              <a:rPr lang="en-US" dirty="0">
                <a:latin typeface="+mj-lt"/>
                <a:cs typeface="Arial" panose="020B0604020202020204" pitchFamily="34" charset="0"/>
              </a:rPr>
              <a:t>AI Match Situation Advisor and Bowling Change Recommender deliver tactical, decision-support insights without requiring data expertise.</a:t>
            </a:r>
          </a:p>
          <a:p>
            <a:pPr marL="285750" indent="-285750">
              <a:buFont typeface="Arial" panose="020B0604020202020204" pitchFamily="34" charset="0"/>
              <a:buChar char="•"/>
            </a:pPr>
            <a:r>
              <a:rPr lang="en-US" dirty="0">
                <a:latin typeface="+mj-lt"/>
                <a:cs typeface="Arial" panose="020B0604020202020204" pitchFamily="34" charset="0"/>
              </a:rPr>
              <a:t>Supported by the Live Match Centre, ICC Rankings, IPL Franchise Intelligence Hub, and a chase win-probability simulator.</a:t>
            </a:r>
          </a:p>
          <a:p>
            <a:pPr marL="285750" indent="-285750">
              <a:buFont typeface="Arial" panose="020B0604020202020204" pitchFamily="34" charset="0"/>
              <a:buChar char="•"/>
            </a:pPr>
            <a:r>
              <a:rPr lang="en-US" dirty="0">
                <a:latin typeface="+mj-lt"/>
                <a:cs typeface="Arial" panose="020B0604020202020204" pitchFamily="34" charset="0"/>
              </a:rPr>
              <a:t>A structured, repeatable data pipeline keeps information current, letting new seasons be added seamlessly as the platform grows.</a:t>
            </a:r>
          </a:p>
          <a:p>
            <a:pPr marL="285750" lvl="0" indent="-285750" eaLnBrk="0" fontAlgn="base" hangingPunct="0">
              <a:spcBef>
                <a:spcPct val="0"/>
              </a:spcBef>
              <a:spcAft>
                <a:spcPct val="0"/>
              </a:spcAft>
              <a:buFont typeface="Arial" panose="020B0604020202020204" pitchFamily="34" charset="0"/>
              <a:buChar char="•"/>
            </a:pPr>
            <a:r>
              <a:rPr lang="en-US" altLang="en-US" dirty="0">
                <a:latin typeface="+mj-lt"/>
              </a:rPr>
              <a:t>An interactive interface with AI-generated player biographies and leaderboard visualizations lets fans and analysts explore player careers in more depth. </a:t>
            </a:r>
          </a:p>
          <a:p>
            <a:pPr marL="285750" lvl="0" indent="-285750" eaLnBrk="0" fontAlgn="base" hangingPunct="0">
              <a:spcBef>
                <a:spcPct val="0"/>
              </a:spcBef>
              <a:spcAft>
                <a:spcPct val="0"/>
              </a:spcAft>
              <a:buFont typeface="Arial" panose="020B0604020202020204" pitchFamily="34" charset="0"/>
              <a:buChar char="•"/>
            </a:pPr>
            <a:r>
              <a:rPr lang="en-US" altLang="en-US" dirty="0">
                <a:latin typeface="+mj-lt"/>
              </a:rPr>
              <a:t>Future enhancements include real-time ball-by-ball ingestion, advanced predictive analytics, and dedicated player-performance prediction models. </a:t>
            </a:r>
          </a:p>
          <a:p>
            <a:pPr marL="285750" indent="-285750">
              <a:buFont typeface="Arial"/>
              <a:buChar char="•"/>
            </a:pPr>
            <a:endParaRPr lang="en-US" altLang="en-US" dirty="0">
              <a:latin typeface="+mj-lt"/>
              <a:cs typeface="Arial" panose="020B0604020202020204" pitchFamily="34" charset="0"/>
            </a:endParaRPr>
          </a:p>
          <a:p>
            <a:endParaRPr lang="en-US" dirty="0">
              <a:solidFill>
                <a:srgbClr val="3B3B3B"/>
              </a:solidFill>
              <a:latin typeface="+mj-lt"/>
            </a:endParaRPr>
          </a:p>
        </p:txBody>
      </p:sp>
    </p:spTree>
    <p:extLst>
      <p:ext uri="{BB962C8B-B14F-4D97-AF65-F5344CB8AC3E}">
        <p14:creationId xmlns:p14="http://schemas.microsoft.com/office/powerpoint/2010/main" val="18439377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048000" y="469169"/>
            <a:ext cx="6096000" cy="646331"/>
          </a:xfrm>
          <a:prstGeom prst="rect">
            <a:avLst/>
          </a:prstGeom>
          <a:noFill/>
        </p:spPr>
        <p:txBody>
          <a:bodyPr wrap="square">
            <a:spAutoFit/>
          </a:bodyPr>
          <a:lstStyle/>
          <a:p>
            <a:pPr algn="ctr"/>
            <a:r>
              <a:rPr lang="en-US" sz="3600" b="1" dirty="0">
                <a:latin typeface="+mj-lt"/>
              </a:rPr>
              <a:t>INTRODUCTION</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3"/>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48686CB1-9343-5D3C-F3CB-461B15B15FB5}"/>
              </a:ext>
            </a:extLst>
          </p:cNvPr>
          <p:cNvSpPr txBox="1"/>
          <p:nvPr/>
        </p:nvSpPr>
        <p:spPr>
          <a:xfrm>
            <a:off x="809672" y="1323277"/>
            <a:ext cx="9849173" cy="5065554"/>
          </a:xfrm>
          <a:prstGeom prst="rect">
            <a:avLst/>
          </a:prstGeom>
          <a:noFill/>
        </p:spPr>
        <p:txBody>
          <a:bodyPr wrap="square">
            <a:normAutofit/>
          </a:bodyPr>
          <a:lstStyle/>
          <a:p>
            <a:pPr marL="285750" indent="-285750">
              <a:buFont typeface="Arial"/>
              <a:buChar char="•"/>
            </a:pPr>
            <a:r>
              <a:rPr lang="en-IN" b="1" dirty="0">
                <a:solidFill>
                  <a:srgbClr val="156082"/>
                </a:solidFill>
                <a:latin typeface="+mj-lt"/>
              </a:rPr>
              <a:t>Background</a:t>
            </a:r>
          </a:p>
          <a:p>
            <a:pPr marL="285750" indent="0" algn="just">
              <a:buNone/>
            </a:pPr>
            <a:r>
              <a:rPr lang="en-IN" sz="1600" dirty="0">
                <a:latin typeface="+mj-lt"/>
              </a:rPr>
              <a:t>Cricket produces a huge amount of structured and unstructured data every match, but this has traditionally been used only for scorecards and basic leaderboards, leaving most valuable insight unexplored. Growth in fantasy sports, franchise scouting, and fan engagement is driving demand for simple, accessible analytics.</a:t>
            </a:r>
          </a:p>
          <a:p>
            <a:pPr marL="285750" indent="-285750">
              <a:buFont typeface="Arial"/>
              <a:buChar char="•"/>
            </a:pPr>
            <a:r>
              <a:rPr lang="en-IN" b="1" dirty="0">
                <a:solidFill>
                  <a:srgbClr val="156082"/>
                </a:solidFill>
                <a:latin typeface="+mj-lt"/>
              </a:rPr>
              <a:t>Project Goal</a:t>
            </a:r>
          </a:p>
          <a:p>
            <a:pPr marL="285750" indent="0" algn="just">
              <a:buNone/>
            </a:pPr>
            <a:r>
              <a:rPr lang="en-IN" sz="1600" dirty="0">
                <a:latin typeface="+mj-lt"/>
              </a:rPr>
              <a:t>"EDGE — Evidence-Driven Game Engine" converts ball-by-ball data into actionable insight through a data pipeline and web app that collects, processes, and analyses large-scale cricket data, calculates key statistics, shows live match information, and uses generative AI for understandable tactical recommendations — without requiring users to have data or cricket expertise.</a:t>
            </a:r>
          </a:p>
          <a:p>
            <a:pPr marL="285750" indent="-285750">
              <a:buFont typeface="Arial"/>
              <a:buChar char="•"/>
            </a:pPr>
            <a:r>
              <a:rPr lang="en-IN" b="1" dirty="0">
                <a:solidFill>
                  <a:srgbClr val="156082"/>
                </a:solidFill>
                <a:latin typeface="+mj-lt"/>
              </a:rPr>
              <a:t>Implementation</a:t>
            </a:r>
          </a:p>
          <a:p>
            <a:pPr marL="285750" indent="0" algn="just">
              <a:buNone/>
            </a:pPr>
            <a:r>
              <a:rPr lang="en-IN" sz="1600" dirty="0">
                <a:latin typeface="+mj-lt"/>
              </a:rPr>
              <a:t>PostgreSQL with Prisma ORM stores structured cricket data, while a Python-based ETL pipeline extracts, cleans, transforms, and loads </a:t>
            </a:r>
            <a:r>
              <a:rPr lang="en-IN" sz="1600" dirty="0" err="1">
                <a:latin typeface="+mj-lt"/>
              </a:rPr>
              <a:t>Cricsheet</a:t>
            </a:r>
            <a:r>
              <a:rPr lang="en-IN" sz="1600" dirty="0">
                <a:latin typeface="+mj-lt"/>
              </a:rPr>
              <a:t> JSON files and career statistics. Live information comes from </a:t>
            </a:r>
            <a:r>
              <a:rPr lang="en-IN" sz="1600" dirty="0" err="1">
                <a:latin typeface="+mj-lt"/>
              </a:rPr>
              <a:t>CricAPI</a:t>
            </a:r>
            <a:r>
              <a:rPr lang="en-IN" sz="1600" dirty="0">
                <a:latin typeface="+mj-lt"/>
              </a:rPr>
              <a:t> and </a:t>
            </a:r>
            <a:r>
              <a:rPr lang="en-IN" sz="1600" dirty="0" err="1">
                <a:latin typeface="+mj-lt"/>
              </a:rPr>
              <a:t>RapidAPI</a:t>
            </a:r>
            <a:r>
              <a:rPr lang="en-IN" sz="1600" dirty="0">
                <a:latin typeface="+mj-lt"/>
              </a:rPr>
              <a:t>, and Google Gemini with Anthropic Claude provide AI-based match analysis and recommendations.</a:t>
            </a:r>
          </a:p>
          <a:p>
            <a:pPr marL="285750" indent="-285750">
              <a:buFont typeface="Arial"/>
              <a:buChar char="•"/>
            </a:pPr>
            <a:r>
              <a:rPr lang="en-IN" b="1" dirty="0">
                <a:solidFill>
                  <a:srgbClr val="156082"/>
                </a:solidFill>
                <a:latin typeface="+mj-lt"/>
              </a:rPr>
              <a:t>Motivation</a:t>
            </a:r>
          </a:p>
          <a:p>
            <a:pPr marL="285750" indent="0" algn="just">
              <a:buNone/>
            </a:pPr>
            <a:r>
              <a:rPr lang="en-IN" sz="1600" dirty="0">
                <a:latin typeface="+mj-lt"/>
              </a:rPr>
              <a:t>Fans, fantasy users, and analysts rely on scattered sources — scorecards, stats, rankings, news — that rarely combine historical data, live match state, and AI reasoning in one place. Manually analysing thousands of ball-by-ball records is slow and needs domain expertise; EDGE reduces this complexity through one interactive platform.</a:t>
            </a:r>
          </a:p>
        </p:txBody>
      </p:sp>
    </p:spTree>
    <p:extLst>
      <p:ext uri="{BB962C8B-B14F-4D97-AF65-F5344CB8AC3E}">
        <p14:creationId xmlns:p14="http://schemas.microsoft.com/office/powerpoint/2010/main" val="39177829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E4083-5144-8A90-EF65-453F0D9526B5}"/>
              </a:ext>
            </a:extLst>
          </p:cNvPr>
          <p:cNvSpPr>
            <a:spLocks noGrp="1"/>
          </p:cNvSpPr>
          <p:nvPr>
            <p:ph type="title"/>
          </p:nvPr>
        </p:nvSpPr>
        <p:spPr>
          <a:xfrm>
            <a:off x="122582" y="-121892"/>
            <a:ext cx="10515600" cy="1325563"/>
          </a:xfrm>
        </p:spPr>
        <p:txBody>
          <a:bodyPr>
            <a:normAutofit/>
          </a:bodyPr>
          <a:lstStyle/>
          <a:p>
            <a:pPr algn="ctr"/>
            <a:r>
              <a:rPr lang="en-IN" sz="3600" b="1" dirty="0"/>
              <a:t>OBJECTIVES</a:t>
            </a:r>
          </a:p>
        </p:txBody>
      </p:sp>
      <p:sp>
        <p:nvSpPr>
          <p:cNvPr id="6" name="Rectangle 3">
            <a:extLst>
              <a:ext uri="{FF2B5EF4-FFF2-40B4-BE49-F238E27FC236}">
                <a16:creationId xmlns:a16="http://schemas.microsoft.com/office/drawing/2014/main" id="{B54944FC-8C58-3618-980D-1A4EAC999D59}"/>
              </a:ext>
            </a:extLst>
          </p:cNvPr>
          <p:cNvSpPr>
            <a:spLocks noGrp="1" noChangeArrowheads="1"/>
          </p:cNvSpPr>
          <p:nvPr>
            <p:ph idx="1"/>
          </p:nvPr>
        </p:nvSpPr>
        <p:spPr bwMode="auto">
          <a:xfrm>
            <a:off x="312420" y="1438004"/>
            <a:ext cx="11567160" cy="4731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1800" dirty="0">
                <a:latin typeface="+mj-lt"/>
              </a:rPr>
              <a:t>• </a:t>
            </a:r>
            <a:r>
              <a:rPr lang="en-US" sz="1800" b="1" dirty="0">
                <a:latin typeface="+mj-lt"/>
              </a:rPr>
              <a:t>Develop EDGE</a:t>
            </a:r>
            <a:r>
              <a:rPr lang="en-US" sz="1800" dirty="0">
                <a:latin typeface="+mj-lt"/>
              </a:rPr>
              <a:t> as an AI-powered cricket intelligence platform that transforms raw ball-by-ball data into meaningful and actionable insights.</a:t>
            </a:r>
          </a:p>
          <a:p>
            <a:pPr marL="0" indent="0">
              <a:buNone/>
            </a:pPr>
            <a:r>
              <a:rPr lang="en-US" sz="1800" dirty="0">
                <a:latin typeface="+mj-lt"/>
              </a:rPr>
              <a:t>• </a:t>
            </a:r>
            <a:r>
              <a:rPr lang="en-US" sz="1800" b="1" dirty="0">
                <a:latin typeface="+mj-lt"/>
              </a:rPr>
              <a:t>Integrate historical and live cricket data</a:t>
            </a:r>
            <a:r>
              <a:rPr lang="en-US" sz="1800" dirty="0">
                <a:latin typeface="+mj-lt"/>
              </a:rPr>
              <a:t> from multiple sources, covering matches, players, teams, and different cricket formats.</a:t>
            </a:r>
          </a:p>
          <a:p>
            <a:pPr marL="0" indent="0">
              <a:buNone/>
            </a:pPr>
            <a:r>
              <a:rPr lang="en-US" sz="1800" dirty="0">
                <a:latin typeface="+mj-lt"/>
              </a:rPr>
              <a:t>• </a:t>
            </a:r>
            <a:r>
              <a:rPr lang="en-US" sz="1800" b="1" dirty="0">
                <a:latin typeface="+mj-lt"/>
              </a:rPr>
              <a:t>Build a structured ETL pipeline</a:t>
            </a:r>
            <a:r>
              <a:rPr lang="en-US" sz="1800" dirty="0">
                <a:latin typeface="+mj-lt"/>
              </a:rPr>
              <a:t> to collect, clean, transform, validate, and efficiently store large-scale cricket datasets.</a:t>
            </a:r>
          </a:p>
          <a:p>
            <a:pPr marL="0" indent="0">
              <a:buNone/>
            </a:pPr>
            <a:r>
              <a:rPr lang="en-US" sz="1800" dirty="0">
                <a:latin typeface="+mj-lt"/>
              </a:rPr>
              <a:t>• </a:t>
            </a:r>
            <a:r>
              <a:rPr lang="en-US" sz="1800" b="1" dirty="0" err="1">
                <a:latin typeface="+mj-lt"/>
              </a:rPr>
              <a:t>Analyse</a:t>
            </a:r>
            <a:r>
              <a:rPr lang="en-US" sz="1800" b="1" dirty="0">
                <a:latin typeface="+mj-lt"/>
              </a:rPr>
              <a:t> ball-by-ball match data</a:t>
            </a:r>
            <a:r>
              <a:rPr lang="en-US" sz="1800" dirty="0">
                <a:latin typeface="+mj-lt"/>
              </a:rPr>
              <a:t> to identify player performance, team trends, match patterns, and important match-state features.</a:t>
            </a:r>
          </a:p>
          <a:p>
            <a:pPr marL="0" indent="0">
              <a:buNone/>
            </a:pPr>
            <a:r>
              <a:rPr lang="en-US" sz="1800" dirty="0">
                <a:latin typeface="+mj-lt"/>
              </a:rPr>
              <a:t>• </a:t>
            </a:r>
            <a:r>
              <a:rPr lang="en-US" sz="1800" b="1" dirty="0">
                <a:latin typeface="+mj-lt"/>
              </a:rPr>
              <a:t>Develop AI-powered decision support</a:t>
            </a:r>
            <a:r>
              <a:rPr lang="en-US" sz="1800" dirty="0">
                <a:latin typeface="+mj-lt"/>
              </a:rPr>
              <a:t> through Match Situation Advisor and Bowling Change Recommender for contextual tactical insights.</a:t>
            </a:r>
          </a:p>
          <a:p>
            <a:pPr marL="0" indent="0">
              <a:buNone/>
            </a:pPr>
            <a:r>
              <a:rPr lang="en-US" sz="1800" dirty="0">
                <a:latin typeface="+mj-lt"/>
              </a:rPr>
              <a:t>• </a:t>
            </a:r>
            <a:r>
              <a:rPr lang="en-US" sz="1800" b="1" dirty="0">
                <a:latin typeface="+mj-lt"/>
              </a:rPr>
              <a:t>Provide real-time cricket intelligence</a:t>
            </a:r>
            <a:r>
              <a:rPr lang="en-US" sz="1800" dirty="0">
                <a:latin typeface="+mj-lt"/>
              </a:rPr>
              <a:t> by combining live match conditions with historical data and win-probability analysis.</a:t>
            </a:r>
          </a:p>
          <a:p>
            <a:pPr marL="0" indent="0">
              <a:buNone/>
            </a:pPr>
            <a:r>
              <a:rPr lang="en-US" sz="1800" dirty="0">
                <a:latin typeface="+mj-lt"/>
              </a:rPr>
              <a:t>• </a:t>
            </a:r>
            <a:r>
              <a:rPr lang="en-US" sz="1800" b="1" dirty="0">
                <a:latin typeface="+mj-lt"/>
              </a:rPr>
              <a:t>Deliver an interactive platform</a:t>
            </a:r>
            <a:r>
              <a:rPr lang="en-US" sz="1800" dirty="0">
                <a:latin typeface="+mj-lt"/>
              </a:rPr>
              <a:t> with Live Match Centre, rankings, player profiles, franchise insights, visualizations, and AI-generated explanations.</a:t>
            </a:r>
          </a:p>
          <a:p>
            <a:pPr marL="0" indent="0">
              <a:buNone/>
            </a:pPr>
            <a:r>
              <a:rPr lang="en-US" sz="1800" dirty="0">
                <a:latin typeface="+mj-lt"/>
              </a:rPr>
              <a:t>• </a:t>
            </a:r>
            <a:r>
              <a:rPr lang="en-US" sz="1800" b="1" dirty="0">
                <a:latin typeface="+mj-lt"/>
              </a:rPr>
              <a:t>Create a scalable foundation</a:t>
            </a:r>
            <a:r>
              <a:rPr lang="en-US" sz="1800" dirty="0">
                <a:latin typeface="+mj-lt"/>
              </a:rPr>
              <a:t> that can support new seasons, leagues, formats, real-time ingestion, and advanced predictive analytics.</a:t>
            </a:r>
          </a:p>
        </p:txBody>
      </p:sp>
    </p:spTree>
    <p:extLst>
      <p:ext uri="{BB962C8B-B14F-4D97-AF65-F5344CB8AC3E}">
        <p14:creationId xmlns:p14="http://schemas.microsoft.com/office/powerpoint/2010/main" val="5956421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1034408885"/>
              </p:ext>
            </p:extLst>
          </p:nvPr>
        </p:nvGraphicFramePr>
        <p:xfrm>
          <a:off x="274646" y="709130"/>
          <a:ext cx="11642695" cy="4639054"/>
        </p:xfrm>
        <a:graphic>
          <a:graphicData uri="http://schemas.openxmlformats.org/drawingml/2006/table">
            <a:tbl>
              <a:tblPr firstRow="1" bandRow="1">
                <a:tableStyleId>{BC89EF96-8CEA-46FF-86C4-4CE0E7609802}</a:tableStyleId>
              </a:tblPr>
              <a:tblGrid>
                <a:gridCol w="1711739">
                  <a:extLst>
                    <a:ext uri="{9D8B030D-6E8A-4147-A177-3AD203B41FA5}">
                      <a16:colId xmlns:a16="http://schemas.microsoft.com/office/drawing/2014/main" val="20001"/>
                    </a:ext>
                  </a:extLst>
                </a:gridCol>
                <a:gridCol w="2167280">
                  <a:extLst>
                    <a:ext uri="{9D8B030D-6E8A-4147-A177-3AD203B41FA5}">
                      <a16:colId xmlns:a16="http://schemas.microsoft.com/office/drawing/2014/main" val="20002"/>
                    </a:ext>
                  </a:extLst>
                </a:gridCol>
                <a:gridCol w="2549833">
                  <a:extLst>
                    <a:ext uri="{9D8B030D-6E8A-4147-A177-3AD203B41FA5}">
                      <a16:colId xmlns:a16="http://schemas.microsoft.com/office/drawing/2014/main" val="20003"/>
                    </a:ext>
                  </a:extLst>
                </a:gridCol>
                <a:gridCol w="2348130">
                  <a:extLst>
                    <a:ext uri="{9D8B030D-6E8A-4147-A177-3AD203B41FA5}">
                      <a16:colId xmlns:a16="http://schemas.microsoft.com/office/drawing/2014/main" val="20004"/>
                    </a:ext>
                  </a:extLst>
                </a:gridCol>
                <a:gridCol w="2865713">
                  <a:extLst>
                    <a:ext uri="{9D8B030D-6E8A-4147-A177-3AD203B41FA5}">
                      <a16:colId xmlns:a16="http://schemas.microsoft.com/office/drawing/2014/main" val="1396003017"/>
                    </a:ext>
                  </a:extLst>
                </a:gridCol>
              </a:tblGrid>
              <a:tr h="387917">
                <a:tc>
                  <a:txBody>
                    <a:bodyPr/>
                    <a:lstStyle/>
                    <a:p>
                      <a:pPr algn="ctr">
                        <a:buNone/>
                      </a:pPr>
                      <a:r>
                        <a:rPr lang="en-US">
                          <a:latin typeface="Times New Roman" pitchFamily="18" charset="0"/>
                          <a:cs typeface="Times New Roman" pitchFamily="18" charset="0"/>
                        </a:rPr>
                        <a:t>Authors</a:t>
                      </a: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atin typeface="Times New Roman" pitchFamily="18" charset="0"/>
                          <a:cs typeface="Times New Roman" pitchFamily="18" charset="0"/>
                        </a:rPr>
                        <a:t>Title of the Paper</a:t>
                      </a:r>
                    </a:p>
                  </a:txBody>
                  <a:tcPr>
                    <a:solidFill>
                      <a:srgbClr val="FFFF00"/>
                    </a:solidFill>
                  </a:tcPr>
                </a:tc>
                <a:tc>
                  <a:txBody>
                    <a:bodyPr/>
                    <a:lstStyle/>
                    <a:p>
                      <a:pPr algn="ctr">
                        <a:buNone/>
                      </a:pPr>
                      <a:r>
                        <a:rPr lang="en-US">
                          <a:latin typeface="Times New Roman" pitchFamily="18" charset="0"/>
                          <a:cs typeface="Times New Roman" pitchFamily="18" charset="0"/>
                        </a:rPr>
                        <a:t>Link for reference</a:t>
                      </a:r>
                    </a:p>
                  </a:txBody>
                  <a:tcPr>
                    <a:solidFill>
                      <a:srgbClr val="FFFF00"/>
                    </a:solidFill>
                  </a:tcPr>
                </a:tc>
                <a:tc>
                  <a:txBody>
                    <a:bodyPr/>
                    <a:lstStyle/>
                    <a:p>
                      <a:pPr algn="ctr">
                        <a:buNone/>
                      </a:pPr>
                      <a:r>
                        <a:rPr lang="en-US">
                          <a:latin typeface="Times New Roman" pitchFamily="18" charset="0"/>
                          <a:cs typeface="Times New Roman" pitchFamily="18" charset="0"/>
                        </a:rPr>
                        <a:t>Drawbacks</a:t>
                      </a:r>
                    </a:p>
                  </a:txBody>
                  <a:tcPr>
                    <a:solidFill>
                      <a:srgbClr val="FFFF00"/>
                    </a:solidFill>
                  </a:tcPr>
                </a:tc>
                <a:tc>
                  <a:txBody>
                    <a:bodyPr/>
                    <a:lstStyle/>
                    <a:p>
                      <a:pPr algn="ctr">
                        <a:buNone/>
                      </a:pPr>
                      <a:r>
                        <a:rPr lang="en-US">
                          <a:latin typeface="Times New Roman" pitchFamily="18" charset="0"/>
                          <a:cs typeface="Times New Roman" pitchFamily="18" charset="0"/>
                        </a:rPr>
                        <a:t>Future work</a:t>
                      </a:r>
                    </a:p>
                  </a:txBody>
                  <a:tcPr>
                    <a:solidFill>
                      <a:srgbClr val="FFFF00"/>
                    </a:solidFill>
                  </a:tcPr>
                </a:tc>
                <a:extLst>
                  <a:ext uri="{0D108BD9-81ED-4DB2-BD59-A6C34878D82A}">
                    <a16:rowId xmlns:a16="http://schemas.microsoft.com/office/drawing/2014/main" val="10000"/>
                  </a:ext>
                </a:extLst>
              </a:tr>
              <a:tr h="15419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0" i="0" u="none" strike="noStrike" kern="1200">
                          <a:solidFill>
                            <a:schemeClr val="tx1"/>
                          </a:solidFill>
                          <a:effectLst/>
                          <a:latin typeface="+mn-lt"/>
                          <a:ea typeface="+mn-ea"/>
                          <a:cs typeface="+mn-cs"/>
                          <a:hlinkClick r:id="rId3"/>
                        </a:rPr>
                        <a:t>Ashish V Shenoy</a:t>
                      </a:r>
                      <a:r>
                        <a:rPr lang="en-IN" sz="1200" b="0" i="0" kern="1200">
                          <a:solidFill>
                            <a:schemeClr val="tx1"/>
                          </a:solidFill>
                          <a:effectLst/>
                          <a:latin typeface="+mn-lt"/>
                          <a:ea typeface="+mn-ea"/>
                          <a:cs typeface="+mn-cs"/>
                        </a:rPr>
                        <a:t>, </a:t>
                      </a:r>
                      <a:r>
                        <a:rPr lang="en-IN" sz="1200" b="0" i="0" u="none" strike="noStrike" kern="1200">
                          <a:solidFill>
                            <a:schemeClr val="tx1"/>
                          </a:solidFill>
                          <a:effectLst/>
                          <a:latin typeface="+mn-lt"/>
                          <a:ea typeface="+mn-ea"/>
                          <a:cs typeface="+mn-cs"/>
                          <a:hlinkClick r:id="rId4"/>
                        </a:rPr>
                        <a:t>Arjun Singhvi</a:t>
                      </a:r>
                      <a:r>
                        <a:rPr lang="en-IN" sz="1200" b="0" i="0" kern="1200">
                          <a:solidFill>
                            <a:schemeClr val="tx1"/>
                          </a:solidFill>
                          <a:effectLst/>
                          <a:latin typeface="+mn-lt"/>
                          <a:ea typeface="+mn-ea"/>
                          <a:cs typeface="+mn-cs"/>
                        </a:rPr>
                        <a:t>, </a:t>
                      </a:r>
                      <a:r>
                        <a:rPr lang="en-IN" sz="1200" b="0" i="0" u="none" strike="noStrike" kern="1200">
                          <a:solidFill>
                            <a:schemeClr val="tx1"/>
                          </a:solidFill>
                          <a:effectLst/>
                          <a:latin typeface="+mn-lt"/>
                          <a:ea typeface="+mn-ea"/>
                          <a:cs typeface="+mn-cs"/>
                          <a:hlinkClick r:id="rId5"/>
                        </a:rPr>
                        <a:t>Shruthi Racha</a:t>
                      </a:r>
                      <a:r>
                        <a:rPr lang="en-IN" sz="1200" b="0" i="0" kern="1200">
                          <a:solidFill>
                            <a:schemeClr val="tx1"/>
                          </a:solidFill>
                          <a:effectLst/>
                          <a:latin typeface="+mn-lt"/>
                          <a:ea typeface="+mn-ea"/>
                          <a:cs typeface="+mn-cs"/>
                        </a:rPr>
                        <a:t>, </a:t>
                      </a:r>
                      <a:r>
                        <a:rPr lang="en-IN" sz="1200" b="0" i="0" u="none" strike="noStrike" kern="1200">
                          <a:solidFill>
                            <a:schemeClr val="tx1"/>
                          </a:solidFill>
                          <a:effectLst/>
                          <a:latin typeface="+mn-lt"/>
                          <a:ea typeface="+mn-ea"/>
                          <a:cs typeface="+mn-cs"/>
                          <a:hlinkClick r:id="rId6"/>
                        </a:rPr>
                        <a:t>Srinivas </a:t>
                      </a:r>
                      <a:r>
                        <a:rPr lang="en-IN" sz="1200" b="0" i="0" u="none" strike="noStrike" kern="1200" err="1">
                          <a:solidFill>
                            <a:schemeClr val="tx1"/>
                          </a:solidFill>
                          <a:effectLst/>
                          <a:latin typeface="+mn-lt"/>
                          <a:ea typeface="+mn-ea"/>
                          <a:cs typeface="+mn-cs"/>
                          <a:hlinkClick r:id="rId6"/>
                        </a:rPr>
                        <a:t>Tunuguntla</a:t>
                      </a:r>
                      <a:endParaRPr lang="en-IN" sz="1200" b="0" i="0" kern="1200">
                        <a:solidFill>
                          <a:schemeClr val="tx1"/>
                        </a:solidFill>
                        <a:effectLst/>
                        <a:latin typeface="+mn-lt"/>
                        <a:ea typeface="+mn-ea"/>
                        <a:cs typeface="+mn-cs"/>
                      </a:endParaRPr>
                    </a:p>
                    <a:p>
                      <a:pPr marL="0" algn="l" defTabSz="914400" rtl="0" eaLnBrk="1" latinLnBrk="0" hangingPunct="1"/>
                      <a:endParaRPr lang="en-IN" sz="1400" b="0" i="0" u="none" kern="120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200" b="1" i="0" kern="1200">
                          <a:solidFill>
                            <a:schemeClr val="tx1"/>
                          </a:solidFill>
                          <a:effectLst/>
                          <a:latin typeface="+mn-lt"/>
                          <a:ea typeface="+mn-ea"/>
                          <a:cs typeface="+mn-cs"/>
                        </a:rPr>
                        <a:t>Prediction of the outcome of a Twenty-20 Cricket Match : A Machine Learning Approach</a:t>
                      </a:r>
                    </a:p>
                  </a:txBody>
                  <a:tcPr/>
                </a:tc>
                <a:tc>
                  <a:txBody>
                    <a:bodyPr/>
                    <a:lstStyle/>
                    <a:p>
                      <a:pPr marL="0" marR="0" indent="0" algn="just" defTabSz="914400" rtl="0" eaLnBrk="1" latinLnBrk="0" hangingPunct="1">
                        <a:lnSpc>
                          <a:spcPct val="100000"/>
                        </a:lnSpc>
                        <a:spcBef>
                          <a:spcPts val="0"/>
                        </a:spcBef>
                        <a:spcAft>
                          <a:spcPts val="0"/>
                        </a:spcAft>
                        <a:buClr>
                          <a:srgbClr val="000000"/>
                        </a:buClr>
                        <a:buFont typeface="Arial" panose="020B0604020202020204" pitchFamily="34" charset="0"/>
                        <a:buNone/>
                      </a:pPr>
                      <a:r>
                        <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hlinkClick r:id="rId7"/>
                        </a:rPr>
                        <a:t>https://arxiv.org/abs/2209.06346</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p>
                      <a:pPr marL="0" marR="0" indent="0" algn="just" defTabSz="914400" rtl="0" eaLnBrk="1" latinLnBrk="0" hangingPunct="1">
                        <a:lnSpc>
                          <a:spcPct val="100000"/>
                        </a:lnSpc>
                        <a:spcBef>
                          <a:spcPts val="0"/>
                        </a:spcBef>
                        <a:spcAft>
                          <a:spcPts val="0"/>
                        </a:spcAft>
                        <a:buClr>
                          <a:srgbClr val="000000"/>
                        </a:buClr>
                        <a:buFont typeface="Arial" panose="020B0604020202020204" pitchFamily="34" charset="0"/>
                        <a:buNone/>
                      </a:pP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28600" indent="-228600">
                        <a:buFont typeface="Arial" panose="020B0604020202020204" pitchFamily="34" charset="0"/>
                        <a:buChar char="•"/>
                      </a:pPr>
                      <a:r>
                        <a:rPr lang="en-IN" sz="1400" b="1"/>
                        <a:t>Limitation:</a:t>
                      </a:r>
                      <a:r>
                        <a:rPr lang="en-IN" sz="1400"/>
                        <a:t> Focuses mainly on pre-match information rather than continuously changing match state.</a:t>
                      </a:r>
                    </a:p>
                  </a:txBody>
                  <a:tcPr anchor="ctr"/>
                </a:tc>
                <a:tc>
                  <a:txBody>
                    <a:bodyPr/>
                    <a:lstStyle/>
                    <a:p>
                      <a:pPr marL="228600" indent="-228600" algn="l" defTabSz="914400" rtl="0" eaLnBrk="1" latinLnBrk="0" hangingPunct="1">
                        <a:buFont typeface="Arial" panose="020B0604020202020204" pitchFamily="34" charset="0"/>
                        <a:buChar char="•"/>
                      </a:pPr>
                      <a:r>
                        <a:rPr lang="en-IN" sz="1400" b="1"/>
                        <a:t>Future:</a:t>
                      </a:r>
                      <a:r>
                        <a:rPr lang="en-IN" sz="1400"/>
                        <a:t> Incorporate ball-by-ball/live match features for dynamic prediction.</a:t>
                      </a:r>
                      <a:endParaRPr lang="en-US" sz="1400" b="0" i="0" u="none" kern="120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3714155954"/>
                  </a:ext>
                </a:extLst>
              </a:tr>
              <a:tr h="1354600">
                <a:tc>
                  <a:txBody>
                    <a:bodyPr/>
                    <a:lstStyle/>
                    <a:p>
                      <a:pPr marL="0" algn="l" defTabSz="914400" rtl="0" eaLnBrk="1" latinLnBrk="0" hangingPunct="1"/>
                      <a:r>
                        <a:rPr lang="en-IN" sz="1400"/>
                        <a:t>S. Chakraborty et al. (2024)</a:t>
                      </a:r>
                      <a:endParaRPr lang="en-IN" sz="1400" b="0" i="0" u="none" kern="120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400"/>
                        <a:t>Cricket Data Analytics: Forecasting T20 Match Winners Through Machine Learning</a:t>
                      </a:r>
                      <a:endParaRPr lang="en-IN" sz="1400" b="1" i="0" u="none" kern="120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b="0" i="0" u="none" kern="1200">
                          <a:solidFill>
                            <a:schemeClr val="dk1"/>
                          </a:solidFill>
                          <a:effectLst/>
                          <a:latin typeface="Times New Roman" panose="02020603050405020304" pitchFamily="18" charset="0"/>
                          <a:ea typeface="+mn-ea"/>
                          <a:cs typeface="Times New Roman" panose="02020603050405020304" pitchFamily="18" charset="0"/>
                          <a:sym typeface="Arial"/>
                          <a:hlinkClick r:id="rId8"/>
                        </a:rPr>
                        <a:t>https://doi.org/10.1177/17479541221119738</a:t>
                      </a:r>
                      <a:endParaRPr lang="en-US" sz="1400" b="0" i="0" u="none" kern="1200">
                        <a:solidFill>
                          <a:schemeClr val="dk1"/>
                        </a:solidFill>
                        <a:effectLst/>
                        <a:latin typeface="Times New Roman" panose="02020603050405020304" pitchFamily="18" charset="0"/>
                        <a:ea typeface="+mn-ea"/>
                        <a:cs typeface="Times New Roman" panose="02020603050405020304" pitchFamily="18" charset="0"/>
                        <a:sym typeface="Arial"/>
                      </a:endParaRPr>
                    </a:p>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endParaRPr lang="en-US" sz="1400" b="0" i="0" u="none" kern="120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b="1"/>
                        <a:t>Limitation:</a:t>
                      </a:r>
                      <a:r>
                        <a:rPr lang="en-IN" sz="1400"/>
                        <a:t> Primarily predicts before the match begins; limited real-time match-state reasoning.</a:t>
                      </a:r>
                      <a:endParaRPr lang="en-US" sz="1400" b="0" i="0" u="none" kern="120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IN" sz="1400" b="1"/>
                        <a:t>Future:</a:t>
                      </a:r>
                      <a:r>
                        <a:rPr lang="en-IN" sz="1400"/>
                        <a:t> Extend prediction using live ball-by-ball features and dynamic match conditions</a:t>
                      </a:r>
                      <a:endParaRPr lang="en-US" sz="1400" b="0" i="0" u="none" kern="120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655426370"/>
                  </a:ext>
                </a:extLst>
              </a:tr>
              <a:tr h="1354600">
                <a:tc>
                  <a:txBody>
                    <a:bodyPr/>
                    <a:lstStyle/>
                    <a:p>
                      <a:pPr marL="0" algn="l" defTabSz="914400" rtl="0" eaLnBrk="1" latinLnBrk="0" hangingPunct="1"/>
                      <a:r>
                        <a:rPr lang="en-IN" sz="1400"/>
                        <a:t>Pussella et al. (2023)</a:t>
                      </a:r>
                      <a:endParaRPr lang="en-IN" sz="1400" b="1" i="0" u="none" kern="120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buNone/>
                      </a:pPr>
                      <a:r>
                        <a:rPr lang="en-IN" sz="1400"/>
                        <a:t>In-game Winner Prediction and Winning Strategy Generation in Cricket: A Machine Learning Approach</a:t>
                      </a:r>
                    </a:p>
                  </a:txBody>
                  <a:tcPr anchor="ct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b="0" u="none" kern="1200">
                          <a:solidFill>
                            <a:schemeClr val="dk1"/>
                          </a:solidFill>
                          <a:effectLst/>
                          <a:latin typeface="Times New Roman" panose="02020603050405020304" pitchFamily="18" charset="0"/>
                          <a:cs typeface="Times New Roman" panose="02020603050405020304" pitchFamily="18" charset="0"/>
                          <a:hlinkClick r:id="rId9"/>
                        </a:rPr>
                        <a:t>https://ieeexplore.ieee.org/document/10705216/</a:t>
                      </a:r>
                      <a:endParaRPr lang="en-US" sz="1400" b="0" u="none" kern="1200">
                        <a:solidFill>
                          <a:schemeClr val="dk1"/>
                        </a:solidFill>
                        <a:effectLst/>
                        <a:latin typeface="Times New Roman" panose="02020603050405020304" pitchFamily="18" charset="0"/>
                        <a:cs typeface="Times New Roman" panose="02020603050405020304" pitchFamily="18" charset="0"/>
                      </a:endParaRPr>
                    </a:p>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endParaRPr lang="en-US" sz="1400" b="0" u="none" kern="1200">
                        <a:solidFill>
                          <a:schemeClr val="dk1"/>
                        </a:solidFill>
                        <a:effectLst/>
                        <a:latin typeface="Times New Roman" panose="02020603050405020304" pitchFamily="18" charset="0"/>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b="1"/>
                        <a:t>Limitation:</a:t>
                      </a:r>
                      <a:r>
                        <a:rPr lang="en-IN" sz="1400"/>
                        <a:t> Dataset is limited to IPL matches from 2008–2020.</a:t>
                      </a:r>
                      <a:endParaRPr lang="en-US" sz="1400" b="0" i="0" u="none" kern="120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IN" sz="1400" b="1" dirty="0"/>
                        <a:t>Future:</a:t>
                      </a:r>
                      <a:r>
                        <a:rPr lang="en-IN" sz="1400" dirty="0"/>
                        <a:t> Extend across formats, leagues and more recent matches; incorporate richer contextual features.</a:t>
                      </a:r>
                      <a:endParaRPr lang="en-US" sz="1400" b="1"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841575018"/>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560565" y="136525"/>
            <a:ext cx="3070868" cy="523220"/>
          </a:xfrm>
          <a:prstGeom prst="rect">
            <a:avLst/>
          </a:prstGeom>
          <a:noFill/>
        </p:spPr>
        <p:txBody>
          <a:bodyPr wrap="square" rtlCol="0">
            <a:spAutoFit/>
          </a:bodyPr>
          <a:lstStyle/>
          <a:p>
            <a:pPr algn="ctr"/>
            <a:r>
              <a:rPr lang="en-IN" sz="2800" b="1">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10"/>
          <a:stretch>
            <a:fillRect/>
          </a:stretch>
        </p:blipFill>
        <p:spPr>
          <a:xfrm>
            <a:off x="10249380" y="0"/>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3">
            <a:extLst>
              <a:ext uri="{FF2B5EF4-FFF2-40B4-BE49-F238E27FC236}">
                <a16:creationId xmlns:a16="http://schemas.microsoft.com/office/drawing/2014/main" id="{584B6121-4F6E-7527-BFFE-A3B6B03A1057}"/>
              </a:ext>
            </a:extLst>
          </p:cNvPr>
          <p:cNvGraphicFramePr>
            <a:graphicFrameLocks/>
          </p:cNvGraphicFramePr>
          <p:nvPr>
            <p:extLst>
              <p:ext uri="{D42A27DB-BD31-4B8C-83A1-F6EECF244321}">
                <p14:modId xmlns:p14="http://schemas.microsoft.com/office/powerpoint/2010/main" val="3729294067"/>
              </p:ext>
            </p:extLst>
          </p:nvPr>
        </p:nvGraphicFramePr>
        <p:xfrm>
          <a:off x="274646" y="699298"/>
          <a:ext cx="11642695" cy="4737917"/>
        </p:xfrm>
        <a:graphic>
          <a:graphicData uri="http://schemas.openxmlformats.org/drawingml/2006/table">
            <a:tbl>
              <a:tblPr firstRow="1" bandRow="1">
                <a:tableStyleId>{BC89EF96-8CEA-46FF-86C4-4CE0E7609802}</a:tableStyleId>
              </a:tblPr>
              <a:tblGrid>
                <a:gridCol w="1711739">
                  <a:extLst>
                    <a:ext uri="{9D8B030D-6E8A-4147-A177-3AD203B41FA5}">
                      <a16:colId xmlns:a16="http://schemas.microsoft.com/office/drawing/2014/main" val="20001"/>
                    </a:ext>
                  </a:extLst>
                </a:gridCol>
                <a:gridCol w="2167280">
                  <a:extLst>
                    <a:ext uri="{9D8B030D-6E8A-4147-A177-3AD203B41FA5}">
                      <a16:colId xmlns:a16="http://schemas.microsoft.com/office/drawing/2014/main" val="20002"/>
                    </a:ext>
                  </a:extLst>
                </a:gridCol>
                <a:gridCol w="2549833">
                  <a:extLst>
                    <a:ext uri="{9D8B030D-6E8A-4147-A177-3AD203B41FA5}">
                      <a16:colId xmlns:a16="http://schemas.microsoft.com/office/drawing/2014/main" val="20003"/>
                    </a:ext>
                  </a:extLst>
                </a:gridCol>
                <a:gridCol w="2348130">
                  <a:extLst>
                    <a:ext uri="{9D8B030D-6E8A-4147-A177-3AD203B41FA5}">
                      <a16:colId xmlns:a16="http://schemas.microsoft.com/office/drawing/2014/main" val="20004"/>
                    </a:ext>
                  </a:extLst>
                </a:gridCol>
                <a:gridCol w="2865713">
                  <a:extLst>
                    <a:ext uri="{9D8B030D-6E8A-4147-A177-3AD203B41FA5}">
                      <a16:colId xmlns:a16="http://schemas.microsoft.com/office/drawing/2014/main" val="1396003017"/>
                    </a:ext>
                  </a:extLst>
                </a:gridCol>
              </a:tblGrid>
              <a:tr h="387917">
                <a:tc>
                  <a:txBody>
                    <a:bodyPr/>
                    <a:lstStyle/>
                    <a:p>
                      <a:pPr algn="ctr">
                        <a:buNone/>
                      </a:pPr>
                      <a:r>
                        <a:rPr lang="en-US">
                          <a:latin typeface="Times New Roman" pitchFamily="18" charset="0"/>
                          <a:cs typeface="Times New Roman" pitchFamily="18" charset="0"/>
                        </a:rPr>
                        <a:t>Authors</a:t>
                      </a: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atin typeface="Times New Roman" pitchFamily="18" charset="0"/>
                          <a:cs typeface="Times New Roman" pitchFamily="18" charset="0"/>
                        </a:rPr>
                        <a:t>Title of the Paper</a:t>
                      </a:r>
                    </a:p>
                  </a:txBody>
                  <a:tcPr>
                    <a:solidFill>
                      <a:srgbClr val="FFFF00"/>
                    </a:solidFill>
                  </a:tcPr>
                </a:tc>
                <a:tc>
                  <a:txBody>
                    <a:bodyPr/>
                    <a:lstStyle/>
                    <a:p>
                      <a:pPr algn="ctr">
                        <a:buNone/>
                      </a:pPr>
                      <a:r>
                        <a:rPr lang="en-US">
                          <a:latin typeface="Times New Roman" pitchFamily="18" charset="0"/>
                          <a:cs typeface="Times New Roman" pitchFamily="18" charset="0"/>
                        </a:rPr>
                        <a:t>Link for reference</a:t>
                      </a:r>
                    </a:p>
                  </a:txBody>
                  <a:tcPr>
                    <a:solidFill>
                      <a:srgbClr val="FFFF00"/>
                    </a:solidFill>
                  </a:tcPr>
                </a:tc>
                <a:tc>
                  <a:txBody>
                    <a:bodyPr/>
                    <a:lstStyle/>
                    <a:p>
                      <a:pPr algn="ctr">
                        <a:buNone/>
                      </a:pPr>
                      <a:r>
                        <a:rPr lang="en-US">
                          <a:latin typeface="Times New Roman" pitchFamily="18" charset="0"/>
                          <a:cs typeface="Times New Roman" pitchFamily="18" charset="0"/>
                        </a:rPr>
                        <a:t>Drawbacks</a:t>
                      </a:r>
                    </a:p>
                  </a:txBody>
                  <a:tcPr>
                    <a:solidFill>
                      <a:srgbClr val="FFFF00"/>
                    </a:solidFill>
                  </a:tcPr>
                </a:tc>
                <a:tc>
                  <a:txBody>
                    <a:bodyPr/>
                    <a:lstStyle/>
                    <a:p>
                      <a:pPr algn="ctr">
                        <a:buNone/>
                      </a:pPr>
                      <a:r>
                        <a:rPr lang="en-US">
                          <a:latin typeface="Times New Roman" pitchFamily="18" charset="0"/>
                          <a:cs typeface="Times New Roman" pitchFamily="18" charset="0"/>
                        </a:rPr>
                        <a:t>Future work</a:t>
                      </a:r>
                    </a:p>
                  </a:txBody>
                  <a:tcPr>
                    <a:solidFill>
                      <a:srgbClr val="FFFF00"/>
                    </a:solidFill>
                  </a:tcPr>
                </a:tc>
                <a:extLst>
                  <a:ext uri="{0D108BD9-81ED-4DB2-BD59-A6C34878D82A}">
                    <a16:rowId xmlns:a16="http://schemas.microsoft.com/office/drawing/2014/main" val="10000"/>
                  </a:ext>
                </a:extLst>
              </a:tr>
              <a:tr h="1450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0" i="0" u="none" strike="noStrike" kern="1200">
                          <a:solidFill>
                            <a:schemeClr val="tx1"/>
                          </a:solidFill>
                          <a:effectLst/>
                          <a:latin typeface="+mn-lt"/>
                          <a:ea typeface="+mn-ea"/>
                          <a:cs typeface="+mn-cs"/>
                        </a:rPr>
                        <a:t>K. Dhinakaran, S. Anbuchelian</a:t>
                      </a:r>
                      <a:endParaRPr lang="en-IN" sz="1200" b="0" i="0" kern="1200">
                        <a:solidFill>
                          <a:schemeClr val="tx1"/>
                        </a:solidFill>
                        <a:effectLst/>
                        <a:latin typeface="+mn-lt"/>
                        <a:ea typeface="+mn-ea"/>
                        <a:cs typeface="+mn-cs"/>
                      </a:endParaRPr>
                    </a:p>
                  </a:txBody>
                  <a:tcPr/>
                </a:tc>
                <a:tc>
                  <a:txBody>
                    <a:bodyPr/>
                    <a:lstStyle/>
                    <a:p>
                      <a:r>
                        <a:rPr lang="en-IN" sz="1200" b="1" i="0" kern="1200">
                          <a:solidFill>
                            <a:schemeClr val="tx1"/>
                          </a:solidFill>
                          <a:effectLst/>
                          <a:latin typeface="+mn-lt"/>
                          <a:ea typeface="+mn-ea"/>
                          <a:cs typeface="+mn-cs"/>
                        </a:rPr>
                        <a:t>Enhanced Cricket Match Prediction Using Kernel Methods for Feature Extraction and Back-Propagation Neural Networks</a:t>
                      </a:r>
                    </a:p>
                  </a:txBody>
                  <a:tcPr/>
                </a:tc>
                <a:tc>
                  <a:txBody>
                    <a:bodyPr/>
                    <a:lstStyle/>
                    <a:p>
                      <a:pPr marL="0" marR="0" indent="0" algn="just" defTabSz="914400" rtl="0" eaLnBrk="1" latinLnBrk="0" hangingPunct="1">
                        <a:lnSpc>
                          <a:spcPct val="100000"/>
                        </a:lnSpc>
                        <a:spcBef>
                          <a:spcPts val="0"/>
                        </a:spcBef>
                        <a:spcAft>
                          <a:spcPts val="0"/>
                        </a:spcAft>
                        <a:buClr>
                          <a:srgbClr val="000000"/>
                        </a:buClr>
                        <a:buFont typeface="Arial" panose="020B0604020202020204" pitchFamily="34" charset="0"/>
                        <a:buNone/>
                      </a:pPr>
                      <a:r>
                        <a:rPr lang="en-US" sz="1400" b="0" i="0" kern="1200">
                          <a:solidFill>
                            <a:srgbClr val="FF0000"/>
                          </a:solidFill>
                          <a:effectLst/>
                          <a:latin typeface="Times New Roman" panose="02020603050405020304" pitchFamily="18" charset="0"/>
                          <a:ea typeface="+mn-ea"/>
                          <a:cs typeface="Times New Roman" panose="02020603050405020304" pitchFamily="18" charset="0"/>
                          <a:sym typeface="Arial"/>
                          <a:hlinkClick r:id="rId2"/>
                        </a:rPr>
                        <a:t>https://www.nature.com/articles/s41598-026-36555-6</a:t>
                      </a:r>
                    </a:p>
                  </a:txBody>
                  <a:tcPr/>
                </a:tc>
                <a:tc>
                  <a:txBody>
                    <a:bodyPr/>
                    <a:lstStyle/>
                    <a:p>
                      <a:pPr marL="228600" indent="-228600">
                        <a:buFont typeface="Arial" panose="020B0604020202020204" pitchFamily="34" charset="0"/>
                        <a:buChar char="•"/>
                      </a:pPr>
                      <a:r>
                        <a:rPr lang="en-IN" sz="1400" b="1"/>
                        <a:t>Limitation:</a:t>
                      </a:r>
                      <a:r>
                        <a:rPr lang="en-IN" sz="1400"/>
                        <a:t> Validated only on ODI matches using six match-state features.</a:t>
                      </a:r>
                    </a:p>
                  </a:txBody>
                  <a:tcPr anchor="ctr"/>
                </a:tc>
                <a:tc>
                  <a:txBody>
                    <a:bodyPr/>
                    <a:lstStyle/>
                    <a:p>
                      <a:pPr marL="228600" indent="-228600" algn="l" defTabSz="914400" rtl="0" eaLnBrk="1" latinLnBrk="0" hangingPunct="1">
                        <a:buFont typeface="Arial" panose="020B0604020202020204" pitchFamily="34" charset="0"/>
                        <a:buChar char="•"/>
                      </a:pPr>
                      <a:r>
                        <a:rPr lang="en-IN" sz="1400" b="1"/>
                        <a:t>Future:</a:t>
                      </a:r>
                      <a:r>
                        <a:rPr lang="en-IN" sz="1400"/>
                        <a:t> Extend the framework to T20/IPL with added contextual features like pitch and weather.</a:t>
                      </a:r>
                    </a:p>
                  </a:txBody>
                  <a:tcPr/>
                </a:tc>
                <a:extLst>
                  <a:ext uri="{0D108BD9-81ED-4DB2-BD59-A6C34878D82A}">
                    <a16:rowId xmlns:a16="http://schemas.microsoft.com/office/drawing/2014/main" val="10001"/>
                  </a:ext>
                </a:extLst>
              </a:tr>
              <a:tr h="1450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0" i="0" u="none" strike="noStrike" kern="1200">
                          <a:solidFill>
                            <a:schemeClr val="tx1"/>
                          </a:solidFill>
                          <a:effectLst/>
                          <a:latin typeface="+mn-lt"/>
                          <a:ea typeface="+mn-ea"/>
                          <a:cs typeface="+mn-cs"/>
                        </a:rPr>
                        <a:t>Jhansi Rani P., Apurva Kulkarni, Aditya V. Kamath, Aadith Menon, Prajwal Dhatwalia, Rishabh D</a:t>
                      </a:r>
                      <a:endParaRPr lang="en-IN" sz="1200" b="0" i="0" kern="1200">
                        <a:solidFill>
                          <a:schemeClr val="tx1"/>
                        </a:solidFill>
                        <a:effectLst/>
                        <a:latin typeface="+mn-lt"/>
                        <a:ea typeface="+mn-ea"/>
                        <a:cs typeface="+mn-cs"/>
                      </a:endParaRPr>
                    </a:p>
                  </a:txBody>
                  <a:tcPr/>
                </a:tc>
                <a:tc>
                  <a:txBody>
                    <a:bodyPr/>
                    <a:lstStyle/>
                    <a:p>
                      <a:r>
                        <a:rPr lang="en-IN" sz="1200" b="1" i="0" kern="1200">
                          <a:solidFill>
                            <a:schemeClr val="tx1"/>
                          </a:solidFill>
                          <a:effectLst/>
                          <a:latin typeface="+mn-lt"/>
                          <a:ea typeface="+mn-ea"/>
                          <a:cs typeface="+mn-cs"/>
                        </a:rPr>
                        <a:t>Prediction of Player Price in IPL Auction Using Machine Learning Regression Algorithms</a:t>
                      </a:r>
                    </a:p>
                  </a:txBody>
                  <a:tcPr/>
                </a:tc>
                <a:tc>
                  <a:txBody>
                    <a:bodyPr/>
                    <a:lstStyle/>
                    <a:p>
                      <a:pPr marL="0" marR="0" indent="0" algn="just" defTabSz="914400" rtl="0" eaLnBrk="1" latinLnBrk="0" hangingPunct="1">
                        <a:lnSpc>
                          <a:spcPct val="100000"/>
                        </a:lnSpc>
                        <a:spcBef>
                          <a:spcPts val="0"/>
                        </a:spcBef>
                        <a:spcAft>
                          <a:spcPts val="0"/>
                        </a:spcAft>
                        <a:buClr>
                          <a:srgbClr val="000000"/>
                        </a:buClr>
                        <a:buFont typeface="Arial" panose="020B0604020202020204" pitchFamily="34" charset="0"/>
                        <a:buNone/>
                      </a:pPr>
                      <a:r>
                        <a:rPr lang="en-US" sz="1400" b="0" i="0" kern="1200">
                          <a:solidFill>
                            <a:srgbClr val="FF0000"/>
                          </a:solidFill>
                          <a:effectLst/>
                          <a:latin typeface="Times New Roman" panose="02020603050405020304" pitchFamily="18" charset="0"/>
                          <a:ea typeface="+mn-ea"/>
                          <a:cs typeface="Times New Roman" panose="02020603050405020304" pitchFamily="18" charset="0"/>
                          <a:sym typeface="Arial"/>
                          <a:hlinkClick r:id="rId3"/>
                        </a:rPr>
                        <a:t>https://ieeexplore.ieee.org/document/9198668/</a:t>
                      </a:r>
                    </a:p>
                  </a:txBody>
                  <a:tcPr/>
                </a:tc>
                <a:tc>
                  <a:txBody>
                    <a:bodyPr/>
                    <a:lstStyle/>
                    <a:p>
                      <a:pPr marL="228600" indent="-228600">
                        <a:buFont typeface="Arial" panose="020B0604020202020204" pitchFamily="34" charset="0"/>
                        <a:buChar char="•"/>
                      </a:pPr>
                      <a:r>
                        <a:rPr lang="en-IN" sz="1400" b="1"/>
                        <a:t>Limitation:</a:t>
                      </a:r>
                      <a:r>
                        <a:rPr lang="en-IN" sz="1400"/>
                        <a:t> Price predicted from past stats only, ignoring current form or bidding demand.</a:t>
                      </a:r>
                    </a:p>
                  </a:txBody>
                  <a:tcPr anchor="ctr"/>
                </a:tc>
                <a:tc>
                  <a:txBody>
                    <a:bodyPr/>
                    <a:lstStyle/>
                    <a:p>
                      <a:pPr marL="228600" indent="-228600" algn="l" defTabSz="914400" rtl="0" eaLnBrk="1" latinLnBrk="0" hangingPunct="1">
                        <a:buFont typeface="Arial" panose="020B0604020202020204" pitchFamily="34" charset="0"/>
                        <a:buChar char="•"/>
                      </a:pPr>
                      <a:r>
                        <a:rPr lang="en-IN" sz="1400" b="1"/>
                        <a:t>Future:</a:t>
                      </a:r>
                      <a:r>
                        <a:rPr lang="en-IN" sz="1400"/>
                        <a:t> Add real-time form and demand-based features to the pricing model.</a:t>
                      </a:r>
                    </a:p>
                  </a:txBody>
                  <a:tcPr/>
                </a:tc>
                <a:extLst>
                  <a:ext uri="{0D108BD9-81ED-4DB2-BD59-A6C34878D82A}">
                    <a16:rowId xmlns:a16="http://schemas.microsoft.com/office/drawing/2014/main" val="10002"/>
                  </a:ext>
                </a:extLst>
              </a:tr>
              <a:tr h="1450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0" i="0" u="none" strike="noStrike" kern="1200" dirty="0">
                          <a:solidFill>
                            <a:schemeClr val="tx1"/>
                          </a:solidFill>
                          <a:effectLst/>
                          <a:latin typeface="+mn-lt"/>
                          <a:ea typeface="+mn-ea"/>
                          <a:cs typeface="+mn-cs"/>
                        </a:rPr>
                        <a:t>Gaurav Malhotra</a:t>
                      </a:r>
                      <a:endParaRPr lang="en-IN" sz="1200" b="0" i="0" kern="1200" dirty="0">
                        <a:solidFill>
                          <a:schemeClr val="tx1"/>
                        </a:solidFill>
                        <a:effectLst/>
                        <a:latin typeface="+mn-lt"/>
                        <a:ea typeface="+mn-ea"/>
                        <a:cs typeface="+mn-cs"/>
                      </a:endParaRPr>
                    </a:p>
                  </a:txBody>
                  <a:tcPr/>
                </a:tc>
                <a:tc>
                  <a:txBody>
                    <a:bodyPr/>
                    <a:lstStyle/>
                    <a:p>
                      <a:r>
                        <a:rPr lang="en-IN" sz="1200" b="1" i="0" kern="1200">
                          <a:solidFill>
                            <a:schemeClr val="tx1"/>
                          </a:solidFill>
                          <a:effectLst/>
                          <a:latin typeface="+mn-lt"/>
                          <a:ea typeface="+mn-ea"/>
                          <a:cs typeface="+mn-cs"/>
                        </a:rPr>
                        <a:t>A Comprehensive Approach to Predict Auction Prices and Economic Value Creation of Cricketers in the IPL</a:t>
                      </a:r>
                    </a:p>
                  </a:txBody>
                  <a:tcPr/>
                </a:tc>
                <a:tc>
                  <a:txBody>
                    <a:bodyPr/>
                    <a:lstStyle/>
                    <a:p>
                      <a:pPr marL="0" marR="0" indent="0" algn="just" defTabSz="914400" rtl="0" eaLnBrk="1" latinLnBrk="0" hangingPunct="1">
                        <a:lnSpc>
                          <a:spcPct val="100000"/>
                        </a:lnSpc>
                        <a:spcBef>
                          <a:spcPts val="0"/>
                        </a:spcBef>
                        <a:spcAft>
                          <a:spcPts val="0"/>
                        </a:spcAft>
                        <a:buClr>
                          <a:srgbClr val="000000"/>
                        </a:buClr>
                        <a:buFont typeface="Arial" panose="020B0604020202020204" pitchFamily="34" charset="0"/>
                        <a:buNone/>
                      </a:pPr>
                      <a:r>
                        <a:rPr lang="en-US" sz="1400" b="0" i="0" kern="1200">
                          <a:solidFill>
                            <a:srgbClr val="FF0000"/>
                          </a:solidFill>
                          <a:effectLst/>
                          <a:latin typeface="Times New Roman" panose="02020603050405020304" pitchFamily="18" charset="0"/>
                          <a:ea typeface="+mn-ea"/>
                          <a:cs typeface="Times New Roman" panose="02020603050405020304" pitchFamily="18" charset="0"/>
                          <a:sym typeface="Arial"/>
                          <a:hlinkClick r:id="rId4"/>
                        </a:rPr>
                        <a:t>https://journals.sagepub.com/doi/10.3233/JSA-200580</a:t>
                      </a:r>
                    </a:p>
                  </a:txBody>
                  <a:tcPr/>
                </a:tc>
                <a:tc>
                  <a:txBody>
                    <a:bodyPr/>
                    <a:lstStyle/>
                    <a:p>
                      <a:pPr marL="228600" indent="-228600">
                        <a:buFont typeface="Arial" panose="020B0604020202020204" pitchFamily="34" charset="0"/>
                        <a:buChar char="•"/>
                      </a:pPr>
                      <a:r>
                        <a:rPr lang="en-IN" sz="1400" b="1"/>
                        <a:t>Limitation:</a:t>
                      </a:r>
                      <a:r>
                        <a:rPr lang="en-IN" sz="1400"/>
                        <a:t> Uses linear regression, limiting capture of non-linear price-performance relationships.</a:t>
                      </a:r>
                    </a:p>
                  </a:txBody>
                  <a:tcPr anchor="ctr"/>
                </a:tc>
                <a:tc>
                  <a:txBody>
                    <a:bodyPr/>
                    <a:lstStyle/>
                    <a:p>
                      <a:pPr marL="228600" indent="-228600" algn="l" defTabSz="914400" rtl="0" eaLnBrk="1" latinLnBrk="0" hangingPunct="1">
                        <a:buFont typeface="Arial" panose="020B0604020202020204" pitchFamily="34" charset="0"/>
                        <a:buChar char="•"/>
                      </a:pPr>
                      <a:r>
                        <a:rPr lang="en-IN" sz="1400" b="1" dirty="0"/>
                        <a:t>Future:</a:t>
                      </a:r>
                      <a:r>
                        <a:rPr lang="en-IN" sz="1400" dirty="0"/>
                        <a:t> Apply advanced ML/ensemble models with continuously updated in-season data.</a:t>
                      </a:r>
                    </a:p>
                  </a:txBody>
                  <a:tcPr/>
                </a:tc>
                <a:extLst>
                  <a:ext uri="{0D108BD9-81ED-4DB2-BD59-A6C34878D82A}">
                    <a16:rowId xmlns:a16="http://schemas.microsoft.com/office/drawing/2014/main" val="10003"/>
                  </a:ext>
                </a:extLst>
              </a:tr>
            </a:tbl>
          </a:graphicData>
        </a:graphic>
      </p:graphicFrame>
      <p:pic>
        <p:nvPicPr>
          <p:cNvPr id="4" name="Picture 3">
            <a:extLst>
              <a:ext uri="{FF2B5EF4-FFF2-40B4-BE49-F238E27FC236}">
                <a16:creationId xmlns:a16="http://schemas.microsoft.com/office/drawing/2014/main" id="{4A975E4D-EA2A-9229-1DEF-DA4A03933DA8}"/>
              </a:ext>
            </a:extLst>
          </p:cNvPr>
          <p:cNvPicPr>
            <a:picLocks noChangeAspect="1"/>
          </p:cNvPicPr>
          <p:nvPr/>
        </p:nvPicPr>
        <p:blipFill>
          <a:blip r:embed="rId5"/>
          <a:stretch>
            <a:fillRect/>
          </a:stretch>
        </p:blipFill>
        <p:spPr>
          <a:xfrm>
            <a:off x="10249380" y="0"/>
            <a:ext cx="1942620" cy="622550"/>
          </a:xfrm>
          <a:prstGeom prst="rect">
            <a:avLst/>
          </a:prstGeom>
        </p:spPr>
      </p:pic>
    </p:spTree>
    <p:extLst>
      <p:ext uri="{BB962C8B-B14F-4D97-AF65-F5344CB8AC3E}">
        <p14:creationId xmlns:p14="http://schemas.microsoft.com/office/powerpoint/2010/main" val="10303140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a:extLst>
              <a:ext uri="{FF2B5EF4-FFF2-40B4-BE49-F238E27FC236}">
                <a16:creationId xmlns:a16="http://schemas.microsoft.com/office/drawing/2014/main" id="{3B90199E-CFFB-6967-C27C-7AEDC52EF0B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829" t="13194" r="10865" b="13036"/>
          <a:stretch>
            <a:fillRect/>
          </a:stretch>
        </p:blipFill>
        <p:spPr bwMode="auto">
          <a:xfrm>
            <a:off x="1113181" y="113398"/>
            <a:ext cx="8468139" cy="6631203"/>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EF2B0821-F4A1-ACE3-E1F3-D8AC79CADA9D}"/>
              </a:ext>
            </a:extLst>
          </p:cNvPr>
          <p:cNvPicPr>
            <a:picLocks noChangeAspect="1"/>
          </p:cNvPicPr>
          <p:nvPr/>
        </p:nvPicPr>
        <p:blipFill>
          <a:blip r:embed="rId3"/>
          <a:stretch>
            <a:fillRect/>
          </a:stretch>
        </p:blipFill>
        <p:spPr>
          <a:xfrm>
            <a:off x="10249380" y="0"/>
            <a:ext cx="1942620" cy="622550"/>
          </a:xfrm>
          <a:prstGeom prst="rect">
            <a:avLst/>
          </a:prstGeom>
        </p:spPr>
      </p:pic>
      <p:sp>
        <p:nvSpPr>
          <p:cNvPr id="3" name="Slide Title">
            <a:extLst>
              <a:ext uri="{FF2B5EF4-FFF2-40B4-BE49-F238E27FC236}">
                <a16:creationId xmlns:a16="http://schemas.microsoft.com/office/drawing/2014/main" id="{4B73669B-033C-58F9-E306-60E5860D7D5E}"/>
              </a:ext>
            </a:extLst>
          </p:cNvPr>
          <p:cNvSpPr txBox="1"/>
          <p:nvPr/>
        </p:nvSpPr>
        <p:spPr>
          <a:xfrm>
            <a:off x="290051" y="0"/>
            <a:ext cx="11277600" cy="700000"/>
          </a:xfrm>
          <a:prstGeom prst="rect">
            <a:avLst/>
          </a:prstGeom>
          <a:noFill/>
        </p:spPr>
        <p:txBody>
          <a:bodyPr wrap="square">
            <a:spAutoFit/>
          </a:bodyPr>
          <a:lstStyle/>
          <a:p>
            <a:pPr algn="ctr"/>
            <a:r>
              <a:rPr lang="en-US" sz="3600" b="1" dirty="0">
                <a:solidFill>
                  <a:srgbClr val="1A1A1A"/>
                </a:solidFill>
              </a:rPr>
              <a:t>System Architecture</a:t>
            </a:r>
          </a:p>
        </p:txBody>
      </p:sp>
    </p:spTree>
    <p:extLst>
      <p:ext uri="{BB962C8B-B14F-4D97-AF65-F5344CB8AC3E}">
        <p14:creationId xmlns:p14="http://schemas.microsoft.com/office/powerpoint/2010/main" val="19104197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900" name="Slide Title"/>
          <p:cNvSpPr txBox="1"/>
          <p:nvPr/>
        </p:nvSpPr>
        <p:spPr>
          <a:xfrm>
            <a:off x="290051" y="0"/>
            <a:ext cx="11277600" cy="700000"/>
          </a:xfrm>
          <a:prstGeom prst="rect">
            <a:avLst/>
          </a:prstGeom>
          <a:noFill/>
        </p:spPr>
        <p:txBody>
          <a:bodyPr wrap="square">
            <a:spAutoFit/>
          </a:bodyPr>
          <a:lstStyle/>
          <a:p>
            <a:pPr algn="ctr"/>
            <a:r>
              <a:rPr lang="en-US" sz="3600" b="1" dirty="0">
                <a:solidFill>
                  <a:srgbClr val="1A1A1A"/>
                </a:solidFill>
              </a:rPr>
              <a:t>System Architecture</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sp>
        <p:nvSpPr>
          <p:cNvPr id="5" name="TextBox 4">
            <a:extLst>
              <a:ext uri="{FF2B5EF4-FFF2-40B4-BE49-F238E27FC236}">
                <a16:creationId xmlns:a16="http://schemas.microsoft.com/office/drawing/2014/main" id="{B8B14012-C1D4-1844-4AC4-A155DD89BDEE}"/>
              </a:ext>
            </a:extLst>
          </p:cNvPr>
          <p:cNvSpPr txBox="1"/>
          <p:nvPr/>
        </p:nvSpPr>
        <p:spPr>
          <a:xfrm>
            <a:off x="310025" y="878173"/>
            <a:ext cx="11571949" cy="6350000"/>
          </a:xfrm>
          <a:prstGeom prst="rect">
            <a:avLst/>
          </a:prstGeom>
          <a:noFill/>
        </p:spPr>
        <p:txBody>
          <a:bodyPr wrap="square" lIns="0" tIns="0" rIns="0" bIns="0">
            <a:normAutofit lnSpcReduction="10000"/>
          </a:bodyPr>
          <a:lstStyle/>
          <a:p>
            <a:pPr rtl="0">
              <a:spcAft>
                <a:spcPts val="400"/>
              </a:spcAft>
            </a:pPr>
            <a:r>
              <a:rPr lang="en-US" sz="1600" b="1" dirty="0">
                <a:solidFill>
                  <a:srgbClr val="156082"/>
                </a:solidFill>
                <a:latin typeface="Arial" panose="020B0604020202020204" pitchFamily="34" charset="0"/>
                <a:cs typeface="Arial" panose="020B0604020202020204" pitchFamily="34" charset="0"/>
              </a:rPr>
              <a:t>Data Sources</a:t>
            </a:r>
            <a:br>
              <a:rPr lang="en-US" sz="1600" dirty="0">
                <a:latin typeface="Arial" panose="020B0604020202020204" pitchFamily="34" charset="0"/>
                <a:cs typeface="Arial" panose="020B0604020202020204" pitchFamily="34" charset="0"/>
              </a:rPr>
            </a:br>
            <a:r>
              <a:rPr lang="en-US" sz="1600" dirty="0">
                <a:latin typeface="Arial" panose="020B0604020202020204" pitchFamily="34" charset="0"/>
                <a:cs typeface="Arial" panose="020B0604020202020204" pitchFamily="34" charset="0"/>
              </a:rPr>
              <a:t>Three external feeds bring cricket data in: </a:t>
            </a:r>
            <a:r>
              <a:rPr lang="en-US" sz="1600" b="1" dirty="0" err="1">
                <a:latin typeface="Arial" panose="020B0604020202020204" pitchFamily="34" charset="0"/>
                <a:cs typeface="Arial" panose="020B0604020202020204" pitchFamily="34" charset="0"/>
              </a:rPr>
              <a:t>Cricsheet</a:t>
            </a:r>
            <a:r>
              <a:rPr lang="en-US" sz="1600" b="1" dirty="0">
                <a:latin typeface="Arial" panose="020B0604020202020204" pitchFamily="34" charset="0"/>
                <a:cs typeface="Arial" panose="020B0604020202020204" pitchFamily="34" charset="0"/>
              </a:rPr>
              <a:t> JSON</a:t>
            </a:r>
            <a:r>
              <a:rPr lang="en-US" sz="1600" dirty="0">
                <a:latin typeface="Arial" panose="020B0604020202020204" pitchFamily="34" charset="0"/>
                <a:cs typeface="Arial" panose="020B0604020202020204" pitchFamily="34" charset="0"/>
              </a:rPr>
              <a:t> (historical ball-by-ball match files), </a:t>
            </a:r>
            <a:r>
              <a:rPr lang="en-US" sz="1600" b="1" dirty="0" err="1">
                <a:latin typeface="Arial" panose="020B0604020202020204" pitchFamily="34" charset="0"/>
                <a:cs typeface="Arial" panose="020B0604020202020204" pitchFamily="34" charset="0"/>
              </a:rPr>
              <a:t>CricAPI</a:t>
            </a:r>
            <a:r>
              <a:rPr lang="en-US" sz="1600" dirty="0">
                <a:latin typeface="Arial" panose="020B0604020202020204" pitchFamily="34" charset="0"/>
                <a:cs typeface="Arial" panose="020B0604020202020204" pitchFamily="34" charset="0"/>
              </a:rPr>
              <a:t>, and </a:t>
            </a:r>
            <a:r>
              <a:rPr lang="en-US" sz="1600" b="1" dirty="0" err="1">
                <a:latin typeface="Arial" panose="020B0604020202020204" pitchFamily="34" charset="0"/>
                <a:cs typeface="Arial" panose="020B0604020202020204" pitchFamily="34" charset="0"/>
              </a:rPr>
              <a:t>RapidAPI</a:t>
            </a:r>
            <a:r>
              <a:rPr lang="en-US" sz="1600" dirty="0">
                <a:latin typeface="Arial" panose="020B0604020202020204" pitchFamily="34" charset="0"/>
                <a:cs typeface="Arial" panose="020B0604020202020204" pitchFamily="34" charset="0"/>
              </a:rPr>
              <a:t> (live match data). These are where all the raw information originates.</a:t>
            </a:r>
          </a:p>
          <a:p>
            <a:pPr rtl="0"/>
            <a:endParaRPr lang="en-US" sz="1600" dirty="0">
              <a:latin typeface="Arial" panose="020B0604020202020204" pitchFamily="34" charset="0"/>
              <a:cs typeface="Arial" panose="020B0604020202020204" pitchFamily="34" charset="0"/>
            </a:endParaRPr>
          </a:p>
          <a:p>
            <a:pPr rtl="0"/>
            <a:r>
              <a:rPr lang="en-US" sz="1600" b="1" dirty="0">
                <a:solidFill>
                  <a:srgbClr val="156082"/>
                </a:solidFill>
                <a:latin typeface="Arial" panose="020B0604020202020204" pitchFamily="34" charset="0"/>
                <a:cs typeface="Arial" panose="020B0604020202020204" pitchFamily="34" charset="0"/>
              </a:rPr>
              <a:t>Ingestion Layer</a:t>
            </a:r>
            <a:br>
              <a:rPr lang="en-US" sz="1600" dirty="0">
                <a:latin typeface="Arial" panose="020B0604020202020204" pitchFamily="34" charset="0"/>
                <a:cs typeface="Arial" panose="020B0604020202020204" pitchFamily="34" charset="0"/>
              </a:rPr>
            </a:br>
            <a:r>
              <a:rPr lang="en-US" sz="1600" dirty="0">
                <a:latin typeface="Arial" panose="020B0604020202020204" pitchFamily="34" charset="0"/>
                <a:cs typeface="Arial" panose="020B0604020202020204" pitchFamily="34" charset="0"/>
              </a:rPr>
              <a:t>All three sources feed into the </a:t>
            </a:r>
            <a:r>
              <a:rPr lang="en-US" sz="1600" b="1" dirty="0">
                <a:latin typeface="Arial" panose="020B0604020202020204" pitchFamily="34" charset="0"/>
                <a:cs typeface="Arial" panose="020B0604020202020204" pitchFamily="34" charset="0"/>
              </a:rPr>
              <a:t>Python ETL Pipeline</a:t>
            </a:r>
            <a:r>
              <a:rPr lang="en-US" sz="1600" dirty="0">
                <a:latin typeface="Arial" panose="020B0604020202020204" pitchFamily="34" charset="0"/>
                <a:cs typeface="Arial" panose="020B0604020202020204" pitchFamily="34" charset="0"/>
              </a:rPr>
              <a:t>, which extracts, cleans, and transforms the raw data. From there it passes through a </a:t>
            </a:r>
            <a:r>
              <a:rPr lang="en-US" sz="1600" b="1" dirty="0">
                <a:latin typeface="Arial" panose="020B0604020202020204" pitchFamily="34" charset="0"/>
                <a:cs typeface="Arial" panose="020B0604020202020204" pitchFamily="34" charset="0"/>
              </a:rPr>
              <a:t>Cache</a:t>
            </a:r>
            <a:r>
              <a:rPr lang="en-US" sz="1600" dirty="0">
                <a:latin typeface="Arial" panose="020B0604020202020204" pitchFamily="34" charset="0"/>
                <a:cs typeface="Arial" panose="020B0604020202020204" pitchFamily="34" charset="0"/>
              </a:rPr>
              <a:t>, so frequently requested data (like live scores) can be served quickly without hitting the sources or database every time.</a:t>
            </a:r>
          </a:p>
          <a:p>
            <a:pPr rtl="0"/>
            <a:endParaRPr lang="en-US" sz="1600" dirty="0">
              <a:latin typeface="Arial" panose="020B0604020202020204" pitchFamily="34" charset="0"/>
              <a:cs typeface="Arial" panose="020B0604020202020204" pitchFamily="34" charset="0"/>
            </a:endParaRPr>
          </a:p>
          <a:p>
            <a:pPr rtl="0"/>
            <a:r>
              <a:rPr lang="en-US" sz="1600" b="1" dirty="0">
                <a:solidFill>
                  <a:srgbClr val="156082"/>
                </a:solidFill>
                <a:latin typeface="Arial" panose="020B0604020202020204" pitchFamily="34" charset="0"/>
                <a:cs typeface="Arial" panose="020B0604020202020204" pitchFamily="34" charset="0"/>
              </a:rPr>
              <a:t>Storage Layer</a:t>
            </a:r>
            <a:br>
              <a:rPr lang="en-US" sz="1600" dirty="0">
                <a:latin typeface="Arial" panose="020B0604020202020204" pitchFamily="34" charset="0"/>
                <a:cs typeface="Arial" panose="020B0604020202020204" pitchFamily="34" charset="0"/>
              </a:rPr>
            </a:br>
            <a:r>
              <a:rPr lang="en-US" sz="1600" dirty="0">
                <a:latin typeface="Arial" panose="020B0604020202020204" pitchFamily="34" charset="0"/>
                <a:cs typeface="Arial" panose="020B0604020202020204" pitchFamily="34" charset="0"/>
              </a:rPr>
              <a:t>The pipeline writes data into two places:</a:t>
            </a:r>
          </a:p>
          <a:p>
            <a:pPr rtl="0"/>
            <a:r>
              <a:rPr lang="en-US" sz="1600" b="1" dirty="0">
                <a:latin typeface="Arial" panose="020B0604020202020204" pitchFamily="34" charset="0"/>
                <a:cs typeface="Arial" panose="020B0604020202020204" pitchFamily="34" charset="0"/>
              </a:rPr>
              <a:t> Data Lake (Raw JSON)</a:t>
            </a:r>
            <a:r>
              <a:rPr lang="en-US" sz="1600" dirty="0">
                <a:latin typeface="Arial" panose="020B0604020202020204" pitchFamily="34" charset="0"/>
                <a:cs typeface="Arial" panose="020B0604020202020204" pitchFamily="34" charset="0"/>
              </a:rPr>
              <a:t> — stores the original, unprocessed ball-by-ball files for historical/archival purposes.</a:t>
            </a:r>
          </a:p>
          <a:p>
            <a:pPr rtl="0"/>
            <a:r>
              <a:rPr lang="en-US" sz="1600" b="1" dirty="0">
                <a:latin typeface="Arial" panose="020B0604020202020204" pitchFamily="34" charset="0"/>
                <a:cs typeface="Arial" panose="020B0604020202020204" pitchFamily="34" charset="0"/>
              </a:rPr>
              <a:t> PostgreSQL + Prisma</a:t>
            </a:r>
            <a:r>
              <a:rPr lang="en-US" sz="1600" dirty="0">
                <a:latin typeface="Arial" panose="020B0604020202020204" pitchFamily="34" charset="0"/>
                <a:cs typeface="Arial" panose="020B0604020202020204" pitchFamily="34" charset="0"/>
              </a:rPr>
              <a:t> — stores the cleaned, structured data (matches, players, stats) that the app actually queries.</a:t>
            </a:r>
          </a:p>
          <a:p>
            <a:pPr rtl="0"/>
            <a:endParaRPr lang="en-US" sz="1600" dirty="0">
              <a:latin typeface="Arial" panose="020B0604020202020204" pitchFamily="34" charset="0"/>
              <a:cs typeface="Arial" panose="020B0604020202020204" pitchFamily="34" charset="0"/>
            </a:endParaRPr>
          </a:p>
          <a:p>
            <a:pPr rtl="0"/>
            <a:r>
              <a:rPr lang="en-US" sz="1600" b="1" dirty="0">
                <a:solidFill>
                  <a:srgbClr val="156082"/>
                </a:solidFill>
                <a:latin typeface="Arial" panose="020B0604020202020204" pitchFamily="34" charset="0"/>
                <a:cs typeface="Arial" panose="020B0604020202020204" pitchFamily="34" charset="0"/>
              </a:rPr>
              <a:t>Processing Layer</a:t>
            </a:r>
            <a:br>
              <a:rPr lang="en-US" sz="1600" dirty="0">
                <a:latin typeface="Arial" panose="020B0604020202020204" pitchFamily="34" charset="0"/>
                <a:cs typeface="Arial" panose="020B0604020202020204" pitchFamily="34" charset="0"/>
              </a:rPr>
            </a:br>
            <a:r>
              <a:rPr lang="en-US" sz="1600" dirty="0">
                <a:latin typeface="Arial" panose="020B0604020202020204" pitchFamily="34" charset="0"/>
                <a:cs typeface="Arial" panose="020B0604020202020204" pitchFamily="34" charset="0"/>
              </a:rPr>
              <a:t>Both the Data Lake and PostgreSQL feed into </a:t>
            </a:r>
            <a:r>
              <a:rPr lang="en-US" sz="1600" b="1" dirty="0">
                <a:latin typeface="Arial" panose="020B0604020202020204" pitchFamily="34" charset="0"/>
                <a:cs typeface="Arial" panose="020B0604020202020204" pitchFamily="34" charset="0"/>
              </a:rPr>
              <a:t>RAPIDS/</a:t>
            </a:r>
            <a:r>
              <a:rPr lang="en-US" sz="1600" b="1" dirty="0" err="1">
                <a:latin typeface="Arial" panose="020B0604020202020204" pitchFamily="34" charset="0"/>
                <a:cs typeface="Arial" panose="020B0604020202020204" pitchFamily="34" charset="0"/>
              </a:rPr>
              <a:t>cuDF</a:t>
            </a:r>
            <a:r>
              <a:rPr lang="en-US" sz="1600" b="1" dirty="0">
                <a:latin typeface="Arial" panose="020B0604020202020204" pitchFamily="34" charset="0"/>
                <a:cs typeface="Arial" panose="020B0604020202020204" pitchFamily="34" charset="0"/>
              </a:rPr>
              <a:t> Processing</a:t>
            </a:r>
            <a:r>
              <a:rPr lang="en-US" sz="1600" dirty="0">
                <a:latin typeface="Arial" panose="020B0604020202020204" pitchFamily="34" charset="0"/>
                <a:cs typeface="Arial" panose="020B0604020202020204" pitchFamily="34" charset="0"/>
              </a:rPr>
              <a:t>, which crunches the large datasets quickly (GPU-accelerated). The processed output then goes to the </a:t>
            </a:r>
            <a:r>
              <a:rPr lang="en-US" sz="1600" b="1" dirty="0">
                <a:latin typeface="Arial" panose="020B0604020202020204" pitchFamily="34" charset="0"/>
                <a:cs typeface="Arial" panose="020B0604020202020204" pitchFamily="34" charset="0"/>
              </a:rPr>
              <a:t>AI Engine (Gemini + Claude)</a:t>
            </a:r>
            <a:r>
              <a:rPr lang="en-US" sz="1600" dirty="0">
                <a:latin typeface="Arial" panose="020B0604020202020204" pitchFamily="34" charset="0"/>
                <a:cs typeface="Arial" panose="020B0604020202020204" pitchFamily="34" charset="0"/>
              </a:rPr>
              <a:t>, which generates the tactical insights — match situation advice, bowling change recommendations, and so on.</a:t>
            </a:r>
          </a:p>
          <a:p>
            <a:pPr rtl="0"/>
            <a:endParaRPr lang="en-US" sz="1600" dirty="0">
              <a:latin typeface="Arial" panose="020B0604020202020204" pitchFamily="34" charset="0"/>
              <a:cs typeface="Arial" panose="020B0604020202020204" pitchFamily="34" charset="0"/>
            </a:endParaRPr>
          </a:p>
          <a:p>
            <a:pPr rtl="0"/>
            <a:r>
              <a:rPr lang="en-US" sz="1600" b="1" dirty="0">
                <a:solidFill>
                  <a:srgbClr val="156082"/>
                </a:solidFill>
                <a:latin typeface="Arial" panose="020B0604020202020204" pitchFamily="34" charset="0"/>
                <a:cs typeface="Arial" panose="020B0604020202020204" pitchFamily="34" charset="0"/>
              </a:rPr>
              <a:t>Serving Layer</a:t>
            </a:r>
            <a:br>
              <a:rPr lang="en-US" sz="1600" dirty="0">
                <a:latin typeface="Arial" panose="020B0604020202020204" pitchFamily="34" charset="0"/>
                <a:cs typeface="Arial" panose="020B0604020202020204" pitchFamily="34" charset="0"/>
              </a:rPr>
            </a:br>
            <a:r>
              <a:rPr lang="en-US" sz="1600" dirty="0">
                <a:latin typeface="Arial" panose="020B0604020202020204" pitchFamily="34" charset="0"/>
                <a:cs typeface="Arial" panose="020B0604020202020204" pitchFamily="34" charset="0"/>
              </a:rPr>
              <a:t>The AI Engine's output reaches the </a:t>
            </a:r>
            <a:r>
              <a:rPr lang="en-US" sz="1600" b="1" dirty="0">
                <a:latin typeface="Arial" panose="020B0604020202020204" pitchFamily="34" charset="0"/>
                <a:cs typeface="Arial" panose="020B0604020202020204" pitchFamily="34" charset="0"/>
              </a:rPr>
              <a:t>Next.js Web App</a:t>
            </a:r>
            <a:r>
              <a:rPr lang="en-US" sz="1600" dirty="0">
                <a:latin typeface="Arial" panose="020B0604020202020204" pitchFamily="34" charset="0"/>
                <a:cs typeface="Arial" panose="020B0604020202020204" pitchFamily="34" charset="0"/>
              </a:rPr>
              <a:t>, which powers the </a:t>
            </a:r>
            <a:r>
              <a:rPr lang="en-US" sz="1600" b="1" dirty="0">
                <a:latin typeface="Arial" panose="020B0604020202020204" pitchFamily="34" charset="0"/>
                <a:cs typeface="Arial" panose="020B0604020202020204" pitchFamily="34" charset="0"/>
              </a:rPr>
              <a:t>Live Match Centre and dashboards</a:t>
            </a:r>
            <a:r>
              <a:rPr lang="en-US" sz="1600" dirty="0">
                <a:latin typeface="Arial" panose="020B0604020202020204" pitchFamily="34" charset="0"/>
                <a:cs typeface="Arial" panose="020B0604020202020204" pitchFamily="34" charset="0"/>
              </a:rPr>
              <a:t> that users actually see.</a:t>
            </a:r>
          </a:p>
          <a:p>
            <a:pPr rtl="0"/>
            <a:endParaRPr lang="en-US" sz="1600" dirty="0">
              <a:latin typeface="Arial" panose="020B0604020202020204" pitchFamily="34" charset="0"/>
              <a:cs typeface="Arial" panose="020B0604020202020204" pitchFamily="34" charset="0"/>
            </a:endParaRPr>
          </a:p>
          <a:p>
            <a:pPr rtl="0"/>
            <a:r>
              <a:rPr lang="en-US" sz="1600" b="1" dirty="0">
                <a:solidFill>
                  <a:srgbClr val="156082"/>
                </a:solidFill>
                <a:latin typeface="Arial" panose="020B0604020202020204" pitchFamily="34" charset="0"/>
                <a:cs typeface="Arial" panose="020B0604020202020204" pitchFamily="34" charset="0"/>
              </a:rPr>
              <a:t>Users</a:t>
            </a:r>
            <a:br>
              <a:rPr lang="en-US" sz="1600" dirty="0">
                <a:latin typeface="Arial" panose="020B0604020202020204" pitchFamily="34" charset="0"/>
                <a:cs typeface="Arial" panose="020B0604020202020204" pitchFamily="34" charset="0"/>
              </a:rPr>
            </a:br>
            <a:r>
              <a:rPr lang="en-US" sz="1600" b="1" dirty="0">
                <a:latin typeface="Arial" panose="020B0604020202020204" pitchFamily="34" charset="0"/>
                <a:cs typeface="Arial" panose="020B0604020202020204" pitchFamily="34" charset="0"/>
              </a:rPr>
              <a:t>Fans, analysts, and franchises</a:t>
            </a:r>
            <a:r>
              <a:rPr lang="en-US" sz="1600" dirty="0">
                <a:latin typeface="Arial" panose="020B0604020202020204" pitchFamily="34" charset="0"/>
                <a:cs typeface="Arial" panose="020B0604020202020204" pitchFamily="34" charset="0"/>
              </a:rPr>
              <a:t> interact with the Web App on the front end — they're the ones consuming everything the pipeline behind them produced.</a:t>
            </a:r>
          </a:p>
        </p:txBody>
      </p:sp>
    </p:spTree>
    <p:extLst>
      <p:ext uri="{BB962C8B-B14F-4D97-AF65-F5344CB8AC3E}">
        <p14:creationId xmlns:p14="http://schemas.microsoft.com/office/powerpoint/2010/main" val="41188552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6001</TotalTime>
  <Words>4152</Words>
  <Application>Microsoft Office PowerPoint</Application>
  <PresentationFormat>Widescreen</PresentationFormat>
  <Paragraphs>300</Paragraphs>
  <Slides>28</Slides>
  <Notes>10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28</vt:i4>
      </vt:variant>
    </vt:vector>
  </HeadingPairs>
  <TitlesOfParts>
    <vt:vector size="37" baseType="lpstr">
      <vt:lpstr>Aptos</vt:lpstr>
      <vt:lpstr>Aptos Display</vt:lpstr>
      <vt:lpstr>Arial</vt:lpstr>
      <vt:lpstr>Bahnschrift</vt:lpstr>
      <vt:lpstr>Calibri</vt:lpstr>
      <vt:lpstr>Calibri Light</vt:lpstr>
      <vt:lpstr>Times New Roman</vt:lpstr>
      <vt:lpstr>Office Theme</vt:lpstr>
      <vt:lpstr>1_Office Theme</vt:lpstr>
      <vt:lpstr>       </vt:lpstr>
      <vt:lpstr>PowerPoint Presentation</vt:lpstr>
      <vt:lpstr>PowerPoint Presentation</vt:lpstr>
      <vt:lpstr>PowerPoint Presentation</vt:lpstr>
      <vt:lpstr>PowerPoint Presentation</vt:lpstr>
      <vt:lpstr>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System Design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Implementation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vds 7</cp:lastModifiedBy>
  <cp:revision>11</cp:revision>
  <dcterms:created xsi:type="dcterms:W3CDTF">2026-08-08T06:33:56Z</dcterms:created>
  <dcterms:modified xsi:type="dcterms:W3CDTF">2026-09-27T08:46:39Z</dcterms:modified>
</cp:coreProperties>
</file>