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ink/ink2.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73" r:id="rId12"/>
    <p:sldId id="266" r:id="rId13"/>
    <p:sldId id="267" r:id="rId14"/>
    <p:sldId id="268" r:id="rId15"/>
    <p:sldId id="269" r:id="rId16"/>
    <p:sldId id="270" r:id="rId17"/>
    <p:sldId id="271" r:id="rId18"/>
    <p:sldId id="272"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0F4A80-743C-4BFC-A669-C7FA0019F9F5}" v="6" dt="2026-09-29T09:37:38.3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816" autoAdjust="0"/>
    <p:restoredTop sz="94610"/>
  </p:normalViewPr>
  <p:slideViewPr>
    <p:cSldViewPr snapToGrid="0" snapToObjects="1">
      <p:cViewPr varScale="1">
        <p:scale>
          <a:sx n="82" d="100"/>
          <a:sy n="82" d="100"/>
        </p:scale>
        <p:origin x="59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ds 7" userId="33559902d3ed092c" providerId="LiveId" clId="{9C56A98E-D754-451F-B35A-0C71D8D9F560}"/>
    <pc:docChg chg="undo custSel addSld delSld modSld">
      <pc:chgData name="vds 7" userId="33559902d3ed092c" providerId="LiveId" clId="{9C56A98E-D754-451F-B35A-0C71D8D9F560}" dt="2026-09-29T09:38:15.826" v="21" actId="1076"/>
      <pc:docMkLst>
        <pc:docMk/>
      </pc:docMkLst>
      <pc:sldChg chg="addSp delSp modSp mod">
        <pc:chgData name="vds 7" userId="33559902d3ed092c" providerId="LiveId" clId="{9C56A98E-D754-451F-B35A-0C71D8D9F560}" dt="2026-09-29T09:38:15.826" v="21" actId="1076"/>
        <pc:sldMkLst>
          <pc:docMk/>
          <pc:sldMk cId="0" sldId="256"/>
        </pc:sldMkLst>
        <pc:spChg chg="add del">
          <ac:chgData name="vds 7" userId="33559902d3ed092c" providerId="LiveId" clId="{9C56A98E-D754-451F-B35A-0C71D8D9F560}" dt="2026-09-29T09:38:01.689" v="15" actId="478"/>
          <ac:spMkLst>
            <pc:docMk/>
            <pc:sldMk cId="0" sldId="256"/>
            <ac:spMk id="2" creationId="{00000000-0000-0000-0000-000000000000}"/>
          </ac:spMkLst>
        </pc:spChg>
        <pc:spChg chg="add del">
          <ac:chgData name="vds 7" userId="33559902d3ed092c" providerId="LiveId" clId="{9C56A98E-D754-451F-B35A-0C71D8D9F560}" dt="2026-09-29T09:38:01.689" v="15" actId="478"/>
          <ac:spMkLst>
            <pc:docMk/>
            <pc:sldMk cId="0" sldId="256"/>
            <ac:spMk id="4" creationId="{00000000-0000-0000-0000-000000000000}"/>
          </ac:spMkLst>
        </pc:spChg>
        <pc:spChg chg="add del">
          <ac:chgData name="vds 7" userId="33559902d3ed092c" providerId="LiveId" clId="{9C56A98E-D754-451F-B35A-0C71D8D9F560}" dt="2026-09-29T09:38:01.689" v="15" actId="478"/>
          <ac:spMkLst>
            <pc:docMk/>
            <pc:sldMk cId="0" sldId="256"/>
            <ac:spMk id="6" creationId="{00000000-0000-0000-0000-000000000000}"/>
          </ac:spMkLst>
        </pc:spChg>
        <pc:spChg chg="add del">
          <ac:chgData name="vds 7" userId="33559902d3ed092c" providerId="LiveId" clId="{9C56A98E-D754-451F-B35A-0C71D8D9F560}" dt="2026-09-29T09:38:01.689" v="15" actId="478"/>
          <ac:spMkLst>
            <pc:docMk/>
            <pc:sldMk cId="0" sldId="256"/>
            <ac:spMk id="7" creationId="{00000000-0000-0000-0000-000000000000}"/>
          </ac:spMkLst>
        </pc:spChg>
        <pc:spChg chg="add del">
          <ac:chgData name="vds 7" userId="33559902d3ed092c" providerId="LiveId" clId="{9C56A98E-D754-451F-B35A-0C71D8D9F560}" dt="2026-09-29T09:38:01.689" v="15" actId="478"/>
          <ac:spMkLst>
            <pc:docMk/>
            <pc:sldMk cId="0" sldId="256"/>
            <ac:spMk id="8" creationId="{00000000-0000-0000-0000-000000000000}"/>
          </ac:spMkLst>
        </pc:spChg>
        <pc:spChg chg="add del">
          <ac:chgData name="vds 7" userId="33559902d3ed092c" providerId="LiveId" clId="{9C56A98E-D754-451F-B35A-0C71D8D9F560}" dt="2026-09-29T09:38:01.689" v="15" actId="478"/>
          <ac:spMkLst>
            <pc:docMk/>
            <pc:sldMk cId="0" sldId="256"/>
            <ac:spMk id="9" creationId="{00000000-0000-0000-0000-000000000000}"/>
          </ac:spMkLst>
        </pc:spChg>
        <pc:spChg chg="add del">
          <ac:chgData name="vds 7" userId="33559902d3ed092c" providerId="LiveId" clId="{9C56A98E-D754-451F-B35A-0C71D8D9F560}" dt="2026-09-29T09:38:01.689" v="15" actId="478"/>
          <ac:spMkLst>
            <pc:docMk/>
            <pc:sldMk cId="0" sldId="256"/>
            <ac:spMk id="11" creationId="{00000000-0000-0000-0000-000000000000}"/>
          </ac:spMkLst>
        </pc:spChg>
        <pc:spChg chg="add del">
          <ac:chgData name="vds 7" userId="33559902d3ed092c" providerId="LiveId" clId="{9C56A98E-D754-451F-B35A-0C71D8D9F560}" dt="2026-09-29T09:38:01.689" v="15" actId="478"/>
          <ac:spMkLst>
            <pc:docMk/>
            <pc:sldMk cId="0" sldId="256"/>
            <ac:spMk id="12" creationId="{00000000-0000-0000-0000-000000000000}"/>
          </ac:spMkLst>
        </pc:spChg>
        <pc:spChg chg="add del">
          <ac:chgData name="vds 7" userId="33559902d3ed092c" providerId="LiveId" clId="{9C56A98E-D754-451F-B35A-0C71D8D9F560}" dt="2026-09-29T09:38:01.689" v="15" actId="478"/>
          <ac:spMkLst>
            <pc:docMk/>
            <pc:sldMk cId="0" sldId="256"/>
            <ac:spMk id="13" creationId="{00000000-0000-0000-0000-000000000000}"/>
          </ac:spMkLst>
        </pc:spChg>
        <pc:spChg chg="add del">
          <ac:chgData name="vds 7" userId="33559902d3ed092c" providerId="LiveId" clId="{9C56A98E-D754-451F-B35A-0C71D8D9F560}" dt="2026-09-29T09:38:01.689" v="15" actId="478"/>
          <ac:spMkLst>
            <pc:docMk/>
            <pc:sldMk cId="0" sldId="256"/>
            <ac:spMk id="14" creationId="{00000000-0000-0000-0000-000000000000}"/>
          </ac:spMkLst>
        </pc:spChg>
        <pc:spChg chg="add mod">
          <ac:chgData name="vds 7" userId="33559902d3ed092c" providerId="LiveId" clId="{9C56A98E-D754-451F-B35A-0C71D8D9F560}" dt="2026-09-29T09:37:23.593" v="4"/>
          <ac:spMkLst>
            <pc:docMk/>
            <pc:sldMk cId="0" sldId="256"/>
            <ac:spMk id="15" creationId="{F1D1F2FC-29A2-7273-16BA-68A8CDE54930}"/>
          </ac:spMkLst>
        </pc:spChg>
        <pc:spChg chg="add mod">
          <ac:chgData name="vds 7" userId="33559902d3ed092c" providerId="LiveId" clId="{9C56A98E-D754-451F-B35A-0C71D8D9F560}" dt="2026-09-29T09:37:23.593" v="4"/>
          <ac:spMkLst>
            <pc:docMk/>
            <pc:sldMk cId="0" sldId="256"/>
            <ac:spMk id="16" creationId="{84E14E1B-2C01-AD6A-611A-0C3F23342CCA}"/>
          </ac:spMkLst>
        </pc:spChg>
        <pc:spChg chg="add mod">
          <ac:chgData name="vds 7" userId="33559902d3ed092c" providerId="LiveId" clId="{9C56A98E-D754-451F-B35A-0C71D8D9F560}" dt="2026-09-29T09:37:19.255" v="1"/>
          <ac:spMkLst>
            <pc:docMk/>
            <pc:sldMk cId="0" sldId="256"/>
            <ac:spMk id="17" creationId="{C0B62A29-727D-AD9A-9559-E3579342F653}"/>
          </ac:spMkLst>
        </pc:spChg>
        <pc:spChg chg="add mod">
          <ac:chgData name="vds 7" userId="33559902d3ed092c" providerId="LiveId" clId="{9C56A98E-D754-451F-B35A-0C71D8D9F560}" dt="2026-09-29T09:37:19.255" v="1"/>
          <ac:spMkLst>
            <pc:docMk/>
            <pc:sldMk cId="0" sldId="256"/>
            <ac:spMk id="19" creationId="{757FB1BA-A5DF-5545-7743-5DEC992A45B7}"/>
          </ac:spMkLst>
        </pc:spChg>
        <pc:spChg chg="add mod">
          <ac:chgData name="vds 7" userId="33559902d3ed092c" providerId="LiveId" clId="{9C56A98E-D754-451F-B35A-0C71D8D9F560}" dt="2026-09-29T09:37:26.687" v="8"/>
          <ac:spMkLst>
            <pc:docMk/>
            <pc:sldMk cId="0" sldId="256"/>
            <ac:spMk id="20" creationId="{53377AB8-3137-6B40-AA11-ED14F1A9C5DE}"/>
          </ac:spMkLst>
        </pc:spChg>
        <pc:spChg chg="add mod">
          <ac:chgData name="vds 7" userId="33559902d3ed092c" providerId="LiveId" clId="{9C56A98E-D754-451F-B35A-0C71D8D9F560}" dt="2026-09-29T09:37:26.687" v="8"/>
          <ac:spMkLst>
            <pc:docMk/>
            <pc:sldMk cId="0" sldId="256"/>
            <ac:spMk id="21" creationId="{48482754-54FD-66AA-C629-88A95A759EA6}"/>
          </ac:spMkLst>
        </pc:spChg>
        <pc:spChg chg="add mod">
          <ac:chgData name="vds 7" userId="33559902d3ed092c" providerId="LiveId" clId="{9C56A98E-D754-451F-B35A-0C71D8D9F560}" dt="2026-09-29T09:37:25.583" v="5"/>
          <ac:spMkLst>
            <pc:docMk/>
            <pc:sldMk cId="0" sldId="256"/>
            <ac:spMk id="22" creationId="{3D1B0603-00D9-5AD0-B6A7-7ECF020364FE}"/>
          </ac:spMkLst>
        </pc:spChg>
        <pc:spChg chg="add mod">
          <ac:chgData name="vds 7" userId="33559902d3ed092c" providerId="LiveId" clId="{9C56A98E-D754-451F-B35A-0C71D8D9F560}" dt="2026-09-29T09:37:25.583" v="5"/>
          <ac:spMkLst>
            <pc:docMk/>
            <pc:sldMk cId="0" sldId="256"/>
            <ac:spMk id="24" creationId="{AD226B36-DA8A-F512-F2F7-7D09776D717C}"/>
          </ac:spMkLst>
        </pc:spChg>
        <pc:picChg chg="add mod">
          <ac:chgData name="vds 7" userId="33559902d3ed092c" providerId="LiveId" clId="{9C56A98E-D754-451F-B35A-0C71D8D9F560}" dt="2026-09-29T09:37:19.255" v="1"/>
          <ac:picMkLst>
            <pc:docMk/>
            <pc:sldMk cId="0" sldId="256"/>
            <ac:picMk id="18" creationId="{B59B8F64-5EC4-55AE-6223-6F896607FF1A}"/>
          </ac:picMkLst>
        </pc:picChg>
        <pc:picChg chg="add mod">
          <ac:chgData name="vds 7" userId="33559902d3ed092c" providerId="LiveId" clId="{9C56A98E-D754-451F-B35A-0C71D8D9F560}" dt="2026-09-29T09:37:25.583" v="5"/>
          <ac:picMkLst>
            <pc:docMk/>
            <pc:sldMk cId="0" sldId="256"/>
            <ac:picMk id="23" creationId="{AF635251-95ED-6089-CF7F-7C3F5682AB6C}"/>
          </ac:picMkLst>
        </pc:picChg>
        <pc:picChg chg="add mod">
          <ac:chgData name="vds 7" userId="33559902d3ed092c" providerId="LiveId" clId="{9C56A98E-D754-451F-B35A-0C71D8D9F560}" dt="2026-09-29T09:38:15.826" v="21" actId="1076"/>
          <ac:picMkLst>
            <pc:docMk/>
            <pc:sldMk cId="0" sldId="256"/>
            <ac:picMk id="26" creationId="{C4C0878C-BC7B-2A4C-F318-816BFA8A5DB5}"/>
          </ac:picMkLst>
        </pc:picChg>
      </pc:sldChg>
      <pc:sldChg chg="addSp modSp new del mod">
        <pc:chgData name="vds 7" userId="33559902d3ed092c" providerId="LiveId" clId="{9C56A98E-D754-451F-B35A-0C71D8D9F560}" dt="2026-09-29T09:38:09.510" v="20" actId="47"/>
        <pc:sldMkLst>
          <pc:docMk/>
          <pc:sldMk cId="669473563" sldId="274"/>
        </pc:sldMkLst>
        <pc:spChg chg="add mod">
          <ac:chgData name="vds 7" userId="33559902d3ed092c" providerId="LiveId" clId="{9C56A98E-D754-451F-B35A-0C71D8D9F560}" dt="2026-09-29T09:37:38.334" v="14"/>
          <ac:spMkLst>
            <pc:docMk/>
            <pc:sldMk cId="669473563" sldId="274"/>
            <ac:spMk id="2" creationId="{8924DAE4-C36F-18F3-73C7-301DF43E429D}"/>
          </ac:spMkLst>
        </pc:spChg>
        <pc:spChg chg="add mod">
          <ac:chgData name="vds 7" userId="33559902d3ed092c" providerId="LiveId" clId="{9C56A98E-D754-451F-B35A-0C71D8D9F560}" dt="2026-09-29T09:37:38.334" v="14"/>
          <ac:spMkLst>
            <pc:docMk/>
            <pc:sldMk cId="669473563" sldId="274"/>
            <ac:spMk id="3" creationId="{C5D66E40-8B4E-E54D-DBFD-6DDAF4FF9FB9}"/>
          </ac:spMkLst>
        </pc:spChg>
        <pc:spChg chg="add mod">
          <ac:chgData name="vds 7" userId="33559902d3ed092c" providerId="LiveId" clId="{9C56A98E-D754-451F-B35A-0C71D8D9F560}" dt="2026-09-29T09:37:36.457" v="11"/>
          <ac:spMkLst>
            <pc:docMk/>
            <pc:sldMk cId="669473563" sldId="274"/>
            <ac:spMk id="4" creationId="{CD192F92-B9DA-F438-9F62-A944081A1DD1}"/>
          </ac:spMkLst>
        </pc:spChg>
        <pc:spChg chg="add mod">
          <ac:chgData name="vds 7" userId="33559902d3ed092c" providerId="LiveId" clId="{9C56A98E-D754-451F-B35A-0C71D8D9F560}" dt="2026-09-29T09:37:36.457" v="11"/>
          <ac:spMkLst>
            <pc:docMk/>
            <pc:sldMk cId="669473563" sldId="274"/>
            <ac:spMk id="6" creationId="{E42E3488-E0ED-73EE-2A15-D3D3254FB135}"/>
          </ac:spMkLst>
        </pc:spChg>
        <pc:picChg chg="add mod">
          <ac:chgData name="vds 7" userId="33559902d3ed092c" providerId="LiveId" clId="{9C56A98E-D754-451F-B35A-0C71D8D9F560}" dt="2026-09-29T09:37:36.457" v="11"/>
          <ac:picMkLst>
            <pc:docMk/>
            <pc:sldMk cId="669473563" sldId="274"/>
            <ac:picMk id="5" creationId="{04D1A01A-2FB5-DBCD-309F-FDE69431DBC8}"/>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7T08:35:10.807"/>
    </inkml:context>
    <inkml:brush xml:id="br0">
      <inkml:brushProperty name="width" value="0.35" units="cm"/>
      <inkml:brushProperty name="height" value="0.35" units="cm"/>
      <inkml:brushProperty name="color" value="#FFFFFF"/>
    </inkml:brush>
  </inkml:definitions>
  <inkml:trace contextRef="#ctx0" brushRef="#br0">162 2730 24575,'5928'0'0,"-5912"-1"0,1 0 0,-1-2 0,0 0 0,0 0 0,0-2 0,-1 0 0,1 0 0,-1-2 0,-1 0 0,1 0 0,-1-2 0,20-14 0,-18 14 0,0 0 0,0 1 0,1 1 0,0 1 0,26-6 0,-29 8 0,-7 1 0,-1 0 0,1-1 0,-1 0 0,1-1 0,-1 0 0,-1 1 0,1-2 0,-1 1 0,0-1 0,0 0 0,0 0 0,4-7 0,19-21 0,-11 13 0,0-1 0,-2 0 0,0-1 0,18-40 0,0 3 0,-28 48 0,1 0 0,-1 0 0,-1-1 0,0 1 0,-1-1 0,0 0 0,-1 0 0,0-14 0,-2-112 0,-3 66 0,3-370 0,1 423 0,1-1 0,9-36 0,-6 35 0,-1 0 0,1-26 0,-5-218 0,-1 121 0,1 141 0,0 0 0,0 0 0,0 0 0,-1 0 0,1 0 0,-1 1 0,0-1 0,0 0 0,0 0 0,-1 0 0,0 1 0,1-1 0,-1 1 0,-5-7 0,3 6 0,0 1 0,0 0 0,0 0 0,0 0 0,-1 0 0,1 0 0,-1 1 0,0 0 0,0 0 0,0 0 0,-6 0 0,4-1 0,-44-11 0,-59-10 0,-52-2 0,90 14 0,33 5 0,-71-2 0,-583 10 0,646-3 0,-55-10 0,-23-1 0,-325 11 0,235 4 0,179-4 0,-58-10 0,55 5 0,-42 0 0,-551 5 0,306 4 0,-2242-2 0,2558 0 0,0 1 0,0 0 0,0 0 0,0 1 0,0 0 0,0 1 0,1 0 0,-1 1 0,1 0 0,-15 8 0,19-9 0,0 1 0,0 0 0,0 0 0,0 0 0,1 0 0,0 1 0,0-1 0,0 1 0,1 0 0,-1 0 0,1 1 0,0-1 0,1 1 0,-1-1 0,1 1 0,0 0 0,1 0 0,-2 9 0,-3 13 0,-1-1 0,-1 0 0,-1-1 0,-18 36 0,12-29 0,-19 67 0,26-76 0,-1-1 0,-1 0 0,-19 33 0,8-15 0,-31 80 0,36-80 0,-2 0 0,-36 60 0,48-89 0,0 0 0,1 0 0,1 0 0,0 1 0,1 0 0,0 0 0,1 0 0,0 0 0,1 16 0,-8 41 0,-1-17 0,-27 109 0,-7-38 0,34-89 0,4-13 0,0-1 0,2 1 0,-4 32 0,-3 6 0,8-53 0,1 1 0,0 0 0,0-1 0,1 1 0,0 0 0,0-1 0,1 1 0,0 0 0,0 0 0,3 13 0,-2-19 0,0 0 0,0 0 0,0 0 0,0 0 0,0 0 0,1 0 0,-1-1 0,1 1 0,-1 0 0,1-1 0,-1 1 0,1-1 0,0 1 0,0-1 0,0 0 0,0 0 0,0 0 0,0 0 0,0 0 0,0 0 0,0-1 0,1 1 0,-1-1 0,0 0 0,0 1 0,1-1 0,-1 0 0,2 0 0,9-1 0,-1 0 0,0-1 0,0 0 0,12-4 0,-6 2 0,153-21 0,-107 18 0,67-3 0,161 8 0,-135 4 0,4888-2 0,-5027-1 0,0-2 0,0 0 0,0-1 0,0 0 0,29-13 0,6-1 0,-30 11 0,0-1 0,0 0 0,-1-2 0,36-22 0,-47 25 0,0-1 0,-1-1 0,0 0 0,0 0 0,-1-1 0,0 0 0,-1-1 0,0 1 0,13-24 0,-11 12 0,-1 0 0,-1-1 0,-1 0 0,-1 0 0,4-27 0,7-121 0,-16 158 0,5-421 0,-8 244 0,2 189 0,0-52 0,-11-92 0,8 131 0,1-1 0,-2 1 0,1 0 0,-2 0 0,0 0 0,-1 0 0,0 1 0,-1 0 0,-1 1 0,0-1 0,-13-15 0,17 24 0,-1 1 0,1-1 0,-1 1 0,1 0 0,-1 1 0,0-1 0,0 1 0,-1 0 0,1 0 0,0 0 0,-1 1 0,1 0 0,-1 0 0,1 0 0,-1 1 0,1 0 0,-1 0 0,-8 1 0,-11 2 0,-1 1 0,-42 13 0,42-11 0,-533 93 0,388-87 0,107-10 0,-66 11 0,1 5 0,-236 3 0,314-21 0,-186-4 0,174 0 0,-110-22 0,96 7 0,45 10 0,0 1 0,-1 2 0,-40-3 0,-197 10 0,-33-2 0,257-3 0,-74-19 0,76 13 0,-83-7 0,-71-8 0,47 9 0,34 2 0,-97-24 0,140 23 0,-78-22 0,-47-8 0,127 33 0,-1 3 0,-76 1 0,-424 9 0,552 0 0,0 2 0,-41 9 0,3-1 0,27-4 0,1 2 0,0 0 0,0 2 0,-46 25 0,35-16 0,-53 16 0,49-23 0,27-9 0,0 2 0,0 0 0,-25 12 0,-210 129 0,232-132 0,4-4 0,1 0 0,1 2 0,-1 0 0,2 1 0,-14 15 0,26-25 0,0-1 0,1 0 0,-1 1 0,1 0 0,0-1 0,0 1 0,0 0 0,1 0 0,-1 0 0,1 0 0,0 0 0,0 1 0,0-1 0,1 0 0,0 0 0,-1 1 0,2-1 0,-1 0 0,0 1 0,1-1 0,0 0 0,0 0 0,0 0 0,0 0 0,1 0 0,-1 0 0,1 0 0,0 0 0,1 0 0,2 4 0,7 7 0,2 1 0,-1-1 0,27 21 0,-23-22 0,-1 1 0,-1 0 0,15 20 0,204 298 0,-155-207 0,-48-75 0,52 69 0,5-5 0,-63-87 0,1-1 0,1-1 0,1-1 0,43 28 0,-55-43 0,1 0 0,0-1 0,0-1 0,1-1 0,0 0 0,0-1 0,1-1 0,-1-1 0,1-1 0,29 2 0,234-5 0,145 9 0,286 37 0,2756-48 0,-3459 2 0,0 0 0,0-1 0,0-1 0,0 0 0,0 0 0,0-1 0,0 0 0,-1 0 0,0-1 0,1-1 0,-1 1 0,15-12 0,-12 6 0,-1 0 0,0 0 0,0-1 0,-2-1 0,1 1 0,-1-2 0,13-23 0,-1-10 0,-2 0 0,-1-2 0,-3 0 0,9-50 0,-19 76 0,30-140 0,-31 132 0,-1 0 0,-1 0 0,-3-44 0,1 66 0,-2 1 0,1-1 0,0 1 0,-1-1 0,-1 1 0,1 0 0,-1 0 0,0 0 0,-1 1 0,0-1 0,0 1 0,0 0 0,-1 0 0,0 0 0,0 0 0,0 1 0,-7-5 0,-8-5 0,-1 1 0,-1 2 0,-42-20 0,44 24 0,0-2 0,1 0 0,0-1 0,1-1 0,-18-15 0,31 21 0,0 1 0,1 0 0,0-1 0,0 0 0,1 0 0,-1 0 0,1 0 0,1-1 0,-3-8 0,-13-64 0,15 62 0,2 15 0,1 0 0,0-1 0,-1 1 0,1 0 0,-1 0 0,0-1 0,0 1 0,1 0 0,-2 0 0,1 0 0,0 0 0,0 0 0,-1 0 0,1 0 0,-1 1 0,1-1 0,-1 0 0,0 1 0,0-1 0,1 1 0,-5-2 0,3 2 0,1 0 0,-1 1 0,0 0 0,1-1 0,-1 1 0,1 0 0,-1 0 0,0 1 0,1-1 0,-1 0 0,1 1 0,-1 0 0,1-1 0,-1 1 0,1 0 0,-4 2 0,-1 1 0,0 0 0,1 0 0,0 1 0,0 0 0,0 0 0,0 0 0,1 0 0,0 1 0,0 0 0,0 0 0,1 1 0,-6 10 0,0 24 0,10-40 0,-1 0 0,1 1 0,0-1 0,0 1 0,0-1 0,0 1 0,0-1 0,0 1 0,1-1 0,-1 0 0,0 1 0,1-1 0,-1 1 0,1-1 0,-1 0 0,1 1 0,0-1 0,0 0 0,-1 0 0,1 0 0,0 1 0,0-1 0,0 0 0,0 0 0,2 1 0,-2-2 0,0 0 0,0 0 0,0 0 0,0 0 0,0 0 0,0 0 0,0 0 0,0 0 0,0 0 0,0 0 0,0 0 0,0-1 0,0 1 0,0 0 0,-1-1 0,1 1 0,0-1 0,0 1 0,0-1 0,0 1 0,0-1 0,-1 0 0,1 1 0,0-2 0,22-22 0,-15 15 0,112-102 0,-28 28 0,-9 8 0,-44 43 0,51-59 0,-89 91 0,0-1 0,0 0 0,0 0 0,0 0 0,-1 0 0,1 0 0,0 0 0,-1 0 0,1 0 0,-1 0 0,1 0 0,-1 0 0,1 0 0,-1-1 0,0 1 0,0 0 0,0 0 0,0 0 0,1-1 0,-1 1 0,-1-2 0,1 3 0,-1-1 0,1 0 0,-1 0 0,1 1 0,-1-1 0,0 0 0,1 1 0,-1-1 0,0 1 0,0-1 0,1 0 0,-1 1 0,0 0 0,0-1 0,0 1 0,0 0 0,0-1 0,1 1 0,-1 0 0,-2-1 0,-4 1 0,0-1 0,0 1 0,-1 0 0,1 0 0,-12 2 0,-39 13 0,0 2 0,-100 44 0,132-50 0,-61 27 0,1 4 0,2 4 0,-116 83 0,137-85 0,-50 39 0,109-79 0,0 0 0,1 0 0,-1 0 0,1 0 0,-1 0 0,1 1 0,0-1 0,1 1 0,-1 0 0,1 0 0,0 0 0,0 0 0,1 0 0,0 1 0,0-1 0,0 0 0,0 1 0,1-1 0,0 8 0,0-6 0,1 0 0,0-1 0,1 1 0,0 0 0,0-1 0,0 1 0,1-1 0,0 1 0,0-1 0,0 0 0,1-1 0,0 1 0,0 0 0,9 8 0,2 4 0,0 0 0,-1 2 0,-1-1 0,14 31 0,25 35 0,-26-47 0,-11-15 0,1 0 0,26 27 0,-36-44 0,-1-1 0,1 0 0,0 0 0,1 0 0,-1-1 0,1 0 0,-1 0 0,1-1 0,0 0 0,1 0 0,-1 0 0,1-1 0,8 1 0,27 5 0,63 20 0,-79-20 0,-16-4 0,0-2 0,0 0 0,23 1 0,-31-2 0,0-2 0,0 1 0,0 0 0,0 0 0,0-1 0,0 0 0,0 0 0,-1 0 0,4-1 0,-5 1 0,0 1 0,0-1 0,0 0 0,0 1 0,0-1 0,0 0 0,0 0 0,0 0 0,-1 0 0,1 0 0,0 0 0,-1 0 0,1 0 0,-1 0 0,1 0 0,-1 0 0,1 0 0,-1 0 0,0 0 0,0 0 0,1-1 0,-1 1 0,0-1 0,0-1 0,-1 1 0,1-1 0,-1 1 0,1-1 0,-1 1 0,0 0 0,0 0 0,0-1 0,0 1 0,0 0 0,0 0 0,-1 0 0,1 0 0,-1 0 0,-2-2 0,-33-29 0,17 16 0,-19-18 0,-388-335 0,400 348 0,21 16 0,-1 0 0,1 1 0,-1 0 0,0 0 0,-1 1 0,1-1 0,-1 1 0,1 1 0,-1 0 0,-1 0 0,1 0 0,-15-2 0,-49 1 0,-89 6 0,44 1 0,27-1 0,0 4 0,1 4 0,-130 30 0,107-4 0,55-17 0,43-14 0,0 0 0,0 0 0,1 2 0,-17 10 0,24-13 0,-1 1 0,2 0 0,-1 0 0,0 0 0,1 1 0,0 0 0,0 0 0,1 0 0,0 0 0,-4 8 0,3-5 0,-5 13 0,-1-2 0,0 0 0,-20 25 0,25-38 0,0-1 0,0 0 0,0 0 0,-1-1 0,0 1 0,0-2 0,0 1 0,-1-1 0,0 0 0,0 0 0,0-1 0,-14 4 0,-27 4 0,-1-1 0,-87 4 0,-103-12 0,143-3 0,-1248-1 0,1315 4 0,1 2 0,-1 0 0,-53 17 0,-15 2 0,22-11 0,0-3 0,-97-1 0,57-7 0,-111-4 0,207 1 0,0-2 0,0-1 0,0 0 0,1-1 0,0-2 0,0 0 0,1 0 0,0-2 0,0 0 0,-18-15 0,29 19 0,0 0 0,0 0 0,1-1 0,0 0 0,0 0 0,1-1 0,0 1 0,0-1 0,1 0 0,0 0 0,0-1 0,1 1 0,-4-17 0,2 3 0,1-1 0,1 0 0,0 0 0,2-29 0,1 39 0,1-1 0,0 1 0,1 0 0,4-19 0,-5 27 0,1 0 0,0 0 0,0 0 0,1 1 0,-1-1 0,1 1 0,0-1 0,0 1 0,1 0 0,-1 0 0,1 1 0,0-1 0,0 1 0,5-4 0,75-52 0,59-38 0,-118 80 0,-1-2 0,-1-1 0,-1 0 0,-1-2 0,-1 0 0,30-44 0,46-48 0,-31 46 0,-65 68 0,1-1 0,-1 1 0,1-1 0,0 1 0,-1-1 0,1 0 0,-1 1 0,0-1 0,1 0 0,-1 1 0,1-1 0,-1 0 0,0 0 0,0 0 0,1 1 0,-1-1 0,0 0 0,0 0 0,0 0 0,0 1 0,0-1 0,0 0 0,0 0 0,0 0 0,0 1 0,-1-2 0,0 1 0,1 1 0,-1-1 0,0 1 0,0-1 0,0 1 0,0-1 0,0 1 0,0 0 0,1-1 0,-1 1 0,0 0 0,0 0 0,0 0 0,0 0 0,0 0 0,0 0 0,0 0 0,-1 0 0,-47 10 0,-160 49 0,193-54 0,1 1 0,1 0 0,-1 1 0,-21 14 0,-22 11 0,29-16 0,0 1 0,-40 31 0,-21 12 0,55-35 0,-22 12 0,54-35 0,-1 0 0,0 0 0,0 0 0,1-1 0,-1 0 0,0 0 0,0 0 0,0 0 0,0 0 0,0-1 0,0 0 0,-5 0 0,8 0 0,0 0 0,0 0 0,1 0 0,-1-1 0,0 1 0,0 0 0,0-1 0,1 1 0,-1-1 0,0 1 0,0-1 0,1 1 0,-1-1 0,0 0 0,1 1 0,-1-1 0,1 0 0,-1 0 0,1 1 0,-1-1 0,1 0 0,-1 0 0,1 0 0,0 1 0,0-1 0,-1 0 0,1 0 0,0 0 0,0 0 0,0 0 0,0 0 0,0 1 0,0-1 0,0 0 0,0 0 0,0 0 0,0 0 0,1 0 0,-1 0 0,0 1 0,1-1 0,-1 0 0,0 0 0,1 0 0,20-41 0,-19 38 0,165-253 0,-158 244 0,0-2 0,-1 0 0,-1-1 0,0 0 0,6-22 0,-7 18 0,1 0 0,12-20 0,14-17 0,43-57 0,-64 97 0,-2-1 0,0-1 0,-2 0 0,0 0 0,9-34 0,-8 27 0,0 0 0,19-37 0,-27 60 0,9-12 0,-2 0 0,0-1 0,-1 0 0,-1 0 0,0 0 0,-1-1 0,3-21 0,-5 22 0,3-19 0,-6 34 0,0-1 0,0 1 0,1 0 0,-1-1 0,0 1 0,-1-1 0,1 1 0,0-1 0,0 1 0,-1 0 0,1-1 0,0 1 0,-1 0 0,0-1 0,1 1 0,-2-2 0,1 2 0,0 1 0,0 0 0,0-1 0,1 1 0,-1 0 0,0-1 0,0 1 0,0 0 0,0 0 0,0 0 0,0 0 0,0 0 0,0 0 0,0 0 0,1 0 0,-1 0 0,0 1 0,0-1 0,0 0 0,0 1 0,0-1 0,1 0 0,-1 1 0,0-1 0,0 1 0,0-1 0,1 1 0,-1-1 0,0 1 0,1 0 0,-1-1 0,1 1 0,-1 0 0,0 1 0,-23 30 0,21-28 0,-7 13 0,1 1 0,-11 25 0,-9 20 0,1-9 0,3 1 0,3 1 0,1 1 0,-18 90 0,31-104 0,3 0 0,1 1 0,5 87 0,-3 35 0,-22 15 0,6-42 0,4-50 0,2-23 0,7-44 0,1 0 0,-1 30 0,5 19 0,1-146 0,-2-87 0,0 156 0,0 0 0,0-1 0,-1 1 0,0 0 0,0 0 0,0 0 0,-1 0 0,0 1 0,0-1 0,-1 0 0,1 1 0,-6-6 0,-6-6 0,-1 2 0,-22-18 0,23 21 0,0-1 0,1 0 0,-16-21 0,9 0 0,1 0 0,2-1 0,1-1 0,2-1 0,1 0 0,2-1 0,-10-62 0,16 57 0,2 0 0,1 0 0,5-55 0,0 21 0,-1 68 0,0-1 0,0 1 0,1 0 0,1 0 0,-1 0 0,1 0 0,1 1 0,0-1 0,0 1 0,0 0 0,1 0 0,1 0 0,-1 0 0,1 1 0,0 0 0,12-9 0,-2 2 0,0 0 0,1 2 0,1 0 0,0 1 0,0 1 0,30-12 0,-8 9 0,0 2 0,2 2 0,-1 2 0,1 1 0,48 0 0,-47 5-1365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7T08:35:10.808"/>
    </inkml:context>
    <inkml:brush xml:id="br0">
      <inkml:brushProperty name="width" value="0.35" units="cm"/>
      <inkml:brushProperty name="height" value="0.35" units="cm"/>
      <inkml:brushProperty name="color" value="#FFFFFF"/>
    </inkml:brush>
  </inkml:definitions>
  <inkml:trace contextRef="#ctx0" brushRef="#br0">1 719 24575,'4'1'0,"-1"1"0,1-1 0,-1 1 0,1 0 0,-1 0 0,0 0 0,1 0 0,-1 0 0,0 1 0,0-1 0,-1 1 0,1 0 0,-1 0 0,5 6 0,1 1 0,63 70 0,-20-20 0,2-3 0,67 56 0,-81-80 0,-26-20 0,1-1 0,26 17 0,-39-28 0,0 0 0,1-1 0,-1 1 0,0 0 0,1-1 0,-1 0 0,1 1 0,-1-1 0,1 0 0,0 1 0,-1-1 0,1 0 0,-1 0 0,1 0 0,-1-1 0,1 1 0,-1 0 0,1 0 0,-1-1 0,1 1 0,-1-1 0,1 1 0,-1-1 0,0 0 0,1 0 0,-1 0 0,0 1 0,1-1 0,-1 0 0,0-1 0,0 1 0,0 0 0,0 0 0,0 0 0,0-1 0,0 1 0,-1 0 0,2-2 0,4-8 0,-1-1 0,0 1 0,7-24 0,-4 11 0,11-18 0,2 0 0,52-74 0,69-68 0,-67 89 0,-18 22 0,140-192 0,-73 95 0,-84 117 0,-39 52 0,-1 0 0,1 0 0,0 0 0,-1 0 0,1 0 0,0 0 0,0 0 0,0 0 0,-1 1 0,1-1 0,0 0 0,0 1 0,0-1 0,0 1 0,0-1 0,1 1 0,-1-1 0,0 1 0,0-1 0,0 1 0,0 0 0,0 0 0,1 0 0,-1 0 0,0 0 0,0 0 0,2 0 0,-3 1 0,1 0 0,0-1 0,0 1 0,0 0 0,0 0 0,-1 0 0,1 0 0,-1 0 0,1 0 0,0 0 0,-1 0 0,0 0 0,1 0 0,-1 1 0,0-1 0,1 0 0,-1 0 0,0 0 0,0 0 0,0 1 0,0-1 0,0 0 0,0 0 0,0 0 0,-1 0 0,1 1 0,0-1 0,-2 2 0,-3 16 0,-2-1 0,0 1 0,-1-1 0,-16 25 0,-6 15 0,-272 476 0,212-388 0,-36 55 0,197-271 0,10-19 0,137-142 0,-168 183 0,3 2 0,89-59 0,-25 36 0,193-81 0,-136 70 0,-170 78 0,24-10 0,-27 11 0,0 1 0,1-1 0,-1 1 0,0 0 0,0-1 0,0 1 0,0 0 0,0 0 0,0 0 0,1-1 0,-1 1 0,0 0 0,0 1 0,0-1 0,1 0 0,-1 0 0,0 0 0,0 1 0,2 0 0,-3-1 0,0 1 0,0 0 0,0 0 0,0-1 0,0 1 0,-1 0 0,1-1 0,0 1 0,0 0 0,0-1 0,-1 1 0,1 0 0,0-1 0,-1 1 0,1 0 0,-1-1 0,1 1 0,0-1 0,-1 1 0,1-1 0,-1 1 0,0-1 0,1 1 0,-1-1 0,0 1 0,-20 17 0,17-15 0,-77 67 0,3 3 0,-104 126 0,121-125 0,-120 164 0,170-221 0,3-6 0,1 1 0,0 0 0,-8 20 0,17-30 0,5-6 0,6-5 0,12-16 0,1 2 0,2 0 0,0 2 0,1 1 0,1 2 0,40-19 0,362-137 0,-85 37 0,-263 98 0,75-28 0,-134 59 0,13-5 0,65-13 0,-101 25 0,-1 1 0,1 0 0,0-1 0,-1 1 0,1 0 0,0 0 0,0 1 0,-1-1 0,1 0 0,0 0 0,-1 1 0,1-1 0,-1 1 0,1 0 0,0-1 0,2 3 0,-4-3 0,1 1 0,-1 0 0,1-1 0,-1 1 0,0 0 0,0-1 0,1 1 0,-1 0 0,0 0 0,0-1 0,0 1 0,0 0 0,0 0 0,0-1 0,0 1 0,0 0 0,0 0 0,0-1 0,-1 1 0,1 0 0,0 0 0,0-1 0,-1 1 0,1 0 0,0-1 0,-1 1 0,1 0 0,-1-1 0,1 1 0,0-1 0,-1 1 0,0-1 0,1 1 0,-1-1 0,1 1 0,-1-1 0,0 1 0,0-1 0,-80 65 0,17-15 0,2 6 0,-21 18 0,71-63 0,0 0 0,0 1 0,-18 26 0,21-26 0,0-1 0,0 0 0,-1 0 0,0-1 0,-22 16 0,8-12 0,-1-2 0,-1 0 0,0-2 0,-1-1 0,0-1 0,-35 6 0,-50 16 0,25 1 0,44-14 0,-61 15 0,166-57 0,-39 14 0,50-15 0,155-27 0,157-33 0,8 27 0,-156 25 0,-112 15 0,164-23 0,-269 38 0,1 0 0,38-15 0,-44 14 0,-1 0 0,1 0 0,0 2 0,0-1 0,0 2 0,21-1 0,-33 3 0,-1 0 0,1 1 0,-1-1 0,1 0 0,-1 1 0,0 0 0,1 0 0,-1-1 0,3 3 0,-1 4 0,-14 4 0,-8-1 0,-1-1 0,-1-1 0,1 0 0,-34 7 0,26-7 0,-87 25 0,-159 51 0,137-44 0,-33 12 0,143-42 0,0 1 0,1 2 0,0 0 0,-28 20 0,26-14 0,-2-2 0,0 0 0,-1-3 0,-40 15 0,-129 30 0,150-47 0,10-3 0,-65 24 0,26-5 0,-93 20 0,50-16 0,-44 8 0,141-36 0,-1-1 0,0 0 0,-39-3 0,227-1 0,-57-1 0,0 4 0,126 19 0,99 15 0,-205-25 0,72 4 0,1297-17 0,-1449 0 0,57-10 0,-56 6 0,52-2 0,-92 8 0,0 0 0,0-1 0,1 0 0,-1 0 0,0-1 0,0 0 0,-1 0 0,1 0 0,8-5 0,-14 6 0,1 0 0,-1 0 0,1 0 0,-1 0 0,0 0 0,1 0 0,-1-1 0,0 1 0,0 0 0,0-1 0,0 1 0,0-1 0,0 0 0,0 1 0,0-1 0,0 0 0,-1 1 0,1-1 0,-1 0 0,0 0 0,1 1 0,-1-1 0,0 0 0,0 0 0,0 0 0,0 0 0,0 1 0,-1-1 0,1 0 0,0 0 0,-1 1 0,1-1 0,-1 0 0,0 0 0,0 1 0,0-1 0,1 1 0,-1-1 0,-1 1 0,-1-3 0,-37-44 0,31 39 0,0-1 0,1 1 0,-11-17 0,-87-175 0,72 133 0,28 54 0,0 0 0,0 1 0,-2 0 0,1 0 0,-2 1 0,0 0 0,-19-21 0,26 31 0,-1 0 0,1 0 0,-1 0 0,1 0 0,-1 1 0,0-1 0,0 1 0,0-1 0,0 1 0,0 0 0,0 0 0,0 0 0,0 1 0,0-1 0,0 1 0,0 0 0,0 0 0,0 0 0,-1 0 0,1 0 0,-5 2 0,1 0 0,0 1 0,0 1 0,0-1 0,1 1 0,0 0 0,0 0 0,-11 10 0,0-1-170,-1-1-1,-1-1 0,0 0 1,0-2-1,-1 0 0,0-1 1,-33 8-1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5102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hyperlink" Target="https://arxiv.org/abs/2209.06346" TargetMode="External"/><Relationship Id="rId3" Type="http://schemas.openxmlformats.org/officeDocument/2006/relationships/image" Target="../media/image2.png"/><Relationship Id="rId7" Type="http://schemas.openxmlformats.org/officeDocument/2006/relationships/hyperlink" Target="https://arxiv.org/search/cs?searchtype=author&amp;query=Tunuguntla,+S"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arxiv.org/search/cs?searchtype=author&amp;query=Racha,+S" TargetMode="External"/><Relationship Id="rId5" Type="http://schemas.openxmlformats.org/officeDocument/2006/relationships/hyperlink" Target="https://arxiv.org/search/cs?searchtype=author&amp;query=Singhvi,+A" TargetMode="External"/><Relationship Id="rId10" Type="http://schemas.openxmlformats.org/officeDocument/2006/relationships/hyperlink" Target="https://ieeexplore.ieee.org/document/10705216/" TargetMode="External"/><Relationship Id="rId4" Type="http://schemas.openxmlformats.org/officeDocument/2006/relationships/hyperlink" Target="https://arxiv.org/search/cs?searchtype=author&amp;query=Shenoy,+A+V" TargetMode="External"/><Relationship Id="rId9" Type="http://schemas.openxmlformats.org/officeDocument/2006/relationships/hyperlink" Target="https://doi.org/10.1177/17479541221119738"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journals.sagepub.com/doi/10.3233/JSA-200580" TargetMode="External"/><Relationship Id="rId5" Type="http://schemas.openxmlformats.org/officeDocument/2006/relationships/hyperlink" Target="https://ieeexplore.ieee.org/document/9198668/" TargetMode="External"/><Relationship Id="rId4" Type="http://schemas.openxmlformats.org/officeDocument/2006/relationships/hyperlink" Target="https://www.nature.com/articles/s41598-026-36555-6"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customXml" Target="../ink/ink2.xml"/><Relationship Id="rId4" Type="http://schemas.openxmlformats.org/officeDocument/2006/relationships/image" Target="../media/image50.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C4C0878C-BC7B-2A4C-F318-816BFA8A5DB5}"/>
              </a:ext>
            </a:extLst>
          </p:cNvPr>
          <p:cNvPicPr>
            <a:picLocks noChangeAspect="1"/>
          </p:cNvPicPr>
          <p:nvPr/>
        </p:nvPicPr>
        <p:blipFill>
          <a:blip r:embed="rId3"/>
          <a:stretch>
            <a:fillRect/>
          </a:stretch>
        </p:blipFill>
        <p:spPr>
          <a:xfrm>
            <a:off x="2231743" y="331787"/>
            <a:ext cx="7728513" cy="632505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56032"/>
            <a:ext cx="9875520" cy="548640"/>
          </a:xfrm>
          <a:prstGeom prst="rect">
            <a:avLst/>
          </a:prstGeom>
          <a:noFill/>
          <a:ln/>
        </p:spPr>
        <p:txBody>
          <a:bodyPr wrap="square" lIns="0" tIns="0" rIns="0" bIns="0" rtlCol="0" anchor="ctr"/>
          <a:lstStyle/>
          <a:p>
            <a:pPr marL="0" indent="0">
              <a:buNone/>
            </a:pPr>
            <a:r>
              <a:rPr lang="en-US" sz="2400" b="1" dirty="0">
                <a:solidFill>
                  <a:srgbClr val="2E5AAC"/>
                </a:solidFill>
                <a:latin typeface="Calibri" pitchFamily="34" charset="0"/>
                <a:ea typeface="Calibri" pitchFamily="34" charset="-122"/>
                <a:cs typeface="Calibri" pitchFamily="34" charset="-120"/>
              </a:rPr>
              <a:t>Abstract</a:t>
            </a:r>
            <a:endParaRPr lang="en-US" sz="2400" dirty="0"/>
          </a:p>
        </p:txBody>
      </p:sp>
      <p:pic>
        <p:nvPicPr>
          <p:cNvPr id="3" name="Image 0" descr="/home/claude/edge_build/assets/klu_logo.png"/>
          <p:cNvPicPr>
            <a:picLocks noChangeAspect="1"/>
          </p:cNvPicPr>
          <p:nvPr/>
        </p:nvPicPr>
        <p:blipFill>
          <a:blip r:embed="rId3"/>
          <a:stretch>
            <a:fillRect/>
          </a:stretch>
        </p:blipFill>
        <p:spPr>
          <a:xfrm>
            <a:off x="10881360" y="256032"/>
            <a:ext cx="960120" cy="320040"/>
          </a:xfrm>
          <a:prstGeom prst="rect">
            <a:avLst/>
          </a:prstGeom>
        </p:spPr>
      </p:pic>
      <p:sp>
        <p:nvSpPr>
          <p:cNvPr id="4" name="Text 1"/>
          <p:cNvSpPr txBox="1"/>
          <p:nvPr/>
        </p:nvSpPr>
        <p:spPr>
          <a:xfrm>
            <a:off x="457200" y="6510528"/>
            <a:ext cx="86868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Evidence-Driven Game Engine (EDGE)  |  AI-Powered Cricket Intelligence Platform</a:t>
            </a:r>
            <a:endParaRPr lang="en-US" sz="900" dirty="0"/>
          </a:p>
        </p:txBody>
      </p:sp>
      <p:sp>
        <p:nvSpPr>
          <p:cNvPr id="5" name="Text 2"/>
          <p:cNvSpPr txBox="1"/>
          <p:nvPr/>
        </p:nvSpPr>
        <p:spPr>
          <a:xfrm>
            <a:off x="11612880" y="6510528"/>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2</a:t>
            </a:r>
            <a:endParaRPr lang="en-US" sz="900" dirty="0"/>
          </a:p>
        </p:txBody>
      </p:sp>
      <p:sp>
        <p:nvSpPr>
          <p:cNvPr id="6" name="Text 3"/>
          <p:cNvSpPr txBox="1"/>
          <p:nvPr/>
        </p:nvSpPr>
        <p:spPr>
          <a:xfrm>
            <a:off x="457200" y="1005840"/>
            <a:ext cx="11247120" cy="5212080"/>
          </a:xfrm>
          <a:prstGeom prst="rect">
            <a:avLst/>
          </a:prstGeom>
          <a:noFill/>
          <a:ln/>
        </p:spPr>
        <p:txBody>
          <a:bodyPr wrap="square" lIns="0" tIns="0" rIns="0" bIns="0" rtlCol="0" anchor="t"/>
          <a:lstStyle/>
          <a:p>
            <a:pPr marL="0" indent="0">
              <a:lnSpc>
                <a:spcPct val="108000"/>
              </a:lnSpc>
              <a:spcAft>
                <a:spcPts val="1400"/>
              </a:spcAft>
              <a:buNone/>
            </a:pPr>
            <a:r>
              <a:rPr lang="en-US" dirty="0">
                <a:solidFill>
                  <a:srgbClr val="222222"/>
                </a:solidFill>
                <a:latin typeface="Calibri" pitchFamily="34" charset="0"/>
                <a:ea typeface="Calibri" pitchFamily="34" charset="-122"/>
                <a:cs typeface="Calibri" pitchFamily="34" charset="-120"/>
              </a:rPr>
              <a:t>Cricket generates enormous ball-by-ball data, but most of it stays locked in raw scorecards, leaving deeper insight largely unexplored. EDGE – Evidence-Driven Game Engine turns this raw data into simple, actionable insights through an AI-powered cricket intelligence platform, built on 800,000+ deliveries, 5,000+ player profiles, and 4,500+ matches spanning multiple formats and years. The platform's AI Match Situation Advisor and Bowling Change Recommender deliver tactical, decision-support insights without requiring users to have data expertise.</a:t>
            </a:r>
            <a:endParaRPr lang="en-US" dirty="0"/>
          </a:p>
          <a:p>
            <a:pPr marL="0" indent="0">
              <a:lnSpc>
                <a:spcPct val="108000"/>
              </a:lnSpc>
              <a:buNone/>
            </a:pPr>
            <a:r>
              <a:rPr lang="en-US" dirty="0">
                <a:solidFill>
                  <a:srgbClr val="222222"/>
                </a:solidFill>
                <a:latin typeface="Calibri" pitchFamily="34" charset="0"/>
                <a:ea typeface="Calibri" pitchFamily="34" charset="-122"/>
                <a:cs typeface="Calibri" pitchFamily="34" charset="-120"/>
              </a:rPr>
              <a:t>EDGE is supported by a Live Match Centre, ICC Rankings, an IPL Franchise Intelligence Hub, and a chase win-probability simulator, all built on a structured, repeatable data pipeline that keeps information current and lets new seasons be added seamlessly as the platform grows. An interactive interface with AI-generated player biographies and leaderboard visualizations lets fans and analysts explore player careers in more depth. Future enhancements include real-time ball-by-ball ingestion, advanced predictive analytics, and dedicated player-performance prediction models.</a:t>
            </a:r>
            <a:endParaRPr lang="en-US" dirty="0"/>
          </a:p>
        </p:txBody>
      </p:sp>
      <p:pic>
        <p:nvPicPr>
          <p:cNvPr id="7" name="Picture 6">
            <a:extLst>
              <a:ext uri="{FF2B5EF4-FFF2-40B4-BE49-F238E27FC236}">
                <a16:creationId xmlns:a16="http://schemas.microsoft.com/office/drawing/2014/main" id="{0ACCCB5C-19C8-3ADB-42AD-86FE705A9D7E}"/>
              </a:ext>
            </a:extLst>
          </p:cNvPr>
          <p:cNvPicPr>
            <a:picLocks noChangeAspect="1"/>
          </p:cNvPicPr>
          <p:nvPr/>
        </p:nvPicPr>
        <p:blipFill>
          <a:blip r:embed="rId3"/>
          <a:stretch>
            <a:fillRect/>
          </a:stretch>
        </p:blipFill>
        <p:spPr>
          <a:xfrm>
            <a:off x="10249380" y="9331"/>
            <a:ext cx="1942620" cy="6225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56032"/>
            <a:ext cx="9875520" cy="548640"/>
          </a:xfrm>
          <a:prstGeom prst="rect">
            <a:avLst/>
          </a:prstGeom>
          <a:noFill/>
          <a:ln/>
        </p:spPr>
        <p:txBody>
          <a:bodyPr wrap="square" lIns="0" tIns="0" rIns="0" bIns="0" rtlCol="0" anchor="ctr"/>
          <a:lstStyle/>
          <a:p>
            <a:pPr marL="0" indent="0">
              <a:buNone/>
            </a:pPr>
            <a:r>
              <a:rPr lang="en-US" sz="2400" b="1" dirty="0">
                <a:solidFill>
                  <a:srgbClr val="2E5AAC"/>
                </a:solidFill>
                <a:latin typeface="Calibri" pitchFamily="34" charset="0"/>
                <a:ea typeface="Calibri" pitchFamily="34" charset="-122"/>
                <a:cs typeface="Calibri" pitchFamily="34" charset="-120"/>
              </a:rPr>
              <a:t>Introduction</a:t>
            </a:r>
            <a:endParaRPr lang="en-US" sz="2400" dirty="0"/>
          </a:p>
        </p:txBody>
      </p:sp>
      <p:pic>
        <p:nvPicPr>
          <p:cNvPr id="3" name="Image 0" descr="/home/claude/edge_build/assets/klu_logo.png"/>
          <p:cNvPicPr>
            <a:picLocks noChangeAspect="1"/>
          </p:cNvPicPr>
          <p:nvPr/>
        </p:nvPicPr>
        <p:blipFill>
          <a:blip r:embed="rId3"/>
          <a:stretch>
            <a:fillRect/>
          </a:stretch>
        </p:blipFill>
        <p:spPr>
          <a:xfrm>
            <a:off x="10881360" y="256032"/>
            <a:ext cx="960120" cy="320040"/>
          </a:xfrm>
          <a:prstGeom prst="rect">
            <a:avLst/>
          </a:prstGeom>
        </p:spPr>
      </p:pic>
      <p:sp>
        <p:nvSpPr>
          <p:cNvPr id="4" name="Text 1"/>
          <p:cNvSpPr txBox="1"/>
          <p:nvPr/>
        </p:nvSpPr>
        <p:spPr>
          <a:xfrm>
            <a:off x="457200" y="6510528"/>
            <a:ext cx="86868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Evidence-Driven Game Engine (EDGE)  |  AI-Powered Cricket Intelligence Platform</a:t>
            </a:r>
            <a:endParaRPr lang="en-US" sz="900" dirty="0"/>
          </a:p>
        </p:txBody>
      </p:sp>
      <p:sp>
        <p:nvSpPr>
          <p:cNvPr id="5" name="Text 2"/>
          <p:cNvSpPr txBox="1"/>
          <p:nvPr/>
        </p:nvSpPr>
        <p:spPr>
          <a:xfrm>
            <a:off x="11612880" y="6510528"/>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3</a:t>
            </a:r>
            <a:endParaRPr lang="en-US" sz="900" dirty="0"/>
          </a:p>
        </p:txBody>
      </p:sp>
      <p:sp>
        <p:nvSpPr>
          <p:cNvPr id="6" name="Text 3"/>
          <p:cNvSpPr txBox="1"/>
          <p:nvPr/>
        </p:nvSpPr>
        <p:spPr>
          <a:xfrm>
            <a:off x="457200" y="1005840"/>
            <a:ext cx="11247120" cy="5212080"/>
          </a:xfrm>
          <a:prstGeom prst="rect">
            <a:avLst/>
          </a:prstGeom>
          <a:noFill/>
          <a:ln/>
        </p:spPr>
        <p:txBody>
          <a:bodyPr wrap="square" lIns="0" tIns="0" rIns="0" bIns="0" rtlCol="0" anchor="t"/>
          <a:lstStyle/>
          <a:p>
            <a:pPr marL="0" indent="0">
              <a:lnSpc>
                <a:spcPct val="108000"/>
              </a:lnSpc>
              <a:spcAft>
                <a:spcPts val="1400"/>
              </a:spcAft>
              <a:buNone/>
            </a:pPr>
            <a:r>
              <a:rPr lang="en-US" dirty="0">
                <a:solidFill>
                  <a:srgbClr val="222222"/>
                </a:solidFill>
                <a:latin typeface="Calibri" pitchFamily="34" charset="0"/>
                <a:ea typeface="Calibri" pitchFamily="34" charset="-122"/>
                <a:cs typeface="Calibri" pitchFamily="34" charset="-120"/>
              </a:rPr>
              <a:t>Cricket produces a huge amount of structured and unstructured data every match, but this has traditionally been used only for scorecards and basic leaderboards, leaving most valuable insight unexplored. Growth in fantasy sports, franchise scouting, and fan engagement is driving demand for simple, accessible analytics. EDGE – Evidence-Driven Game Engine converts ball-by-ball data into actionable insight through a data pipeline and web app that collects, processes, and analyses large-scale cricket data, calculates key statistics, shows live match information, and uses generative AI for understandable tactical recommendations — without requiring users to have data or cricket expertise.</a:t>
            </a:r>
            <a:endParaRPr lang="en-US" dirty="0"/>
          </a:p>
          <a:p>
            <a:pPr marL="0" indent="0">
              <a:lnSpc>
                <a:spcPct val="108000"/>
              </a:lnSpc>
              <a:buNone/>
            </a:pPr>
            <a:r>
              <a:rPr lang="en-US" dirty="0">
                <a:solidFill>
                  <a:srgbClr val="222222"/>
                </a:solidFill>
                <a:latin typeface="Calibri" pitchFamily="34" charset="0"/>
                <a:ea typeface="Calibri" pitchFamily="34" charset="-122"/>
                <a:cs typeface="Calibri" pitchFamily="34" charset="-120"/>
              </a:rPr>
              <a:t>PostgreSQL with Prisma ORM stores structured cricket data, while a Python-based ETL pipeline extracts, cleans, transforms, and loads Cricsheet JSON files and career statistics; live information comes from CricAPI and RapidAPI, and Google Gemini with Anthropic Claude provide AI-based match analysis and recommendations. Fans, fantasy users, and analysts otherwise rely on scattered sources — scorecards, stats, rankings, news — that rarely combine historical data, live match state, and AI reasoning in one place; manually analysing thousands of ball-by-ball records is slow and needs domain expertise, and EDGE reduces this complexity through one interactive platform.</a:t>
            </a:r>
            <a:endParaRPr lang="en-US" dirty="0"/>
          </a:p>
        </p:txBody>
      </p:sp>
      <p:pic>
        <p:nvPicPr>
          <p:cNvPr id="7" name="Picture 6">
            <a:extLst>
              <a:ext uri="{FF2B5EF4-FFF2-40B4-BE49-F238E27FC236}">
                <a16:creationId xmlns:a16="http://schemas.microsoft.com/office/drawing/2014/main" id="{8EA86E0D-D3F6-E32C-3ABC-B170A78BCED3}"/>
              </a:ext>
            </a:extLst>
          </p:cNvPr>
          <p:cNvPicPr>
            <a:picLocks noChangeAspect="1"/>
          </p:cNvPicPr>
          <p:nvPr/>
        </p:nvPicPr>
        <p:blipFill>
          <a:blip r:embed="rId3"/>
          <a:stretch>
            <a:fillRect/>
          </a:stretch>
        </p:blipFill>
        <p:spPr>
          <a:xfrm>
            <a:off x="10249380" y="0"/>
            <a:ext cx="1942620" cy="6225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56032"/>
            <a:ext cx="9875520" cy="548640"/>
          </a:xfrm>
          <a:prstGeom prst="rect">
            <a:avLst/>
          </a:prstGeom>
          <a:noFill/>
          <a:ln/>
        </p:spPr>
        <p:txBody>
          <a:bodyPr wrap="square" lIns="0" tIns="0" rIns="0" bIns="0" rtlCol="0" anchor="ctr"/>
          <a:lstStyle/>
          <a:p>
            <a:pPr marL="0" indent="0">
              <a:buNone/>
            </a:pPr>
            <a:r>
              <a:rPr lang="en-US" sz="2400" b="1" dirty="0">
                <a:solidFill>
                  <a:srgbClr val="2E5AAC"/>
                </a:solidFill>
                <a:latin typeface="Calibri" pitchFamily="34" charset="0"/>
                <a:ea typeface="Calibri" pitchFamily="34" charset="-122"/>
                <a:cs typeface="Calibri" pitchFamily="34" charset="-120"/>
              </a:rPr>
              <a:t>Objectives with Justification</a:t>
            </a:r>
            <a:endParaRPr lang="en-US" sz="2400" dirty="0"/>
          </a:p>
        </p:txBody>
      </p:sp>
      <p:pic>
        <p:nvPicPr>
          <p:cNvPr id="3" name="Image 0" descr="/home/claude/edge_build/assets/klu_logo.png"/>
          <p:cNvPicPr>
            <a:picLocks noChangeAspect="1"/>
          </p:cNvPicPr>
          <p:nvPr/>
        </p:nvPicPr>
        <p:blipFill>
          <a:blip r:embed="rId3"/>
          <a:stretch>
            <a:fillRect/>
          </a:stretch>
        </p:blipFill>
        <p:spPr>
          <a:xfrm>
            <a:off x="10881360" y="256032"/>
            <a:ext cx="960120" cy="320040"/>
          </a:xfrm>
          <a:prstGeom prst="rect">
            <a:avLst/>
          </a:prstGeom>
        </p:spPr>
      </p:pic>
      <p:sp>
        <p:nvSpPr>
          <p:cNvPr id="4" name="Text 1"/>
          <p:cNvSpPr txBox="1"/>
          <p:nvPr/>
        </p:nvSpPr>
        <p:spPr>
          <a:xfrm>
            <a:off x="457200" y="6510528"/>
            <a:ext cx="86868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Evidence-Driven Game Engine (EDGE)  |  AI-Powered Cricket Intelligence Platform</a:t>
            </a:r>
            <a:endParaRPr lang="en-US" sz="900" dirty="0"/>
          </a:p>
        </p:txBody>
      </p:sp>
      <p:sp>
        <p:nvSpPr>
          <p:cNvPr id="5" name="Text 2"/>
          <p:cNvSpPr txBox="1"/>
          <p:nvPr/>
        </p:nvSpPr>
        <p:spPr>
          <a:xfrm>
            <a:off x="11612880" y="6510528"/>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4</a:t>
            </a:r>
            <a:endParaRPr lang="en-US" sz="900" dirty="0"/>
          </a:p>
        </p:txBody>
      </p:sp>
      <p:sp>
        <p:nvSpPr>
          <p:cNvPr id="6" name="Text 3"/>
          <p:cNvSpPr txBox="1"/>
          <p:nvPr/>
        </p:nvSpPr>
        <p:spPr>
          <a:xfrm>
            <a:off x="457200" y="1005840"/>
            <a:ext cx="11247120" cy="5212080"/>
          </a:xfrm>
          <a:prstGeom prst="rect">
            <a:avLst/>
          </a:prstGeom>
          <a:noFill/>
          <a:ln/>
        </p:spPr>
        <p:txBody>
          <a:bodyPr wrap="square" lIns="0" tIns="0" rIns="0" bIns="0" rtlCol="0" anchor="t"/>
          <a:lstStyle/>
          <a:p>
            <a:pPr marL="0" indent="0">
              <a:lnSpc>
                <a:spcPct val="108000"/>
              </a:lnSpc>
              <a:spcAft>
                <a:spcPts val="1400"/>
              </a:spcAft>
              <a:buNone/>
            </a:pPr>
            <a:r>
              <a:rPr lang="en-US" dirty="0">
                <a:solidFill>
                  <a:srgbClr val="222222"/>
                </a:solidFill>
                <a:latin typeface="Calibri" pitchFamily="34" charset="0"/>
                <a:ea typeface="Calibri" pitchFamily="34" charset="-122"/>
                <a:cs typeface="Calibri" pitchFamily="34" charset="-120"/>
              </a:rPr>
              <a:t>The main objective of EDGE is to develop an AI-powered cricket intelligence platform that transforms raw ball-by-ball data into meaningful, actionable insight. It integrates historical and live cricket data from multiple sources — CricAPI, RapidAPI, and Cricsheet — across matches, players, teams, and formats, through a structured ETL pipeline that collects, cleans, transforms, validates, and stores large-scale cricket datasets. Ball-by-ball data is analysed to identify player performance, team trends, match patterns, and match-state features, and this feeds AI-powered decision support — the Match Situation Advisor and Bowling Change Recommender — that combines live match conditions with historical data and win-probability analysis for contextual tactical insight, delivered through an interactive platform with a Live Match Centre, rankings, player profiles, franchise insights, and visualizations.</a:t>
            </a:r>
            <a:endParaRPr lang="en-US" dirty="0"/>
          </a:p>
          <a:p>
            <a:pPr marL="0" indent="0">
              <a:lnSpc>
                <a:spcPct val="108000"/>
              </a:lnSpc>
              <a:buNone/>
            </a:pPr>
            <a:r>
              <a:rPr lang="en-US" dirty="0">
                <a:solidFill>
                  <a:srgbClr val="222222"/>
                </a:solidFill>
                <a:latin typeface="Calibri" pitchFamily="34" charset="0"/>
                <a:ea typeface="Calibri" pitchFamily="34" charset="-122"/>
                <a:cs typeface="Calibri" pitchFamily="34" charset="-120"/>
              </a:rPr>
              <a:t>The project is justified because cricket generates enormous volumes of ball-by-ball data that stays locked in raw scorecards, and turning it into useful insight manually is slow and requires domain or data-science expertise — keeping deeper analysis out of reach for most fans and even smaller franchises. Existing tools are largely pre-match or post-match, offer little real-time reasoning, and force users to switch between fragmented sources for scorecards, stats, rankings, and live data. By building a self-updating platform that fuses historical depth with live context and AI reasoning, EDGE gives coaches, analysts, and fans faster, more informed, and explainable decision support as a match unfolds, while remaining a scalable foundation for new seasons, leagues, formats, and predictive analytics.</a:t>
            </a:r>
            <a:endParaRPr lang="en-US" dirty="0"/>
          </a:p>
        </p:txBody>
      </p:sp>
      <p:pic>
        <p:nvPicPr>
          <p:cNvPr id="7" name="Picture 6">
            <a:extLst>
              <a:ext uri="{FF2B5EF4-FFF2-40B4-BE49-F238E27FC236}">
                <a16:creationId xmlns:a16="http://schemas.microsoft.com/office/drawing/2014/main" id="{055F97DE-C82E-26EE-064A-8A446340C391}"/>
              </a:ext>
            </a:extLst>
          </p:cNvPr>
          <p:cNvPicPr>
            <a:picLocks noChangeAspect="1"/>
          </p:cNvPicPr>
          <p:nvPr/>
        </p:nvPicPr>
        <p:blipFill>
          <a:blip r:embed="rId3"/>
          <a:stretch>
            <a:fillRect/>
          </a:stretch>
        </p:blipFill>
        <p:spPr>
          <a:xfrm>
            <a:off x="10249380" y="0"/>
            <a:ext cx="1942620" cy="6225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56032"/>
            <a:ext cx="9875520" cy="548640"/>
          </a:xfrm>
          <a:prstGeom prst="rect">
            <a:avLst/>
          </a:prstGeom>
          <a:noFill/>
          <a:ln/>
        </p:spPr>
        <p:txBody>
          <a:bodyPr wrap="square" lIns="0" tIns="0" rIns="0" bIns="0" rtlCol="0" anchor="ctr"/>
          <a:lstStyle/>
          <a:p>
            <a:pPr marL="0" indent="0">
              <a:buNone/>
            </a:pPr>
            <a:r>
              <a:rPr lang="en-US" sz="2400" b="1" dirty="0">
                <a:solidFill>
                  <a:srgbClr val="2E5AAC"/>
                </a:solidFill>
                <a:latin typeface="Calibri" pitchFamily="34" charset="0"/>
                <a:ea typeface="Calibri" pitchFamily="34" charset="-122"/>
                <a:cs typeface="Calibri" pitchFamily="34" charset="-120"/>
              </a:rPr>
              <a:t>Literature and Survey</a:t>
            </a:r>
            <a:endParaRPr lang="en-US" sz="2400" dirty="0"/>
          </a:p>
        </p:txBody>
      </p:sp>
      <p:pic>
        <p:nvPicPr>
          <p:cNvPr id="3" name="Image 0" descr="/home/claude/edge_build/assets/klu_logo.png"/>
          <p:cNvPicPr>
            <a:picLocks noChangeAspect="1"/>
          </p:cNvPicPr>
          <p:nvPr/>
        </p:nvPicPr>
        <p:blipFill>
          <a:blip r:embed="rId3"/>
          <a:stretch>
            <a:fillRect/>
          </a:stretch>
        </p:blipFill>
        <p:spPr>
          <a:xfrm>
            <a:off x="10881360" y="256032"/>
            <a:ext cx="960120" cy="320040"/>
          </a:xfrm>
          <a:prstGeom prst="rect">
            <a:avLst/>
          </a:prstGeom>
        </p:spPr>
      </p:pic>
      <p:sp>
        <p:nvSpPr>
          <p:cNvPr id="4" name="Text 1"/>
          <p:cNvSpPr txBox="1"/>
          <p:nvPr/>
        </p:nvSpPr>
        <p:spPr>
          <a:xfrm>
            <a:off x="457200" y="6510528"/>
            <a:ext cx="86868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Evidence-Driven Game Engine (EDGE)  |  AI-Powered Cricket Intelligence Platform</a:t>
            </a:r>
            <a:endParaRPr lang="en-US" sz="900" dirty="0"/>
          </a:p>
        </p:txBody>
      </p:sp>
      <p:sp>
        <p:nvSpPr>
          <p:cNvPr id="5" name="Text 2"/>
          <p:cNvSpPr txBox="1"/>
          <p:nvPr/>
        </p:nvSpPr>
        <p:spPr>
          <a:xfrm>
            <a:off x="11612880" y="6510528"/>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5</a:t>
            </a:r>
            <a:endParaRPr lang="en-US" sz="900" dirty="0"/>
          </a:p>
        </p:txBody>
      </p:sp>
      <p:graphicFrame>
        <p:nvGraphicFramePr>
          <p:cNvPr id="7" name="Content Placeholder 3">
            <a:extLst>
              <a:ext uri="{FF2B5EF4-FFF2-40B4-BE49-F238E27FC236}">
                <a16:creationId xmlns:a16="http://schemas.microsoft.com/office/drawing/2014/main" id="{0E336BEA-E32E-2CE2-B182-4952968CF013}"/>
              </a:ext>
            </a:extLst>
          </p:cNvPr>
          <p:cNvGraphicFramePr>
            <a:graphicFrameLocks/>
          </p:cNvGraphicFramePr>
          <p:nvPr>
            <p:extLst>
              <p:ext uri="{D42A27DB-BD31-4B8C-83A1-F6EECF244321}">
                <p14:modId xmlns:p14="http://schemas.microsoft.com/office/powerpoint/2010/main" val="1646688182"/>
              </p:ext>
            </p:extLst>
          </p:nvPr>
        </p:nvGraphicFramePr>
        <p:xfrm>
          <a:off x="274652" y="1082351"/>
          <a:ext cx="11642695" cy="4639054"/>
        </p:xfrm>
        <a:graphic>
          <a:graphicData uri="http://schemas.openxmlformats.org/drawingml/2006/table">
            <a:tbl>
              <a:tblPr firstRow="1" bandRow="1">
                <a:tableStyleId>{BC89EF96-8CEA-46FF-86C4-4CE0E7609802}</a:tableStyleId>
              </a:tblPr>
              <a:tblGrid>
                <a:gridCol w="1711739">
                  <a:extLst>
                    <a:ext uri="{9D8B030D-6E8A-4147-A177-3AD203B41FA5}">
                      <a16:colId xmlns:a16="http://schemas.microsoft.com/office/drawing/2014/main" val="20001"/>
                    </a:ext>
                  </a:extLst>
                </a:gridCol>
                <a:gridCol w="2167280">
                  <a:extLst>
                    <a:ext uri="{9D8B030D-6E8A-4147-A177-3AD203B41FA5}">
                      <a16:colId xmlns:a16="http://schemas.microsoft.com/office/drawing/2014/main" val="20002"/>
                    </a:ext>
                  </a:extLst>
                </a:gridCol>
                <a:gridCol w="2549833">
                  <a:extLst>
                    <a:ext uri="{9D8B030D-6E8A-4147-A177-3AD203B41FA5}">
                      <a16:colId xmlns:a16="http://schemas.microsoft.com/office/drawing/2014/main" val="20003"/>
                    </a:ext>
                  </a:extLst>
                </a:gridCol>
                <a:gridCol w="2348130">
                  <a:extLst>
                    <a:ext uri="{9D8B030D-6E8A-4147-A177-3AD203B41FA5}">
                      <a16:colId xmlns:a16="http://schemas.microsoft.com/office/drawing/2014/main" val="20004"/>
                    </a:ext>
                  </a:extLst>
                </a:gridCol>
                <a:gridCol w="2865713">
                  <a:extLst>
                    <a:ext uri="{9D8B030D-6E8A-4147-A177-3AD203B41FA5}">
                      <a16:colId xmlns:a16="http://schemas.microsoft.com/office/drawing/2014/main" val="1396003017"/>
                    </a:ext>
                  </a:extLst>
                </a:gridCol>
              </a:tblGrid>
              <a:tr h="387917">
                <a:tc>
                  <a:txBody>
                    <a:bodyPr/>
                    <a:lstStyle/>
                    <a:p>
                      <a:pPr algn="ctr">
                        <a:buNone/>
                      </a:pPr>
                      <a:r>
                        <a:rPr lang="en-US">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a:latin typeface="Times New Roman" pitchFamily="18" charset="0"/>
                          <a:cs typeface="Times New Roman" pitchFamily="18" charset="0"/>
                        </a:rPr>
                        <a:t>Link for reference</a:t>
                      </a:r>
                    </a:p>
                  </a:txBody>
                  <a:tcPr>
                    <a:solidFill>
                      <a:srgbClr val="FFFF00"/>
                    </a:solidFill>
                  </a:tcPr>
                </a:tc>
                <a:tc>
                  <a:txBody>
                    <a:bodyPr/>
                    <a:lstStyle/>
                    <a:p>
                      <a:pPr algn="ctr">
                        <a:buNone/>
                      </a:pPr>
                      <a:r>
                        <a:rPr lang="en-US">
                          <a:latin typeface="Times New Roman" pitchFamily="18" charset="0"/>
                          <a:cs typeface="Times New Roman" pitchFamily="18" charset="0"/>
                        </a:rPr>
                        <a:t>Drawbacks</a:t>
                      </a:r>
                    </a:p>
                  </a:txBody>
                  <a:tcPr>
                    <a:solidFill>
                      <a:srgbClr val="FFFF00"/>
                    </a:solidFill>
                  </a:tcPr>
                </a:tc>
                <a:tc>
                  <a:txBody>
                    <a:bodyPr/>
                    <a:lstStyle/>
                    <a:p>
                      <a:pPr algn="ctr">
                        <a:buNone/>
                      </a:pPr>
                      <a:r>
                        <a:rPr lang="en-US">
                          <a:latin typeface="Times New Roman" pitchFamily="18" charset="0"/>
                          <a:cs typeface="Times New Roman" pitchFamily="18" charset="0"/>
                        </a:rPr>
                        <a:t>Future work</a:t>
                      </a:r>
                    </a:p>
                  </a:txBody>
                  <a:tcPr>
                    <a:solidFill>
                      <a:srgbClr val="FFFF00"/>
                    </a:solidFill>
                  </a:tcPr>
                </a:tc>
                <a:extLst>
                  <a:ext uri="{0D108BD9-81ED-4DB2-BD59-A6C34878D82A}">
                    <a16:rowId xmlns:a16="http://schemas.microsoft.com/office/drawing/2014/main" val="10000"/>
                  </a:ext>
                </a:extLst>
              </a:tr>
              <a:tr h="15419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kern="1200">
                          <a:solidFill>
                            <a:schemeClr val="tx1"/>
                          </a:solidFill>
                          <a:effectLst/>
                          <a:latin typeface="+mn-lt"/>
                          <a:ea typeface="+mn-ea"/>
                          <a:cs typeface="+mn-cs"/>
                          <a:hlinkClick r:id="rId4"/>
                        </a:rPr>
                        <a:t>Ashish V Shenoy</a:t>
                      </a:r>
                      <a:r>
                        <a:rPr lang="en-IN" sz="1200" b="0" i="0" kern="1200">
                          <a:solidFill>
                            <a:schemeClr val="tx1"/>
                          </a:solidFill>
                          <a:effectLst/>
                          <a:latin typeface="+mn-lt"/>
                          <a:ea typeface="+mn-ea"/>
                          <a:cs typeface="+mn-cs"/>
                        </a:rPr>
                        <a:t>, </a:t>
                      </a:r>
                      <a:r>
                        <a:rPr lang="en-IN" sz="1200" b="0" i="0" u="none" strike="noStrike" kern="1200">
                          <a:solidFill>
                            <a:schemeClr val="tx1"/>
                          </a:solidFill>
                          <a:effectLst/>
                          <a:latin typeface="+mn-lt"/>
                          <a:ea typeface="+mn-ea"/>
                          <a:cs typeface="+mn-cs"/>
                          <a:hlinkClick r:id="rId5"/>
                        </a:rPr>
                        <a:t>Arjun Singhvi</a:t>
                      </a:r>
                      <a:r>
                        <a:rPr lang="en-IN" sz="1200" b="0" i="0" kern="1200">
                          <a:solidFill>
                            <a:schemeClr val="tx1"/>
                          </a:solidFill>
                          <a:effectLst/>
                          <a:latin typeface="+mn-lt"/>
                          <a:ea typeface="+mn-ea"/>
                          <a:cs typeface="+mn-cs"/>
                        </a:rPr>
                        <a:t>, </a:t>
                      </a:r>
                      <a:r>
                        <a:rPr lang="en-IN" sz="1200" b="0" i="0" u="none" strike="noStrike" kern="1200">
                          <a:solidFill>
                            <a:schemeClr val="tx1"/>
                          </a:solidFill>
                          <a:effectLst/>
                          <a:latin typeface="+mn-lt"/>
                          <a:ea typeface="+mn-ea"/>
                          <a:cs typeface="+mn-cs"/>
                          <a:hlinkClick r:id="rId6"/>
                        </a:rPr>
                        <a:t>Shruthi Racha</a:t>
                      </a:r>
                      <a:r>
                        <a:rPr lang="en-IN" sz="1200" b="0" i="0" kern="1200">
                          <a:solidFill>
                            <a:schemeClr val="tx1"/>
                          </a:solidFill>
                          <a:effectLst/>
                          <a:latin typeface="+mn-lt"/>
                          <a:ea typeface="+mn-ea"/>
                          <a:cs typeface="+mn-cs"/>
                        </a:rPr>
                        <a:t>, </a:t>
                      </a:r>
                      <a:r>
                        <a:rPr lang="en-IN" sz="1200" b="0" i="0" u="none" strike="noStrike" kern="1200">
                          <a:solidFill>
                            <a:schemeClr val="tx1"/>
                          </a:solidFill>
                          <a:effectLst/>
                          <a:latin typeface="+mn-lt"/>
                          <a:ea typeface="+mn-ea"/>
                          <a:cs typeface="+mn-cs"/>
                          <a:hlinkClick r:id="rId7"/>
                        </a:rPr>
                        <a:t>Srinivas </a:t>
                      </a:r>
                      <a:r>
                        <a:rPr lang="en-IN" sz="1200" b="0" i="0" u="none" strike="noStrike" kern="1200" err="1">
                          <a:solidFill>
                            <a:schemeClr val="tx1"/>
                          </a:solidFill>
                          <a:effectLst/>
                          <a:latin typeface="+mn-lt"/>
                          <a:ea typeface="+mn-ea"/>
                          <a:cs typeface="+mn-cs"/>
                          <a:hlinkClick r:id="rId7"/>
                        </a:rPr>
                        <a:t>Tunuguntla</a:t>
                      </a:r>
                      <a:endParaRPr lang="en-IN" sz="1200" b="0" i="0" kern="1200">
                        <a:solidFill>
                          <a:schemeClr val="tx1"/>
                        </a:solidFill>
                        <a:effectLst/>
                        <a:latin typeface="+mn-lt"/>
                        <a:ea typeface="+mn-ea"/>
                        <a:cs typeface="+mn-cs"/>
                      </a:endParaRPr>
                    </a:p>
                    <a:p>
                      <a:pPr marL="0" algn="l" defTabSz="914400" rtl="0" eaLnBrk="1" latinLnBrk="0" hangingPunct="1"/>
                      <a:endParaRPr lang="en-IN" sz="1400" b="0" i="0" u="none" kern="120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200" b="1" i="0" kern="1200">
                          <a:solidFill>
                            <a:schemeClr val="tx1"/>
                          </a:solidFill>
                          <a:effectLst/>
                          <a:latin typeface="+mn-lt"/>
                          <a:ea typeface="+mn-ea"/>
                          <a:cs typeface="+mn-cs"/>
                        </a:rPr>
                        <a:t>Prediction of the outcome of a Twenty-20 Cricket Match : A Machine Learning Approach</a:t>
                      </a: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hlinkClick r:id="rId8"/>
                        </a:rPr>
                        <a:t>https://arxiv.org/abs/2209.06346</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28600" indent="-228600">
                        <a:buFont typeface="Arial" panose="020B0604020202020204" pitchFamily="34" charset="0"/>
                        <a:buChar char="•"/>
                      </a:pPr>
                      <a:r>
                        <a:rPr lang="en-IN" sz="1400" b="1"/>
                        <a:t>Limitation:</a:t>
                      </a:r>
                      <a:r>
                        <a:rPr lang="en-IN" sz="1400"/>
                        <a:t> Focuses mainly on pre-match information rather than continuously changing match state.</a:t>
                      </a:r>
                    </a:p>
                  </a:txBody>
                  <a:tcPr anchor="ctr"/>
                </a:tc>
                <a:tc>
                  <a:txBody>
                    <a:bodyPr/>
                    <a:lstStyle/>
                    <a:p>
                      <a:pPr marL="228600" indent="-228600" algn="l" defTabSz="914400" rtl="0" eaLnBrk="1" latinLnBrk="0" hangingPunct="1">
                        <a:buFont typeface="Arial" panose="020B0604020202020204" pitchFamily="34" charset="0"/>
                        <a:buChar char="•"/>
                      </a:pPr>
                      <a:r>
                        <a:rPr lang="en-IN" sz="1400" b="1"/>
                        <a:t>Future:</a:t>
                      </a:r>
                      <a:r>
                        <a:rPr lang="en-IN" sz="1400"/>
                        <a:t> Incorporate ball-by-ball/live match features for dynamic prediction.</a:t>
                      </a:r>
                      <a:endParaRPr lang="en-US" sz="1400" b="0" i="0" u="none" kern="120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IN" sz="1400"/>
                        <a:t>S. Chakraborty et al. (2024)</a:t>
                      </a:r>
                      <a:endParaRPr lang="en-IN" sz="1400" b="0" i="0" u="none" kern="120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a:t>Cricket Data Analytics: Forecasting T20 Match Winners Through Machine Learning</a:t>
                      </a:r>
                      <a:endParaRPr lang="en-IN" sz="1400" b="1" i="0" u="none" kern="120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i="0" u="none" kern="1200">
                          <a:solidFill>
                            <a:schemeClr val="dk1"/>
                          </a:solidFill>
                          <a:effectLst/>
                          <a:latin typeface="Times New Roman" panose="02020603050405020304" pitchFamily="18" charset="0"/>
                          <a:ea typeface="+mn-ea"/>
                          <a:cs typeface="Times New Roman" panose="02020603050405020304" pitchFamily="18" charset="0"/>
                          <a:sym typeface="Arial"/>
                          <a:hlinkClick r:id="rId9"/>
                        </a:rPr>
                        <a:t>https://doi.org/10.1177/17479541221119738</a:t>
                      </a:r>
                      <a:endParaRPr lang="en-US" sz="1400" b="0" i="0" u="none" kern="1200">
                        <a:solidFill>
                          <a:schemeClr val="dk1"/>
                        </a:solidFill>
                        <a:effectLst/>
                        <a:latin typeface="Times New Roman" panose="02020603050405020304" pitchFamily="18" charset="0"/>
                        <a:ea typeface="+mn-ea"/>
                        <a:cs typeface="Times New Roman" panose="02020603050405020304" pitchFamily="18" charset="0"/>
                        <a:sym typeface="Arial"/>
                      </a:endParaRP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US" sz="1400" b="0" i="0" u="none" kern="120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1"/>
                        <a:t>Limitation:</a:t>
                      </a:r>
                      <a:r>
                        <a:rPr lang="en-IN" sz="1400"/>
                        <a:t> Primarily predicts before the match begins; limited real-time match-state reasoning.</a:t>
                      </a:r>
                      <a:endParaRPr lang="en-US" sz="1400" b="0" i="0" u="none" kern="120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b="1"/>
                        <a:t>Future:</a:t>
                      </a:r>
                      <a:r>
                        <a:rPr lang="en-IN" sz="1400"/>
                        <a:t> Extend prediction using live ball-by-ball features and dynamic match conditions</a:t>
                      </a:r>
                      <a:endParaRPr lang="en-US" sz="1400" b="0" i="0" u="none" kern="120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IN" sz="1400"/>
                        <a:t>Pussella et al. (2023)</a:t>
                      </a:r>
                      <a:endParaRPr lang="en-IN" sz="1400" b="1" i="0" u="none" kern="120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buNone/>
                      </a:pPr>
                      <a:r>
                        <a:rPr lang="en-IN" sz="1400"/>
                        <a:t>In-game Winner Prediction and Winning Strategy Generation in Cricket: A Machine Learning Approach</a:t>
                      </a:r>
                    </a:p>
                  </a:txBody>
                  <a:tcPr anchor="ct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b="0" u="none" kern="1200" dirty="0">
                          <a:solidFill>
                            <a:schemeClr val="dk1"/>
                          </a:solidFill>
                          <a:effectLst/>
                          <a:latin typeface="Times New Roman" panose="02020603050405020304" pitchFamily="18" charset="0"/>
                          <a:cs typeface="Times New Roman" panose="02020603050405020304" pitchFamily="18" charset="0"/>
                          <a:hlinkClick r:id="rId10"/>
                        </a:rPr>
                        <a:t>https://ieeexplore.ieee.org/document/10705216/</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b="1"/>
                        <a:t>Limitation:</a:t>
                      </a:r>
                      <a:r>
                        <a:rPr lang="en-IN" sz="1400"/>
                        <a:t> Dataset is limited to IPL matches from 2008–2020.</a:t>
                      </a:r>
                      <a:endParaRPr lang="en-US" sz="1400" b="0" i="0" u="none" kern="120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b="1" dirty="0"/>
                        <a:t>Future:</a:t>
                      </a:r>
                      <a:r>
                        <a:rPr lang="en-IN" sz="1400" dirty="0"/>
                        <a:t> Extend across formats, leagues and more recent matches; incorporate richer contextual features.</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pic>
        <p:nvPicPr>
          <p:cNvPr id="8" name="Picture 7">
            <a:extLst>
              <a:ext uri="{FF2B5EF4-FFF2-40B4-BE49-F238E27FC236}">
                <a16:creationId xmlns:a16="http://schemas.microsoft.com/office/drawing/2014/main" id="{CA7F4D30-4EA1-71F0-2EBF-9C8E4A1AC9C5}"/>
              </a:ext>
            </a:extLst>
          </p:cNvPr>
          <p:cNvPicPr>
            <a:picLocks noChangeAspect="1"/>
          </p:cNvPicPr>
          <p:nvPr/>
        </p:nvPicPr>
        <p:blipFill>
          <a:blip r:embed="rId3"/>
          <a:stretch>
            <a:fillRect/>
          </a:stretch>
        </p:blipFill>
        <p:spPr>
          <a:xfrm>
            <a:off x="10249380" y="0"/>
            <a:ext cx="1942620" cy="6225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home/claude/edge_build/assets/klu_logo.png"/>
          <p:cNvPicPr>
            <a:picLocks noChangeAspect="1"/>
          </p:cNvPicPr>
          <p:nvPr/>
        </p:nvPicPr>
        <p:blipFill>
          <a:blip r:embed="rId3"/>
          <a:stretch>
            <a:fillRect/>
          </a:stretch>
        </p:blipFill>
        <p:spPr>
          <a:xfrm>
            <a:off x="10881360" y="256032"/>
            <a:ext cx="960120" cy="320040"/>
          </a:xfrm>
          <a:prstGeom prst="rect">
            <a:avLst/>
          </a:prstGeom>
        </p:spPr>
      </p:pic>
      <p:sp>
        <p:nvSpPr>
          <p:cNvPr id="4" name="Text 1"/>
          <p:cNvSpPr txBox="1"/>
          <p:nvPr/>
        </p:nvSpPr>
        <p:spPr>
          <a:xfrm>
            <a:off x="457200" y="6510528"/>
            <a:ext cx="86868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Evidence-Driven Game Engine (EDGE)  |  AI-Powered Cricket Intelligence Platform</a:t>
            </a:r>
            <a:endParaRPr lang="en-US" sz="900" dirty="0"/>
          </a:p>
        </p:txBody>
      </p:sp>
      <p:sp>
        <p:nvSpPr>
          <p:cNvPr id="5" name="Text 2"/>
          <p:cNvSpPr txBox="1"/>
          <p:nvPr/>
        </p:nvSpPr>
        <p:spPr>
          <a:xfrm>
            <a:off x="11612880" y="6510528"/>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6</a:t>
            </a:r>
            <a:endParaRPr lang="en-US" sz="900" dirty="0"/>
          </a:p>
        </p:txBody>
      </p:sp>
      <p:graphicFrame>
        <p:nvGraphicFramePr>
          <p:cNvPr id="10" name="Content Placeholder 3">
            <a:extLst>
              <a:ext uri="{FF2B5EF4-FFF2-40B4-BE49-F238E27FC236}">
                <a16:creationId xmlns:a16="http://schemas.microsoft.com/office/drawing/2014/main" id="{4B5AE31F-7C7C-BED7-839D-EB70A2EA24B6}"/>
              </a:ext>
            </a:extLst>
          </p:cNvPr>
          <p:cNvGraphicFramePr>
            <a:graphicFrameLocks/>
          </p:cNvGraphicFramePr>
          <p:nvPr>
            <p:extLst>
              <p:ext uri="{D42A27DB-BD31-4B8C-83A1-F6EECF244321}">
                <p14:modId xmlns:p14="http://schemas.microsoft.com/office/powerpoint/2010/main" val="3908432727"/>
              </p:ext>
            </p:extLst>
          </p:nvPr>
        </p:nvGraphicFramePr>
        <p:xfrm>
          <a:off x="274646" y="969385"/>
          <a:ext cx="11642695" cy="4737917"/>
        </p:xfrm>
        <a:graphic>
          <a:graphicData uri="http://schemas.openxmlformats.org/drawingml/2006/table">
            <a:tbl>
              <a:tblPr firstRow="1" bandRow="1">
                <a:tableStyleId>{BC89EF96-8CEA-46FF-86C4-4CE0E7609802}</a:tableStyleId>
              </a:tblPr>
              <a:tblGrid>
                <a:gridCol w="1711739">
                  <a:extLst>
                    <a:ext uri="{9D8B030D-6E8A-4147-A177-3AD203B41FA5}">
                      <a16:colId xmlns:a16="http://schemas.microsoft.com/office/drawing/2014/main" val="20001"/>
                    </a:ext>
                  </a:extLst>
                </a:gridCol>
                <a:gridCol w="2167280">
                  <a:extLst>
                    <a:ext uri="{9D8B030D-6E8A-4147-A177-3AD203B41FA5}">
                      <a16:colId xmlns:a16="http://schemas.microsoft.com/office/drawing/2014/main" val="20002"/>
                    </a:ext>
                  </a:extLst>
                </a:gridCol>
                <a:gridCol w="2549833">
                  <a:extLst>
                    <a:ext uri="{9D8B030D-6E8A-4147-A177-3AD203B41FA5}">
                      <a16:colId xmlns:a16="http://schemas.microsoft.com/office/drawing/2014/main" val="20003"/>
                    </a:ext>
                  </a:extLst>
                </a:gridCol>
                <a:gridCol w="2348130">
                  <a:extLst>
                    <a:ext uri="{9D8B030D-6E8A-4147-A177-3AD203B41FA5}">
                      <a16:colId xmlns:a16="http://schemas.microsoft.com/office/drawing/2014/main" val="20004"/>
                    </a:ext>
                  </a:extLst>
                </a:gridCol>
                <a:gridCol w="2865713">
                  <a:extLst>
                    <a:ext uri="{9D8B030D-6E8A-4147-A177-3AD203B41FA5}">
                      <a16:colId xmlns:a16="http://schemas.microsoft.com/office/drawing/2014/main" val="1396003017"/>
                    </a:ext>
                  </a:extLst>
                </a:gridCol>
              </a:tblGrid>
              <a:tr h="387917">
                <a:tc>
                  <a:txBody>
                    <a:bodyPr/>
                    <a:lstStyle/>
                    <a:p>
                      <a:pPr algn="ctr">
                        <a:buNone/>
                      </a:pPr>
                      <a:r>
                        <a:rPr lang="en-US">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a:latin typeface="Times New Roman" pitchFamily="18" charset="0"/>
                          <a:cs typeface="Times New Roman" pitchFamily="18" charset="0"/>
                        </a:rPr>
                        <a:t>Link for reference</a:t>
                      </a:r>
                    </a:p>
                  </a:txBody>
                  <a:tcPr>
                    <a:solidFill>
                      <a:srgbClr val="FFFF00"/>
                    </a:solidFill>
                  </a:tcPr>
                </a:tc>
                <a:tc>
                  <a:txBody>
                    <a:bodyPr/>
                    <a:lstStyle/>
                    <a:p>
                      <a:pPr algn="ctr">
                        <a:buNone/>
                      </a:pPr>
                      <a:r>
                        <a:rPr lang="en-US">
                          <a:latin typeface="Times New Roman" pitchFamily="18" charset="0"/>
                          <a:cs typeface="Times New Roman" pitchFamily="18" charset="0"/>
                        </a:rPr>
                        <a:t>Drawbacks</a:t>
                      </a:r>
                    </a:p>
                  </a:txBody>
                  <a:tcPr>
                    <a:solidFill>
                      <a:srgbClr val="FFFF00"/>
                    </a:solidFill>
                  </a:tcPr>
                </a:tc>
                <a:tc>
                  <a:txBody>
                    <a:bodyPr/>
                    <a:lstStyle/>
                    <a:p>
                      <a:pPr algn="ctr">
                        <a:buNone/>
                      </a:pPr>
                      <a:r>
                        <a:rPr lang="en-US">
                          <a:latin typeface="Times New Roman" pitchFamily="18" charset="0"/>
                          <a:cs typeface="Times New Roman" pitchFamily="18" charset="0"/>
                        </a:rPr>
                        <a:t>Future work</a:t>
                      </a:r>
                    </a:p>
                  </a:txBody>
                  <a:tcPr>
                    <a:solidFill>
                      <a:srgbClr val="FFFF00"/>
                    </a:solidFill>
                  </a:tcPr>
                </a:tc>
                <a:extLst>
                  <a:ext uri="{0D108BD9-81ED-4DB2-BD59-A6C34878D82A}">
                    <a16:rowId xmlns:a16="http://schemas.microsoft.com/office/drawing/2014/main" val="10000"/>
                  </a:ext>
                </a:extLst>
              </a:tr>
              <a:tr h="145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kern="1200">
                          <a:solidFill>
                            <a:schemeClr val="tx1"/>
                          </a:solidFill>
                          <a:effectLst/>
                          <a:latin typeface="+mn-lt"/>
                          <a:ea typeface="+mn-ea"/>
                          <a:cs typeface="+mn-cs"/>
                        </a:rPr>
                        <a:t>K. Dhinakaran, S. Anbuchelian</a:t>
                      </a:r>
                      <a:endParaRPr lang="en-IN" sz="1200" b="0" i="0" kern="1200">
                        <a:solidFill>
                          <a:schemeClr val="tx1"/>
                        </a:solidFill>
                        <a:effectLst/>
                        <a:latin typeface="+mn-lt"/>
                        <a:ea typeface="+mn-ea"/>
                        <a:cs typeface="+mn-cs"/>
                      </a:endParaRPr>
                    </a:p>
                  </a:txBody>
                  <a:tcPr/>
                </a:tc>
                <a:tc>
                  <a:txBody>
                    <a:bodyPr/>
                    <a:lstStyle/>
                    <a:p>
                      <a:r>
                        <a:rPr lang="en-IN" sz="1200" b="1" i="0" kern="1200">
                          <a:solidFill>
                            <a:schemeClr val="tx1"/>
                          </a:solidFill>
                          <a:effectLst/>
                          <a:latin typeface="+mn-lt"/>
                          <a:ea typeface="+mn-ea"/>
                          <a:cs typeface="+mn-cs"/>
                        </a:rPr>
                        <a:t>Enhanced Cricket Match Prediction Using Kernel Methods for Feature Extraction and Back-Propagation Neural Networks</a:t>
                      </a: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b="0" i="0" kern="1200">
                          <a:solidFill>
                            <a:srgbClr val="FF0000"/>
                          </a:solidFill>
                          <a:effectLst/>
                          <a:latin typeface="Times New Roman" panose="02020603050405020304" pitchFamily="18" charset="0"/>
                          <a:ea typeface="+mn-ea"/>
                          <a:cs typeface="Times New Roman" panose="02020603050405020304" pitchFamily="18" charset="0"/>
                          <a:sym typeface="Arial"/>
                          <a:hlinkClick r:id="rId4"/>
                        </a:rPr>
                        <a:t>https://www.nature.com/articles/s41598-026-36555-6</a:t>
                      </a:r>
                    </a:p>
                  </a:txBody>
                  <a:tcPr/>
                </a:tc>
                <a:tc>
                  <a:txBody>
                    <a:bodyPr/>
                    <a:lstStyle/>
                    <a:p>
                      <a:pPr marL="228600" indent="-228600">
                        <a:buFont typeface="Arial" panose="020B0604020202020204" pitchFamily="34" charset="0"/>
                        <a:buChar char="•"/>
                      </a:pPr>
                      <a:r>
                        <a:rPr lang="en-IN" sz="1400" b="1"/>
                        <a:t>Limitation:</a:t>
                      </a:r>
                      <a:r>
                        <a:rPr lang="en-IN" sz="1400"/>
                        <a:t> Validated only on ODI matches using six match-state features.</a:t>
                      </a:r>
                    </a:p>
                  </a:txBody>
                  <a:tcPr anchor="ctr"/>
                </a:tc>
                <a:tc>
                  <a:txBody>
                    <a:bodyPr/>
                    <a:lstStyle/>
                    <a:p>
                      <a:pPr marL="228600" indent="-228600" algn="l" defTabSz="914400" rtl="0" eaLnBrk="1" latinLnBrk="0" hangingPunct="1">
                        <a:buFont typeface="Arial" panose="020B0604020202020204" pitchFamily="34" charset="0"/>
                        <a:buChar char="•"/>
                      </a:pPr>
                      <a:r>
                        <a:rPr lang="en-IN" sz="1400" b="1"/>
                        <a:t>Future:</a:t>
                      </a:r>
                      <a:r>
                        <a:rPr lang="en-IN" sz="1400"/>
                        <a:t> Extend the framework to T20/IPL with added contextual features like pitch and weather.</a:t>
                      </a:r>
                    </a:p>
                  </a:txBody>
                  <a:tcPr/>
                </a:tc>
                <a:extLst>
                  <a:ext uri="{0D108BD9-81ED-4DB2-BD59-A6C34878D82A}">
                    <a16:rowId xmlns:a16="http://schemas.microsoft.com/office/drawing/2014/main" val="10001"/>
                  </a:ext>
                </a:extLst>
              </a:tr>
              <a:tr h="145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kern="1200">
                          <a:solidFill>
                            <a:schemeClr val="tx1"/>
                          </a:solidFill>
                          <a:effectLst/>
                          <a:latin typeface="+mn-lt"/>
                          <a:ea typeface="+mn-ea"/>
                          <a:cs typeface="+mn-cs"/>
                        </a:rPr>
                        <a:t>Jhansi Rani P., Apurva Kulkarni, Aditya V. Kamath, Aadith Menon, Prajwal Dhatwalia, Rishabh D</a:t>
                      </a:r>
                      <a:endParaRPr lang="en-IN" sz="1200" b="0" i="0" kern="1200">
                        <a:solidFill>
                          <a:schemeClr val="tx1"/>
                        </a:solidFill>
                        <a:effectLst/>
                        <a:latin typeface="+mn-lt"/>
                        <a:ea typeface="+mn-ea"/>
                        <a:cs typeface="+mn-cs"/>
                      </a:endParaRPr>
                    </a:p>
                  </a:txBody>
                  <a:tcPr/>
                </a:tc>
                <a:tc>
                  <a:txBody>
                    <a:bodyPr/>
                    <a:lstStyle/>
                    <a:p>
                      <a:r>
                        <a:rPr lang="en-IN" sz="1200" b="1" i="0" kern="1200">
                          <a:solidFill>
                            <a:schemeClr val="tx1"/>
                          </a:solidFill>
                          <a:effectLst/>
                          <a:latin typeface="+mn-lt"/>
                          <a:ea typeface="+mn-ea"/>
                          <a:cs typeface="+mn-cs"/>
                        </a:rPr>
                        <a:t>Prediction of Player Price in IPL Auction Using Machine Learning Regression Algorithms</a:t>
                      </a: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b="0" i="0" kern="1200">
                          <a:solidFill>
                            <a:srgbClr val="FF0000"/>
                          </a:solidFill>
                          <a:effectLst/>
                          <a:latin typeface="Times New Roman" panose="02020603050405020304" pitchFamily="18" charset="0"/>
                          <a:ea typeface="+mn-ea"/>
                          <a:cs typeface="Times New Roman" panose="02020603050405020304" pitchFamily="18" charset="0"/>
                          <a:sym typeface="Arial"/>
                          <a:hlinkClick r:id="rId5"/>
                        </a:rPr>
                        <a:t>https://ieeexplore.ieee.org/document/9198668/</a:t>
                      </a:r>
                    </a:p>
                  </a:txBody>
                  <a:tcPr/>
                </a:tc>
                <a:tc>
                  <a:txBody>
                    <a:bodyPr/>
                    <a:lstStyle/>
                    <a:p>
                      <a:pPr marL="228600" indent="-228600">
                        <a:buFont typeface="Arial" panose="020B0604020202020204" pitchFamily="34" charset="0"/>
                        <a:buChar char="•"/>
                      </a:pPr>
                      <a:r>
                        <a:rPr lang="en-IN" sz="1400" b="1"/>
                        <a:t>Limitation:</a:t>
                      </a:r>
                      <a:r>
                        <a:rPr lang="en-IN" sz="1400"/>
                        <a:t> Price predicted from past stats only, ignoring current form or bidding demand.</a:t>
                      </a:r>
                    </a:p>
                  </a:txBody>
                  <a:tcPr anchor="ctr"/>
                </a:tc>
                <a:tc>
                  <a:txBody>
                    <a:bodyPr/>
                    <a:lstStyle/>
                    <a:p>
                      <a:pPr marL="228600" indent="-228600" algn="l" defTabSz="914400" rtl="0" eaLnBrk="1" latinLnBrk="0" hangingPunct="1">
                        <a:buFont typeface="Arial" panose="020B0604020202020204" pitchFamily="34" charset="0"/>
                        <a:buChar char="•"/>
                      </a:pPr>
                      <a:r>
                        <a:rPr lang="en-IN" sz="1400" b="1"/>
                        <a:t>Future:</a:t>
                      </a:r>
                      <a:r>
                        <a:rPr lang="en-IN" sz="1400"/>
                        <a:t> Add real-time form and demand-based features to the pricing model.</a:t>
                      </a:r>
                    </a:p>
                  </a:txBody>
                  <a:tcPr/>
                </a:tc>
                <a:extLst>
                  <a:ext uri="{0D108BD9-81ED-4DB2-BD59-A6C34878D82A}">
                    <a16:rowId xmlns:a16="http://schemas.microsoft.com/office/drawing/2014/main" val="10002"/>
                  </a:ext>
                </a:extLst>
              </a:tr>
              <a:tr h="145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kern="1200" dirty="0">
                          <a:solidFill>
                            <a:schemeClr val="tx1"/>
                          </a:solidFill>
                          <a:effectLst/>
                          <a:latin typeface="+mn-lt"/>
                          <a:ea typeface="+mn-ea"/>
                          <a:cs typeface="+mn-cs"/>
                        </a:rPr>
                        <a:t>Gaurav Malhotra</a:t>
                      </a:r>
                      <a:endParaRPr lang="en-IN" sz="1200" b="0" i="0" kern="1200" dirty="0">
                        <a:solidFill>
                          <a:schemeClr val="tx1"/>
                        </a:solidFill>
                        <a:effectLst/>
                        <a:latin typeface="+mn-lt"/>
                        <a:ea typeface="+mn-ea"/>
                        <a:cs typeface="+mn-cs"/>
                      </a:endParaRPr>
                    </a:p>
                  </a:txBody>
                  <a:tcPr/>
                </a:tc>
                <a:tc>
                  <a:txBody>
                    <a:bodyPr/>
                    <a:lstStyle/>
                    <a:p>
                      <a:r>
                        <a:rPr lang="en-IN" sz="1200" b="1" i="0" kern="1200">
                          <a:solidFill>
                            <a:schemeClr val="tx1"/>
                          </a:solidFill>
                          <a:effectLst/>
                          <a:latin typeface="+mn-lt"/>
                          <a:ea typeface="+mn-ea"/>
                          <a:cs typeface="+mn-cs"/>
                        </a:rPr>
                        <a:t>A Comprehensive Approach to Predict Auction Prices and Economic Value Creation of Cricketers in the IPL</a:t>
                      </a: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400" b="0" i="0" kern="1200">
                          <a:solidFill>
                            <a:srgbClr val="FF0000"/>
                          </a:solidFill>
                          <a:effectLst/>
                          <a:latin typeface="Times New Roman" panose="02020603050405020304" pitchFamily="18" charset="0"/>
                          <a:ea typeface="+mn-ea"/>
                          <a:cs typeface="Times New Roman" panose="02020603050405020304" pitchFamily="18" charset="0"/>
                          <a:sym typeface="Arial"/>
                          <a:hlinkClick r:id="rId6"/>
                        </a:rPr>
                        <a:t>https://journals.sagepub.com/doi/10.3233/JSA-200580</a:t>
                      </a:r>
                    </a:p>
                  </a:txBody>
                  <a:tcPr/>
                </a:tc>
                <a:tc>
                  <a:txBody>
                    <a:bodyPr/>
                    <a:lstStyle/>
                    <a:p>
                      <a:pPr marL="228600" indent="-228600">
                        <a:buFont typeface="Arial" panose="020B0604020202020204" pitchFamily="34" charset="0"/>
                        <a:buChar char="•"/>
                      </a:pPr>
                      <a:r>
                        <a:rPr lang="en-IN" sz="1400" b="1"/>
                        <a:t>Limitation:</a:t>
                      </a:r>
                      <a:r>
                        <a:rPr lang="en-IN" sz="1400"/>
                        <a:t> Uses linear regression, limiting capture of non-linear price-performance relationships.</a:t>
                      </a:r>
                    </a:p>
                  </a:txBody>
                  <a:tcPr anchor="ctr"/>
                </a:tc>
                <a:tc>
                  <a:txBody>
                    <a:bodyPr/>
                    <a:lstStyle/>
                    <a:p>
                      <a:pPr marL="228600" indent="-228600" algn="l" defTabSz="914400" rtl="0" eaLnBrk="1" latinLnBrk="0" hangingPunct="1">
                        <a:buFont typeface="Arial" panose="020B0604020202020204" pitchFamily="34" charset="0"/>
                        <a:buChar char="•"/>
                      </a:pPr>
                      <a:r>
                        <a:rPr lang="en-IN" sz="1400" b="1" dirty="0"/>
                        <a:t>Future:</a:t>
                      </a:r>
                      <a:r>
                        <a:rPr lang="en-IN" sz="1400" dirty="0"/>
                        <a:t> Apply advanced ML/ensemble models with continuously updated in-season data.</a:t>
                      </a:r>
                    </a:p>
                  </a:txBody>
                  <a:tcPr/>
                </a:tc>
                <a:extLst>
                  <a:ext uri="{0D108BD9-81ED-4DB2-BD59-A6C34878D82A}">
                    <a16:rowId xmlns:a16="http://schemas.microsoft.com/office/drawing/2014/main" val="10003"/>
                  </a:ext>
                </a:extLst>
              </a:tr>
            </a:tbl>
          </a:graphicData>
        </a:graphic>
      </p:graphicFrame>
      <p:pic>
        <p:nvPicPr>
          <p:cNvPr id="11" name="Picture 10">
            <a:extLst>
              <a:ext uri="{FF2B5EF4-FFF2-40B4-BE49-F238E27FC236}">
                <a16:creationId xmlns:a16="http://schemas.microsoft.com/office/drawing/2014/main" id="{95D6DAC2-3167-19A8-450D-D117A896066C}"/>
              </a:ext>
            </a:extLst>
          </p:cNvPr>
          <p:cNvPicPr>
            <a:picLocks noChangeAspect="1"/>
          </p:cNvPicPr>
          <p:nvPr/>
        </p:nvPicPr>
        <p:blipFill>
          <a:blip r:embed="rId3"/>
          <a:stretch>
            <a:fillRect/>
          </a:stretch>
        </p:blipFill>
        <p:spPr>
          <a:xfrm>
            <a:off x="10249380" y="0"/>
            <a:ext cx="1942620" cy="622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121297" y="140208"/>
            <a:ext cx="9875520" cy="548640"/>
          </a:xfrm>
          <a:prstGeom prst="rect">
            <a:avLst/>
          </a:prstGeom>
          <a:noFill/>
          <a:ln/>
        </p:spPr>
        <p:txBody>
          <a:bodyPr wrap="square" lIns="0" tIns="0" rIns="0" bIns="0" rtlCol="0" anchor="ctr"/>
          <a:lstStyle/>
          <a:p>
            <a:pPr marL="0" indent="0">
              <a:buNone/>
            </a:pPr>
            <a:r>
              <a:rPr lang="en-US" sz="2400" b="1" dirty="0">
                <a:solidFill>
                  <a:srgbClr val="2E5AAC"/>
                </a:solidFill>
                <a:latin typeface="Calibri" pitchFamily="34" charset="0"/>
                <a:ea typeface="Calibri" pitchFamily="34" charset="-122"/>
                <a:cs typeface="Calibri" pitchFamily="34" charset="-120"/>
              </a:rPr>
              <a:t>Methodology – Evidence-Driven Game Engine (EDGE)</a:t>
            </a:r>
            <a:endParaRPr lang="en-US" sz="2400" dirty="0"/>
          </a:p>
        </p:txBody>
      </p:sp>
      <p:pic>
        <p:nvPicPr>
          <p:cNvPr id="3" name="Image 0" descr="/home/claude/edge_build/assets/klu_logo.png"/>
          <p:cNvPicPr>
            <a:picLocks noChangeAspect="1"/>
          </p:cNvPicPr>
          <p:nvPr/>
        </p:nvPicPr>
        <p:blipFill>
          <a:blip r:embed="rId3"/>
          <a:stretch>
            <a:fillRect/>
          </a:stretch>
        </p:blipFill>
        <p:spPr>
          <a:xfrm>
            <a:off x="10881360" y="256032"/>
            <a:ext cx="960120" cy="320040"/>
          </a:xfrm>
          <a:prstGeom prst="rect">
            <a:avLst/>
          </a:prstGeom>
        </p:spPr>
      </p:pic>
      <p:sp>
        <p:nvSpPr>
          <p:cNvPr id="4" name="Text 1"/>
          <p:cNvSpPr txBox="1"/>
          <p:nvPr/>
        </p:nvSpPr>
        <p:spPr>
          <a:xfrm>
            <a:off x="457200" y="6510528"/>
            <a:ext cx="86868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Evidence-Driven Game Engine (EDGE)  |  AI-Powered Cricket Intelligence Platform</a:t>
            </a:r>
            <a:endParaRPr lang="en-US" sz="900" dirty="0"/>
          </a:p>
        </p:txBody>
      </p:sp>
      <p:sp>
        <p:nvSpPr>
          <p:cNvPr id="5" name="Text 2"/>
          <p:cNvSpPr txBox="1"/>
          <p:nvPr/>
        </p:nvSpPr>
        <p:spPr>
          <a:xfrm>
            <a:off x="11612880" y="6510528"/>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7</a:t>
            </a:r>
            <a:endParaRPr lang="en-US" sz="900" dirty="0"/>
          </a:p>
        </p:txBody>
      </p:sp>
      <p:pic>
        <p:nvPicPr>
          <p:cNvPr id="9" name="Picture 8">
            <a:extLst>
              <a:ext uri="{FF2B5EF4-FFF2-40B4-BE49-F238E27FC236}">
                <a16:creationId xmlns:a16="http://schemas.microsoft.com/office/drawing/2014/main" id="{B36F97D3-687C-7B25-AF6C-EC71FDBADF8C}"/>
              </a:ext>
            </a:extLst>
          </p:cNvPr>
          <p:cNvPicPr>
            <a:picLocks noChangeAspect="1"/>
          </p:cNvPicPr>
          <p:nvPr/>
        </p:nvPicPr>
        <p:blipFill>
          <a:blip r:embed="rId4"/>
          <a:stretch>
            <a:fillRect/>
          </a:stretch>
        </p:blipFill>
        <p:spPr>
          <a:xfrm>
            <a:off x="0" y="688848"/>
            <a:ext cx="12192000" cy="6096000"/>
          </a:xfrm>
          <a:prstGeom prst="rect">
            <a:avLst/>
          </a:prstGeom>
        </p:spPr>
      </p:pic>
      <p:pic>
        <p:nvPicPr>
          <p:cNvPr id="10" name="Picture 9">
            <a:extLst>
              <a:ext uri="{FF2B5EF4-FFF2-40B4-BE49-F238E27FC236}">
                <a16:creationId xmlns:a16="http://schemas.microsoft.com/office/drawing/2014/main" id="{377AA35D-E782-9A80-6FF9-9559AA4CFD0A}"/>
              </a:ext>
            </a:extLst>
          </p:cNvPr>
          <p:cNvPicPr>
            <a:picLocks noChangeAspect="1"/>
          </p:cNvPicPr>
          <p:nvPr/>
        </p:nvPicPr>
        <p:blipFill>
          <a:blip r:embed="rId3"/>
          <a:stretch>
            <a:fillRect/>
          </a:stretch>
        </p:blipFill>
        <p:spPr>
          <a:xfrm>
            <a:off x="10249380" y="0"/>
            <a:ext cx="1942620" cy="6225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56032"/>
            <a:ext cx="9875520" cy="548640"/>
          </a:xfrm>
          <a:prstGeom prst="rect">
            <a:avLst/>
          </a:prstGeom>
          <a:noFill/>
          <a:ln/>
        </p:spPr>
        <p:txBody>
          <a:bodyPr wrap="square" lIns="0" tIns="0" rIns="0" bIns="0" rtlCol="0" anchor="ctr"/>
          <a:lstStyle/>
          <a:p>
            <a:pPr marL="0" indent="0">
              <a:buNone/>
            </a:pPr>
            <a:r>
              <a:rPr lang="en-US" sz="2400" b="1" dirty="0">
                <a:solidFill>
                  <a:srgbClr val="2E5AAC"/>
                </a:solidFill>
                <a:latin typeface="Calibri" pitchFamily="34" charset="0"/>
                <a:ea typeface="Calibri" pitchFamily="34" charset="-122"/>
                <a:cs typeface="Calibri" pitchFamily="34" charset="-120"/>
              </a:rPr>
              <a:t>Evidence-Driven Game Engine – System Architecture</a:t>
            </a:r>
            <a:endParaRPr lang="en-US" sz="2400" dirty="0"/>
          </a:p>
        </p:txBody>
      </p:sp>
      <p:pic>
        <p:nvPicPr>
          <p:cNvPr id="3" name="Image 0" descr="/home/claude/edge_build/assets/klu_logo.png"/>
          <p:cNvPicPr>
            <a:picLocks noChangeAspect="1"/>
          </p:cNvPicPr>
          <p:nvPr/>
        </p:nvPicPr>
        <p:blipFill>
          <a:blip r:embed="rId3"/>
          <a:stretch>
            <a:fillRect/>
          </a:stretch>
        </p:blipFill>
        <p:spPr>
          <a:xfrm>
            <a:off x="10881360" y="256032"/>
            <a:ext cx="960120" cy="320040"/>
          </a:xfrm>
          <a:prstGeom prst="rect">
            <a:avLst/>
          </a:prstGeom>
        </p:spPr>
      </p:pic>
      <p:sp>
        <p:nvSpPr>
          <p:cNvPr id="4" name="Text 1"/>
          <p:cNvSpPr txBox="1"/>
          <p:nvPr/>
        </p:nvSpPr>
        <p:spPr>
          <a:xfrm>
            <a:off x="457200" y="6510528"/>
            <a:ext cx="86868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Evidence-Driven Game Engine (EDGE)  |  AI-Powered Cricket Intelligence Platform</a:t>
            </a:r>
            <a:endParaRPr lang="en-US" sz="900" dirty="0"/>
          </a:p>
        </p:txBody>
      </p:sp>
      <p:sp>
        <p:nvSpPr>
          <p:cNvPr id="5" name="Text 2"/>
          <p:cNvSpPr txBox="1"/>
          <p:nvPr/>
        </p:nvSpPr>
        <p:spPr>
          <a:xfrm>
            <a:off x="11612880" y="6510528"/>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8</a:t>
            </a:r>
            <a:endParaRPr lang="en-US" sz="900" dirty="0"/>
          </a:p>
        </p:txBody>
      </p:sp>
      <p:pic>
        <p:nvPicPr>
          <p:cNvPr id="7" name="Picture 4">
            <a:extLst>
              <a:ext uri="{FF2B5EF4-FFF2-40B4-BE49-F238E27FC236}">
                <a16:creationId xmlns:a16="http://schemas.microsoft.com/office/drawing/2014/main" id="{5F233438-518E-5886-D1F5-A210C8E1D45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829" t="13194" r="10865" b="13036"/>
          <a:stretch>
            <a:fillRect/>
          </a:stretch>
        </p:blipFill>
        <p:spPr bwMode="auto">
          <a:xfrm>
            <a:off x="2176872" y="804672"/>
            <a:ext cx="6967128" cy="545579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30BD74B8-A70B-8036-7F02-CC4AE18575EE}"/>
              </a:ext>
            </a:extLst>
          </p:cNvPr>
          <p:cNvPicPr>
            <a:picLocks noChangeAspect="1"/>
          </p:cNvPicPr>
          <p:nvPr/>
        </p:nvPicPr>
        <p:blipFill>
          <a:blip r:embed="rId3"/>
          <a:stretch>
            <a:fillRect/>
          </a:stretch>
        </p:blipFill>
        <p:spPr>
          <a:xfrm>
            <a:off x="10249380" y="0"/>
            <a:ext cx="1942620" cy="6225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home/claude/edge_build/assets/klu_logo.png"/>
          <p:cNvPicPr>
            <a:picLocks noChangeAspect="1"/>
          </p:cNvPicPr>
          <p:nvPr/>
        </p:nvPicPr>
        <p:blipFill>
          <a:blip r:embed="rId3"/>
          <a:stretch>
            <a:fillRect/>
          </a:stretch>
        </p:blipFill>
        <p:spPr>
          <a:xfrm>
            <a:off x="10881360" y="256032"/>
            <a:ext cx="960120" cy="320040"/>
          </a:xfrm>
          <a:prstGeom prst="rect">
            <a:avLst/>
          </a:prstGeom>
        </p:spPr>
      </p:pic>
      <p:sp>
        <p:nvSpPr>
          <p:cNvPr id="4" name="Text 1"/>
          <p:cNvSpPr txBox="1"/>
          <p:nvPr/>
        </p:nvSpPr>
        <p:spPr>
          <a:xfrm>
            <a:off x="457200" y="6510528"/>
            <a:ext cx="86868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Evidence-Driven Game Engine (EDGE)  |  AI-Powered Cricket Intelligence Platform</a:t>
            </a:r>
            <a:endParaRPr lang="en-US" sz="900" dirty="0"/>
          </a:p>
        </p:txBody>
      </p:sp>
      <p:sp>
        <p:nvSpPr>
          <p:cNvPr id="5" name="Text 2"/>
          <p:cNvSpPr txBox="1"/>
          <p:nvPr/>
        </p:nvSpPr>
        <p:spPr>
          <a:xfrm>
            <a:off x="11612880" y="6510528"/>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9</a:t>
            </a:r>
            <a:endParaRPr lang="en-US" sz="900" dirty="0"/>
          </a:p>
        </p:txBody>
      </p:sp>
      <p:sp>
        <p:nvSpPr>
          <p:cNvPr id="6" name="Text 3"/>
          <p:cNvSpPr txBox="1"/>
          <p:nvPr/>
        </p:nvSpPr>
        <p:spPr>
          <a:xfrm>
            <a:off x="457200" y="575139"/>
            <a:ext cx="11247120" cy="2651760"/>
          </a:xfrm>
          <a:prstGeom prst="rect">
            <a:avLst/>
          </a:prstGeom>
          <a:noFill/>
          <a:ln/>
        </p:spPr>
        <p:txBody>
          <a:bodyPr wrap="square" lIns="0" tIns="0" rIns="0" bIns="0" rtlCol="0" anchor="t"/>
          <a:lstStyle/>
          <a:p>
            <a:pPr marL="0" indent="0">
              <a:lnSpc>
                <a:spcPct val="108000"/>
              </a:lnSpc>
              <a:spcAft>
                <a:spcPts val="400"/>
              </a:spcAft>
              <a:buNone/>
            </a:pPr>
            <a:r>
              <a:rPr lang="en-US" b="1" dirty="0">
                <a:solidFill>
                  <a:srgbClr val="2E5AAC"/>
                </a:solidFill>
                <a:latin typeface="Calibri" pitchFamily="34" charset="0"/>
                <a:ea typeface="Calibri" pitchFamily="34" charset="-122"/>
                <a:cs typeface="Calibri" pitchFamily="34" charset="-120"/>
              </a:rPr>
              <a:t>Existing Solutions</a:t>
            </a:r>
            <a:endParaRPr lang="en-US" dirty="0"/>
          </a:p>
          <a:p>
            <a:pPr marL="0" indent="0">
              <a:lnSpc>
                <a:spcPct val="108000"/>
              </a:lnSpc>
              <a:buNone/>
            </a:pPr>
            <a:r>
              <a:rPr lang="en-US" dirty="0">
                <a:solidFill>
                  <a:srgbClr val="222222"/>
                </a:solidFill>
                <a:latin typeface="Calibri" pitchFamily="34" charset="0"/>
                <a:ea typeface="Calibri" pitchFamily="34" charset="-122"/>
                <a:cs typeface="Calibri" pitchFamily="34" charset="-120"/>
              </a:rPr>
              <a:t>•  Static Scorecards &amp; Dashboards (e.g., Cricbuzz, ESPNcricinfo) – provide ball-by-ball scorecards, player statistics and post-match dashboards.</a:t>
            </a:r>
            <a:endParaRPr lang="en-US" dirty="0"/>
          </a:p>
          <a:p>
            <a:pPr marL="0" indent="0">
              <a:lnSpc>
                <a:spcPct val="108000"/>
              </a:lnSpc>
              <a:buNone/>
            </a:pPr>
            <a:r>
              <a:rPr lang="en-US" dirty="0">
                <a:solidFill>
                  <a:srgbClr val="222222"/>
                </a:solidFill>
                <a:latin typeface="Calibri" pitchFamily="34" charset="0"/>
                <a:ea typeface="Calibri" pitchFamily="34" charset="-122"/>
                <a:cs typeface="Calibri" pitchFamily="34" charset="-120"/>
              </a:rPr>
              <a:t>•  Pre-match Prediction Models (e.g., Shenoy et al., Chakraborty et al.) – predict match outcomes using historical data and team features.</a:t>
            </a:r>
            <a:endParaRPr lang="en-US" dirty="0"/>
          </a:p>
          <a:p>
            <a:pPr marL="0" indent="0">
              <a:lnSpc>
                <a:spcPct val="108000"/>
              </a:lnSpc>
              <a:buNone/>
            </a:pPr>
            <a:r>
              <a:rPr lang="en-US" dirty="0">
                <a:solidFill>
                  <a:srgbClr val="222222"/>
                </a:solidFill>
                <a:latin typeface="Calibri" pitchFamily="34" charset="0"/>
                <a:ea typeface="Calibri" pitchFamily="34" charset="-122"/>
                <a:cs typeface="Calibri" pitchFamily="34" charset="-120"/>
              </a:rPr>
              <a:t>•  In-game Prediction Systems (e.g., Pussella et al.) – extend prediction during matches using changing conditions, mainly for IPL.</a:t>
            </a:r>
            <a:endParaRPr lang="en-US" dirty="0"/>
          </a:p>
          <a:p>
            <a:pPr marL="0" indent="0">
              <a:lnSpc>
                <a:spcPct val="108000"/>
              </a:lnSpc>
              <a:buNone/>
            </a:pPr>
            <a:r>
              <a:rPr lang="en-US" dirty="0">
                <a:solidFill>
                  <a:srgbClr val="222222"/>
                </a:solidFill>
                <a:latin typeface="Calibri" pitchFamily="34" charset="0"/>
                <a:ea typeface="Calibri" pitchFamily="34" charset="-122"/>
                <a:cs typeface="Calibri" pitchFamily="34" charset="-120"/>
              </a:rPr>
              <a:t>•  Fantasy &amp; Scouting Platforms (e.g., Dream11, CricHeroes) – provide raw player stats, rankings and past performance data.</a:t>
            </a:r>
            <a:endParaRPr lang="en-US" dirty="0"/>
          </a:p>
          <a:p>
            <a:pPr marL="0" indent="0">
              <a:lnSpc>
                <a:spcPct val="108000"/>
              </a:lnSpc>
              <a:buNone/>
            </a:pPr>
            <a:r>
              <a:rPr lang="en-US" dirty="0">
                <a:solidFill>
                  <a:srgbClr val="222222"/>
                </a:solidFill>
                <a:latin typeface="Calibri" pitchFamily="34" charset="0"/>
                <a:ea typeface="Calibri" pitchFamily="34" charset="-122"/>
                <a:cs typeface="Calibri" pitchFamily="34" charset="-120"/>
              </a:rPr>
              <a:t>•  Auction &amp; Player Valuation Models – estimate player values using historical performance and ML models.</a:t>
            </a:r>
            <a:endParaRPr lang="en-US" dirty="0"/>
          </a:p>
        </p:txBody>
      </p:sp>
      <p:sp>
        <p:nvSpPr>
          <p:cNvPr id="7" name="Text 4"/>
          <p:cNvSpPr txBox="1"/>
          <p:nvPr/>
        </p:nvSpPr>
        <p:spPr>
          <a:xfrm>
            <a:off x="457200" y="3746801"/>
            <a:ext cx="11247120" cy="2651760"/>
          </a:xfrm>
          <a:prstGeom prst="rect">
            <a:avLst/>
          </a:prstGeom>
          <a:noFill/>
          <a:ln/>
        </p:spPr>
        <p:txBody>
          <a:bodyPr wrap="square" lIns="0" tIns="0" rIns="0" bIns="0" rtlCol="0" anchor="t"/>
          <a:lstStyle/>
          <a:p>
            <a:pPr marL="0" indent="0">
              <a:lnSpc>
                <a:spcPct val="108000"/>
              </a:lnSpc>
              <a:spcAft>
                <a:spcPts val="400"/>
              </a:spcAft>
              <a:buNone/>
            </a:pPr>
            <a:r>
              <a:rPr lang="en-US" b="1" dirty="0">
                <a:solidFill>
                  <a:srgbClr val="2E5AAC"/>
                </a:solidFill>
                <a:latin typeface="Calibri" pitchFamily="34" charset="0"/>
                <a:ea typeface="Calibri" pitchFamily="34" charset="-122"/>
                <a:cs typeface="Calibri" pitchFamily="34" charset="-120"/>
              </a:rPr>
              <a:t>Limitations of Existing Systems</a:t>
            </a:r>
            <a:endParaRPr lang="en-US" dirty="0"/>
          </a:p>
          <a:p>
            <a:pPr marL="0" indent="0">
              <a:lnSpc>
                <a:spcPct val="108000"/>
              </a:lnSpc>
              <a:buNone/>
            </a:pPr>
            <a:r>
              <a:rPr lang="en-US" dirty="0">
                <a:solidFill>
                  <a:srgbClr val="222222"/>
                </a:solidFill>
                <a:latin typeface="Calibri" pitchFamily="34" charset="0"/>
                <a:ea typeface="Calibri" pitchFamily="34" charset="-122"/>
                <a:cs typeface="Calibri" pitchFamily="34" charset="-120"/>
              </a:rPr>
              <a:t>•  Static / post-match focus – most platforms stop updating once the match begins, offering little real-time intelligence.</a:t>
            </a:r>
            <a:endParaRPr lang="en-US" dirty="0"/>
          </a:p>
          <a:p>
            <a:pPr marL="0" indent="0">
              <a:lnSpc>
                <a:spcPct val="108000"/>
              </a:lnSpc>
              <a:buNone/>
            </a:pPr>
            <a:r>
              <a:rPr lang="en-US" dirty="0">
                <a:solidFill>
                  <a:srgbClr val="222222"/>
                </a:solidFill>
                <a:latin typeface="Calibri" pitchFamily="34" charset="0"/>
                <a:ea typeface="Calibri" pitchFamily="34" charset="-122"/>
                <a:cs typeface="Calibri" pitchFamily="34" charset="-120"/>
              </a:rPr>
              <a:t>•  Limited real-time support – few systems provide actionable tactical recommendations as the match state changes ball by ball.</a:t>
            </a:r>
            <a:endParaRPr lang="en-US" dirty="0"/>
          </a:p>
          <a:p>
            <a:pPr marL="0" indent="0">
              <a:lnSpc>
                <a:spcPct val="108000"/>
              </a:lnSpc>
              <a:buNone/>
            </a:pPr>
            <a:r>
              <a:rPr lang="en-US" dirty="0">
                <a:solidFill>
                  <a:srgbClr val="222222"/>
                </a:solidFill>
                <a:latin typeface="Calibri" pitchFamily="34" charset="0"/>
                <a:ea typeface="Calibri" pitchFamily="34" charset="-122"/>
                <a:cs typeface="Calibri" pitchFamily="34" charset="-120"/>
              </a:rPr>
              <a:t>•  Narrow data coverage – often restricted to a single league, format or short date range (e.g., IPL 2008–2020).</a:t>
            </a:r>
            <a:endParaRPr lang="en-US" dirty="0"/>
          </a:p>
          <a:p>
            <a:pPr marL="0" indent="0">
              <a:lnSpc>
                <a:spcPct val="108000"/>
              </a:lnSpc>
              <a:buNone/>
            </a:pPr>
            <a:r>
              <a:rPr lang="en-US" dirty="0">
                <a:solidFill>
                  <a:srgbClr val="222222"/>
                </a:solidFill>
                <a:latin typeface="Calibri" pitchFamily="34" charset="0"/>
                <a:ea typeface="Calibri" pitchFamily="34" charset="-122"/>
                <a:cs typeface="Calibri" pitchFamily="34" charset="-120"/>
              </a:rPr>
              <a:t>•  No contextual reasoning – platforms show raw stats and rankings, leaving users to interpret trends manually.</a:t>
            </a:r>
            <a:endParaRPr lang="en-US" dirty="0"/>
          </a:p>
          <a:p>
            <a:pPr marL="0" indent="0">
              <a:lnSpc>
                <a:spcPct val="108000"/>
              </a:lnSpc>
              <a:buNone/>
            </a:pPr>
            <a:r>
              <a:rPr lang="en-US" dirty="0">
                <a:solidFill>
                  <a:srgbClr val="222222"/>
                </a:solidFill>
                <a:latin typeface="Calibri" pitchFamily="34" charset="0"/>
                <a:ea typeface="Calibri" pitchFamily="34" charset="-122"/>
                <a:cs typeface="Calibri" pitchFamily="34" charset="-120"/>
              </a:rPr>
              <a:t>•  Fragmented sources and an expertise barrier – users switch between disconnected tools, and turning raw data into insight still needs cricket or data-science expertise.</a:t>
            </a:r>
            <a:endParaRPr lang="en-US" dirty="0"/>
          </a:p>
        </p:txBody>
      </p:sp>
      <p:pic>
        <p:nvPicPr>
          <p:cNvPr id="8" name="Picture 7">
            <a:extLst>
              <a:ext uri="{FF2B5EF4-FFF2-40B4-BE49-F238E27FC236}">
                <a16:creationId xmlns:a16="http://schemas.microsoft.com/office/drawing/2014/main" id="{40037A2E-908D-0AFF-D927-A8CE9E9A4AE6}"/>
              </a:ext>
            </a:extLst>
          </p:cNvPr>
          <p:cNvPicPr>
            <a:picLocks noChangeAspect="1"/>
          </p:cNvPicPr>
          <p:nvPr/>
        </p:nvPicPr>
        <p:blipFill>
          <a:blip r:embed="rId3"/>
          <a:stretch>
            <a:fillRect/>
          </a:stretch>
        </p:blipFill>
        <p:spPr>
          <a:xfrm>
            <a:off x="10249380" y="0"/>
            <a:ext cx="1942620" cy="6225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56032"/>
            <a:ext cx="9875520" cy="548640"/>
          </a:xfrm>
          <a:prstGeom prst="rect">
            <a:avLst/>
          </a:prstGeom>
          <a:noFill/>
          <a:ln/>
        </p:spPr>
        <p:txBody>
          <a:bodyPr wrap="square" lIns="0" tIns="0" rIns="0" bIns="0" rtlCol="0" anchor="ctr"/>
          <a:lstStyle/>
          <a:p>
            <a:pPr marL="0" indent="0">
              <a:buNone/>
            </a:pPr>
            <a:r>
              <a:rPr lang="en-US" sz="2400" b="1" dirty="0">
                <a:solidFill>
                  <a:srgbClr val="2E5AAC"/>
                </a:solidFill>
                <a:latin typeface="Calibri" pitchFamily="34" charset="0"/>
                <a:ea typeface="Calibri" pitchFamily="34" charset="-122"/>
                <a:cs typeface="Calibri" pitchFamily="34" charset="-120"/>
              </a:rPr>
              <a:t>Proposed System</a:t>
            </a:r>
            <a:endParaRPr lang="en-US" sz="2400" dirty="0"/>
          </a:p>
        </p:txBody>
      </p:sp>
      <p:pic>
        <p:nvPicPr>
          <p:cNvPr id="3" name="Image 0" descr="/home/claude/edge_build/assets/klu_logo.png"/>
          <p:cNvPicPr>
            <a:picLocks noChangeAspect="1"/>
          </p:cNvPicPr>
          <p:nvPr/>
        </p:nvPicPr>
        <p:blipFill>
          <a:blip r:embed="rId3"/>
          <a:stretch>
            <a:fillRect/>
          </a:stretch>
        </p:blipFill>
        <p:spPr>
          <a:xfrm>
            <a:off x="10881360" y="256032"/>
            <a:ext cx="960120" cy="320040"/>
          </a:xfrm>
          <a:prstGeom prst="rect">
            <a:avLst/>
          </a:prstGeom>
        </p:spPr>
      </p:pic>
      <p:sp>
        <p:nvSpPr>
          <p:cNvPr id="4" name="Text 1"/>
          <p:cNvSpPr txBox="1"/>
          <p:nvPr/>
        </p:nvSpPr>
        <p:spPr>
          <a:xfrm>
            <a:off x="457200" y="6510528"/>
            <a:ext cx="86868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Evidence-Driven Game Engine (EDGE)  |  AI-Powered Cricket Intelligence Platform</a:t>
            </a:r>
            <a:endParaRPr lang="en-US" sz="900" dirty="0"/>
          </a:p>
        </p:txBody>
      </p:sp>
      <p:sp>
        <p:nvSpPr>
          <p:cNvPr id="5" name="Text 2"/>
          <p:cNvSpPr txBox="1"/>
          <p:nvPr/>
        </p:nvSpPr>
        <p:spPr>
          <a:xfrm>
            <a:off x="11612880" y="6510528"/>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10</a:t>
            </a:r>
            <a:endParaRPr lang="en-US" sz="900" dirty="0"/>
          </a:p>
        </p:txBody>
      </p:sp>
      <p:sp>
        <p:nvSpPr>
          <p:cNvPr id="6" name="Text 3"/>
          <p:cNvSpPr txBox="1"/>
          <p:nvPr/>
        </p:nvSpPr>
        <p:spPr>
          <a:xfrm>
            <a:off x="457200" y="1005840"/>
            <a:ext cx="11247120" cy="5212080"/>
          </a:xfrm>
          <a:prstGeom prst="rect">
            <a:avLst/>
          </a:prstGeom>
          <a:noFill/>
          <a:ln/>
        </p:spPr>
        <p:txBody>
          <a:bodyPr wrap="square" lIns="0" tIns="0" rIns="0" bIns="0" rtlCol="0" anchor="t"/>
          <a:lstStyle/>
          <a:p>
            <a:pPr marL="0" indent="0">
              <a:lnSpc>
                <a:spcPct val="108000"/>
              </a:lnSpc>
              <a:spcAft>
                <a:spcPts val="1400"/>
              </a:spcAft>
              <a:buNone/>
            </a:pPr>
            <a:r>
              <a:rPr lang="en-US" dirty="0">
                <a:solidFill>
                  <a:srgbClr val="222222"/>
                </a:solidFill>
                <a:latin typeface="Calibri" pitchFamily="34" charset="0"/>
                <a:ea typeface="Calibri" pitchFamily="34" charset="-122"/>
                <a:cs typeface="Calibri" pitchFamily="34" charset="-120"/>
              </a:rPr>
              <a:t>The proposed system, EDGE (Evidence-Driven Game Engine), unifies historical and live cricket data with generative AI to deliver continuously updated, explainable tactical insights throughout a match. It combines 800,000+ deliveries, 5,000+ player profiles, and live CricAPI/RapidAPI feeds with an AI Match Situation Advisor and Bowling Change Recommender, so guidance stays relevant ball by ball rather than only before the match.</a:t>
            </a:r>
            <a:endParaRPr lang="en-US" dirty="0"/>
          </a:p>
          <a:p>
            <a:pPr marL="0" indent="0">
              <a:lnSpc>
                <a:spcPct val="108000"/>
              </a:lnSpc>
              <a:buNone/>
            </a:pPr>
            <a:r>
              <a:rPr lang="en-US" dirty="0">
                <a:solidFill>
                  <a:srgbClr val="222222"/>
                </a:solidFill>
                <a:latin typeface="Calibri" pitchFamily="34" charset="0"/>
                <a:ea typeface="Calibri" pitchFamily="34" charset="-122"/>
                <a:cs typeface="Calibri" pitchFamily="34" charset="-120"/>
              </a:rPr>
              <a:t>A single, self-updating platform brings the Live Match Centre, ICC Rankings, IPL Franchise Intelligence Hub, and win-probability simulator together, removing the need to switch between fragmented sources. A structured, repeatable Python-based ETL pipeline extracts, cleans, transforms, and loads data into PostgreSQL with Prisma ORM, keeping information current and letting new seasons, formats, and leagues be added without manual rework, while an interactive interface with AI-generated player biographies and visualizations makes deep cricket analysis accessible without requiring cricket or data-science expertise.</a:t>
            </a:r>
            <a:endParaRPr lang="en-US" dirty="0"/>
          </a:p>
        </p:txBody>
      </p:sp>
      <p:pic>
        <p:nvPicPr>
          <p:cNvPr id="7" name="Picture 6">
            <a:extLst>
              <a:ext uri="{FF2B5EF4-FFF2-40B4-BE49-F238E27FC236}">
                <a16:creationId xmlns:a16="http://schemas.microsoft.com/office/drawing/2014/main" id="{E1799FB3-2C5A-870D-D232-30717DA56B7C}"/>
              </a:ext>
            </a:extLst>
          </p:cNvPr>
          <p:cNvPicPr>
            <a:picLocks noChangeAspect="1"/>
          </p:cNvPicPr>
          <p:nvPr/>
        </p:nvPicPr>
        <p:blipFill>
          <a:blip r:embed="rId3"/>
          <a:stretch>
            <a:fillRect/>
          </a:stretch>
        </p:blipFill>
        <p:spPr>
          <a:xfrm>
            <a:off x="10249380" y="0"/>
            <a:ext cx="1942620" cy="6225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527BB-1C7C-1082-EE96-3FCB22CD94B6}"/>
              </a:ext>
            </a:extLst>
          </p:cNvPr>
          <p:cNvSpPr txBox="1">
            <a:spLocks/>
          </p:cNvSpPr>
          <p:nvPr/>
        </p:nvSpPr>
        <p:spPr>
          <a:xfrm>
            <a:off x="79512" y="2571612"/>
            <a:ext cx="2057399" cy="1423918"/>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4000" b="1" dirty="0">
                <a:solidFill>
                  <a:schemeClr val="accent1">
                    <a:lumMod val="75000"/>
                  </a:schemeClr>
                </a:solidFill>
              </a:rPr>
              <a:t>System Design :</a:t>
            </a:r>
          </a:p>
        </p:txBody>
      </p:sp>
      <p:pic>
        <p:nvPicPr>
          <p:cNvPr id="3" name="Picture 2">
            <a:extLst>
              <a:ext uri="{FF2B5EF4-FFF2-40B4-BE49-F238E27FC236}">
                <a16:creationId xmlns:a16="http://schemas.microsoft.com/office/drawing/2014/main" id="{CC134133-AD05-71BE-1AE7-A04EEFBA31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0"/>
            <a:ext cx="10287000"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B1F8FB05-E317-2E7E-27D3-8EADAD8CA726}"/>
                  </a:ext>
                </a:extLst>
              </p14:cNvPr>
              <p14:cNvContentPartPr/>
              <p14:nvPr/>
            </p14:nvContentPartPr>
            <p14:xfrm>
              <a:off x="2203130" y="128276"/>
              <a:ext cx="2428200" cy="982800"/>
            </p14:xfrm>
          </p:contentPart>
        </mc:Choice>
        <mc:Fallback xmlns="">
          <p:pic>
            <p:nvPicPr>
              <p:cNvPr id="4" name="Ink 3">
                <a:extLst>
                  <a:ext uri="{FF2B5EF4-FFF2-40B4-BE49-F238E27FC236}">
                    <a16:creationId xmlns:a16="http://schemas.microsoft.com/office/drawing/2014/main" id="{B1F8FB05-E317-2E7E-27D3-8EADAD8CA726}"/>
                  </a:ext>
                </a:extLst>
              </p:cNvPr>
              <p:cNvPicPr/>
              <p:nvPr/>
            </p:nvPicPr>
            <p:blipFill>
              <a:blip r:embed="rId4"/>
              <a:stretch>
                <a:fillRect/>
              </a:stretch>
            </p:blipFill>
            <p:spPr>
              <a:xfrm>
                <a:off x="2140130" y="65276"/>
                <a:ext cx="2553840" cy="1108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373D8E87-4B8C-4819-4D10-220B41396908}"/>
                  </a:ext>
                </a:extLst>
              </p14:cNvPr>
              <p14:cNvContentPartPr/>
              <p14:nvPr/>
            </p14:nvContentPartPr>
            <p14:xfrm>
              <a:off x="2388890" y="360476"/>
              <a:ext cx="1719000" cy="485640"/>
            </p14:xfrm>
          </p:contentPart>
        </mc:Choice>
        <mc:Fallback xmlns="">
          <p:pic>
            <p:nvPicPr>
              <p:cNvPr id="5" name="Ink 4">
                <a:extLst>
                  <a:ext uri="{FF2B5EF4-FFF2-40B4-BE49-F238E27FC236}">
                    <a16:creationId xmlns:a16="http://schemas.microsoft.com/office/drawing/2014/main" id="{373D8E87-4B8C-4819-4D10-220B41396908}"/>
                  </a:ext>
                </a:extLst>
              </p:cNvPr>
              <p:cNvPicPr/>
              <p:nvPr/>
            </p:nvPicPr>
            <p:blipFill>
              <a:blip r:embed="rId6"/>
              <a:stretch>
                <a:fillRect/>
              </a:stretch>
            </p:blipFill>
            <p:spPr>
              <a:xfrm>
                <a:off x="2325890" y="297476"/>
                <a:ext cx="1844640" cy="611280"/>
              </a:xfrm>
              <a:prstGeom prst="rect">
                <a:avLst/>
              </a:prstGeom>
            </p:spPr>
          </p:pic>
        </mc:Fallback>
      </mc:AlternateContent>
    </p:spTree>
    <p:extLst>
      <p:ext uri="{BB962C8B-B14F-4D97-AF65-F5344CB8AC3E}">
        <p14:creationId xmlns:p14="http://schemas.microsoft.com/office/powerpoint/2010/main" val="414057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56032"/>
            <a:ext cx="9875520" cy="548640"/>
          </a:xfrm>
          <a:prstGeom prst="rect">
            <a:avLst/>
          </a:prstGeom>
          <a:noFill/>
          <a:ln/>
        </p:spPr>
        <p:txBody>
          <a:bodyPr wrap="square" lIns="0" tIns="0" rIns="0" bIns="0" rtlCol="0" anchor="ctr"/>
          <a:lstStyle/>
          <a:p>
            <a:pPr marL="0" indent="0">
              <a:buNone/>
            </a:pPr>
            <a:r>
              <a:rPr lang="en-US" sz="2400" b="1" dirty="0">
                <a:solidFill>
                  <a:srgbClr val="2E5AAC"/>
                </a:solidFill>
                <a:latin typeface="Calibri" pitchFamily="34" charset="0"/>
                <a:ea typeface="Calibri" pitchFamily="34" charset="-122"/>
                <a:cs typeface="Calibri" pitchFamily="34" charset="-120"/>
              </a:rPr>
              <a:t>Software Requirements</a:t>
            </a:r>
            <a:endParaRPr lang="en-US" sz="2400" dirty="0"/>
          </a:p>
        </p:txBody>
      </p:sp>
      <p:pic>
        <p:nvPicPr>
          <p:cNvPr id="3" name="Image 0" descr="/home/claude/edge_build/assets/klu_logo.png"/>
          <p:cNvPicPr>
            <a:picLocks noChangeAspect="1"/>
          </p:cNvPicPr>
          <p:nvPr/>
        </p:nvPicPr>
        <p:blipFill>
          <a:blip r:embed="rId3"/>
          <a:stretch>
            <a:fillRect/>
          </a:stretch>
        </p:blipFill>
        <p:spPr>
          <a:xfrm>
            <a:off x="10881360" y="256032"/>
            <a:ext cx="960120" cy="320040"/>
          </a:xfrm>
          <a:prstGeom prst="rect">
            <a:avLst/>
          </a:prstGeom>
        </p:spPr>
      </p:pic>
      <p:sp>
        <p:nvSpPr>
          <p:cNvPr id="4" name="Text 1"/>
          <p:cNvSpPr txBox="1"/>
          <p:nvPr/>
        </p:nvSpPr>
        <p:spPr>
          <a:xfrm>
            <a:off x="457200" y="6510528"/>
            <a:ext cx="86868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Evidence-Driven Game Engine (EDGE)  |  AI-Powered Cricket Intelligence Platform</a:t>
            </a:r>
            <a:endParaRPr lang="en-US" sz="900" dirty="0"/>
          </a:p>
        </p:txBody>
      </p:sp>
      <p:sp>
        <p:nvSpPr>
          <p:cNvPr id="5" name="Text 2"/>
          <p:cNvSpPr txBox="1"/>
          <p:nvPr/>
        </p:nvSpPr>
        <p:spPr>
          <a:xfrm>
            <a:off x="11612880" y="6510528"/>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11</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2529950195"/>
              </p:ext>
            </p:extLst>
          </p:nvPr>
        </p:nvGraphicFramePr>
        <p:xfrm>
          <a:off x="1828800" y="1013304"/>
          <a:ext cx="7315200" cy="5212075"/>
        </p:xfrm>
        <a:graphic>
          <a:graphicData uri="http://schemas.openxmlformats.org/drawingml/2006/table">
            <a:tbl>
              <a:tblPr/>
              <a:tblGrid>
                <a:gridCol w="27432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473825">
                <a:tc>
                  <a:txBody>
                    <a:bodyPr/>
                    <a:lstStyle/>
                    <a:p>
                      <a:pPr marL="0" indent="0" algn="ctr">
                        <a:buNone/>
                      </a:pPr>
                      <a:r>
                        <a:rPr lang="en-US" sz="1100" b="1" dirty="0">
                          <a:solidFill>
                            <a:srgbClr val="FFFFFF"/>
                          </a:solidFill>
                        </a:rPr>
                        <a:t>Software</a:t>
                      </a:r>
                      <a:endParaRPr lang="en-US" sz="11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marL="0" indent="0" algn="ctr">
                        <a:buNone/>
                      </a:pPr>
                      <a:r>
                        <a:rPr lang="en-US" sz="1100" b="1" dirty="0">
                          <a:solidFill>
                            <a:srgbClr val="FFFFFF"/>
                          </a:solidFill>
                        </a:rPr>
                        <a:t>Purpose</a:t>
                      </a:r>
                      <a:endParaRPr lang="en-US" sz="11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473825">
                <a:tc>
                  <a:txBody>
                    <a:bodyPr/>
                    <a:lstStyle/>
                    <a:p>
                      <a:pPr marL="0" indent="0">
                        <a:buNone/>
                      </a:pPr>
                      <a:r>
                        <a:rPr lang="en-US" sz="1050" dirty="0">
                          <a:solidFill>
                            <a:srgbClr val="222222"/>
                          </a:solidFill>
                        </a:rPr>
                        <a:t>Operating System</a:t>
                      </a:r>
                      <a:endParaRPr lang="en-US" sz="105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tc>
                  <a:txBody>
                    <a:bodyPr/>
                    <a:lstStyle/>
                    <a:p>
                      <a:pPr marL="0" indent="0">
                        <a:buNone/>
                      </a:pPr>
                      <a:r>
                        <a:rPr lang="en-US" sz="1050" dirty="0">
                          <a:solidFill>
                            <a:srgbClr val="222222"/>
                          </a:solidFill>
                        </a:rPr>
                        <a:t>Windows 10/11 or Linux</a:t>
                      </a:r>
                      <a:endParaRPr lang="en-US" sz="105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extLst>
                  <a:ext uri="{0D108BD9-81ED-4DB2-BD59-A6C34878D82A}">
                    <a16:rowId xmlns:a16="http://schemas.microsoft.com/office/drawing/2014/main" val="10001"/>
                  </a:ext>
                </a:extLst>
              </a:tr>
              <a:tr h="473825">
                <a:tc>
                  <a:txBody>
                    <a:bodyPr/>
                    <a:lstStyle/>
                    <a:p>
                      <a:pPr marL="0" indent="0">
                        <a:buNone/>
                      </a:pPr>
                      <a:r>
                        <a:rPr lang="en-US" sz="1050" dirty="0">
                          <a:solidFill>
                            <a:srgbClr val="222222"/>
                          </a:solidFill>
                        </a:rPr>
                        <a:t>Next.js / React</a:t>
                      </a:r>
                      <a:endParaRPr lang="en-US" sz="105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tc>
                  <a:txBody>
                    <a:bodyPr/>
                    <a:lstStyle/>
                    <a:p>
                      <a:pPr marL="0" indent="0">
                        <a:buNone/>
                      </a:pPr>
                      <a:r>
                        <a:rPr lang="en-US" sz="1050" dirty="0">
                          <a:solidFill>
                            <a:srgbClr val="222222"/>
                          </a:solidFill>
                        </a:rPr>
                        <a:t>Frontend and backend web application, server-side rendering</a:t>
                      </a:r>
                      <a:endParaRPr lang="en-US" sz="105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473825">
                <a:tc>
                  <a:txBody>
                    <a:bodyPr/>
                    <a:lstStyle/>
                    <a:p>
                      <a:pPr marL="0" indent="0">
                        <a:buNone/>
                      </a:pPr>
                      <a:r>
                        <a:rPr lang="en-US" sz="1050" dirty="0">
                          <a:solidFill>
                            <a:srgbClr val="222222"/>
                          </a:solidFill>
                        </a:rPr>
                        <a:t>Python 3.x</a:t>
                      </a:r>
                      <a:endParaRPr lang="en-US" sz="105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tc>
                  <a:txBody>
                    <a:bodyPr/>
                    <a:lstStyle/>
                    <a:p>
                      <a:pPr marL="0" indent="0">
                        <a:buNone/>
                      </a:pPr>
                      <a:r>
                        <a:rPr lang="en-US" sz="1050" dirty="0">
                          <a:solidFill>
                            <a:srgbClr val="222222"/>
                          </a:solidFill>
                        </a:rPr>
                        <a:t>ETL pipeline development and data processing</a:t>
                      </a:r>
                      <a:endParaRPr lang="en-US" sz="105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extLst>
                  <a:ext uri="{0D108BD9-81ED-4DB2-BD59-A6C34878D82A}">
                    <a16:rowId xmlns:a16="http://schemas.microsoft.com/office/drawing/2014/main" val="10003"/>
                  </a:ext>
                </a:extLst>
              </a:tr>
              <a:tr h="473825">
                <a:tc>
                  <a:txBody>
                    <a:bodyPr/>
                    <a:lstStyle/>
                    <a:p>
                      <a:pPr marL="0" indent="0">
                        <a:buNone/>
                      </a:pPr>
                      <a:r>
                        <a:rPr lang="en-US" sz="1050" dirty="0">
                          <a:solidFill>
                            <a:srgbClr val="222222"/>
                          </a:solidFill>
                        </a:rPr>
                        <a:t>RAPIDS / cuDF</a:t>
                      </a:r>
                      <a:endParaRPr lang="en-US" sz="105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tc>
                  <a:txBody>
                    <a:bodyPr/>
                    <a:lstStyle/>
                    <a:p>
                      <a:pPr marL="0" indent="0">
                        <a:buNone/>
                      </a:pPr>
                      <a:r>
                        <a:rPr lang="en-US" sz="1050" dirty="0">
                          <a:solidFill>
                            <a:srgbClr val="222222"/>
                          </a:solidFill>
                        </a:rPr>
                        <a:t>GPU-accelerated processing of large historical datasets</a:t>
                      </a:r>
                      <a:endParaRPr lang="en-US" sz="105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extLst>
                  <a:ext uri="{0D108BD9-81ED-4DB2-BD59-A6C34878D82A}">
                    <a16:rowId xmlns:a16="http://schemas.microsoft.com/office/drawing/2014/main" val="10004"/>
                  </a:ext>
                </a:extLst>
              </a:tr>
              <a:tr h="473825">
                <a:tc>
                  <a:txBody>
                    <a:bodyPr/>
                    <a:lstStyle/>
                    <a:p>
                      <a:pPr marL="0" indent="0">
                        <a:buNone/>
                      </a:pPr>
                      <a:r>
                        <a:rPr lang="en-US" sz="1050" dirty="0">
                          <a:solidFill>
                            <a:srgbClr val="222222"/>
                          </a:solidFill>
                        </a:rPr>
                        <a:t>PostgreSQL</a:t>
                      </a:r>
                      <a:endParaRPr lang="en-US" sz="105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tc>
                  <a:txBody>
                    <a:bodyPr/>
                    <a:lstStyle/>
                    <a:p>
                      <a:pPr marL="0" indent="0">
                        <a:buNone/>
                      </a:pPr>
                      <a:r>
                        <a:rPr lang="en-US" sz="1050" dirty="0">
                          <a:solidFill>
                            <a:srgbClr val="222222"/>
                          </a:solidFill>
                        </a:rPr>
                        <a:t>Structured, query-ready data storage</a:t>
                      </a:r>
                      <a:endParaRPr lang="en-US" sz="105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extLst>
                  <a:ext uri="{0D108BD9-81ED-4DB2-BD59-A6C34878D82A}">
                    <a16:rowId xmlns:a16="http://schemas.microsoft.com/office/drawing/2014/main" val="10005"/>
                  </a:ext>
                </a:extLst>
              </a:tr>
              <a:tr h="473825">
                <a:tc>
                  <a:txBody>
                    <a:bodyPr/>
                    <a:lstStyle/>
                    <a:p>
                      <a:pPr marL="0" indent="0">
                        <a:buNone/>
                      </a:pPr>
                      <a:r>
                        <a:rPr lang="en-US" sz="1050" dirty="0">
                          <a:solidFill>
                            <a:srgbClr val="222222"/>
                          </a:solidFill>
                        </a:rPr>
                        <a:t>Prisma ORM</a:t>
                      </a:r>
                      <a:endParaRPr lang="en-US" sz="105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tc>
                  <a:txBody>
                    <a:bodyPr/>
                    <a:lstStyle/>
                    <a:p>
                      <a:pPr marL="0" indent="0">
                        <a:buNone/>
                      </a:pPr>
                      <a:r>
                        <a:rPr lang="en-US" sz="1050" dirty="0">
                          <a:solidFill>
                            <a:srgbClr val="222222"/>
                          </a:solidFill>
                        </a:rPr>
                        <a:t>Type-safe schema and database queries</a:t>
                      </a:r>
                      <a:endParaRPr lang="en-US" sz="105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extLst>
                  <a:ext uri="{0D108BD9-81ED-4DB2-BD59-A6C34878D82A}">
                    <a16:rowId xmlns:a16="http://schemas.microsoft.com/office/drawing/2014/main" val="10006"/>
                  </a:ext>
                </a:extLst>
              </a:tr>
              <a:tr h="473825">
                <a:tc>
                  <a:txBody>
                    <a:bodyPr/>
                    <a:lstStyle/>
                    <a:p>
                      <a:pPr marL="0" indent="0">
                        <a:buNone/>
                      </a:pPr>
                      <a:r>
                        <a:rPr lang="en-US" sz="1050" dirty="0">
                          <a:solidFill>
                            <a:srgbClr val="222222"/>
                          </a:solidFill>
                        </a:rPr>
                        <a:t>Google Gemini / Anthropic Claude</a:t>
                      </a:r>
                      <a:endParaRPr lang="en-US" sz="105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tc>
                  <a:txBody>
                    <a:bodyPr/>
                    <a:lstStyle/>
                    <a:p>
                      <a:pPr marL="0" indent="0">
                        <a:buNone/>
                      </a:pPr>
                      <a:r>
                        <a:rPr lang="en-US" sz="1050" dirty="0">
                          <a:solidFill>
                            <a:srgbClr val="222222"/>
                          </a:solidFill>
                        </a:rPr>
                        <a:t>Generative AI reasoning for tactical recommendations</a:t>
                      </a:r>
                      <a:endParaRPr lang="en-US" sz="105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extLst>
                  <a:ext uri="{0D108BD9-81ED-4DB2-BD59-A6C34878D82A}">
                    <a16:rowId xmlns:a16="http://schemas.microsoft.com/office/drawing/2014/main" val="10007"/>
                  </a:ext>
                </a:extLst>
              </a:tr>
              <a:tr h="473825">
                <a:tc>
                  <a:txBody>
                    <a:bodyPr/>
                    <a:lstStyle/>
                    <a:p>
                      <a:pPr marL="0" indent="0">
                        <a:buNone/>
                      </a:pPr>
                      <a:r>
                        <a:rPr lang="en-US" sz="1050" dirty="0">
                          <a:solidFill>
                            <a:srgbClr val="222222"/>
                          </a:solidFill>
                        </a:rPr>
                        <a:t>CricAPI, RapidAPI</a:t>
                      </a:r>
                      <a:endParaRPr lang="en-US" sz="105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tc>
                  <a:txBody>
                    <a:bodyPr/>
                    <a:lstStyle/>
                    <a:p>
                      <a:pPr marL="0" indent="0">
                        <a:buNone/>
                      </a:pPr>
                      <a:r>
                        <a:rPr lang="en-US" sz="1050" dirty="0">
                          <a:solidFill>
                            <a:srgbClr val="222222"/>
                          </a:solidFill>
                        </a:rPr>
                        <a:t>Live match and score data feeds</a:t>
                      </a:r>
                      <a:endParaRPr lang="en-US" sz="105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extLst>
                  <a:ext uri="{0D108BD9-81ED-4DB2-BD59-A6C34878D82A}">
                    <a16:rowId xmlns:a16="http://schemas.microsoft.com/office/drawing/2014/main" val="10008"/>
                  </a:ext>
                </a:extLst>
              </a:tr>
              <a:tr h="473825">
                <a:tc>
                  <a:txBody>
                    <a:bodyPr/>
                    <a:lstStyle/>
                    <a:p>
                      <a:pPr marL="0" indent="0">
                        <a:buNone/>
                      </a:pPr>
                      <a:r>
                        <a:rPr lang="en-US" sz="1050" dirty="0">
                          <a:solidFill>
                            <a:srgbClr val="222222"/>
                          </a:solidFill>
                        </a:rPr>
                        <a:t>Node.js</a:t>
                      </a:r>
                      <a:endParaRPr lang="en-US" sz="105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tc>
                  <a:txBody>
                    <a:bodyPr/>
                    <a:lstStyle/>
                    <a:p>
                      <a:pPr marL="0" indent="0">
                        <a:buNone/>
                      </a:pPr>
                      <a:r>
                        <a:rPr lang="en-US" sz="1050" dirty="0">
                          <a:solidFill>
                            <a:srgbClr val="222222"/>
                          </a:solidFill>
                        </a:rPr>
                        <a:t>JavaScript runtime for the web application</a:t>
                      </a:r>
                      <a:endParaRPr lang="en-US" sz="105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extLst>
                  <a:ext uri="{0D108BD9-81ED-4DB2-BD59-A6C34878D82A}">
                    <a16:rowId xmlns:a16="http://schemas.microsoft.com/office/drawing/2014/main" val="10009"/>
                  </a:ext>
                </a:extLst>
              </a:tr>
              <a:tr h="473825">
                <a:tc>
                  <a:txBody>
                    <a:bodyPr/>
                    <a:lstStyle/>
                    <a:p>
                      <a:pPr marL="0" indent="0">
                        <a:buNone/>
                      </a:pPr>
                      <a:r>
                        <a:rPr lang="en-US" sz="1050" dirty="0">
                          <a:solidFill>
                            <a:srgbClr val="222222"/>
                          </a:solidFill>
                        </a:rPr>
                        <a:t>Git &amp; GitHub</a:t>
                      </a:r>
                      <a:endParaRPr lang="en-US" sz="105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tc>
                  <a:txBody>
                    <a:bodyPr/>
                    <a:lstStyle/>
                    <a:p>
                      <a:pPr marL="0" indent="0">
                        <a:buNone/>
                      </a:pPr>
                      <a:r>
                        <a:rPr lang="en-US" sz="1050" dirty="0">
                          <a:solidFill>
                            <a:srgbClr val="222222"/>
                          </a:solidFill>
                        </a:rPr>
                        <a:t>Version control and project management</a:t>
                      </a:r>
                      <a:endParaRPr lang="en-US" sz="105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extLst>
                  <a:ext uri="{0D108BD9-81ED-4DB2-BD59-A6C34878D82A}">
                    <a16:rowId xmlns:a16="http://schemas.microsoft.com/office/drawing/2014/main" val="10010"/>
                  </a:ext>
                </a:extLst>
              </a:tr>
            </a:tbl>
          </a:graphicData>
        </a:graphic>
      </p:graphicFrame>
      <p:pic>
        <p:nvPicPr>
          <p:cNvPr id="6" name="Picture 5">
            <a:extLst>
              <a:ext uri="{FF2B5EF4-FFF2-40B4-BE49-F238E27FC236}">
                <a16:creationId xmlns:a16="http://schemas.microsoft.com/office/drawing/2014/main" id="{D7B69C97-2366-3ACC-6E46-F052BF88C128}"/>
              </a:ext>
            </a:extLst>
          </p:cNvPr>
          <p:cNvPicPr>
            <a:picLocks noChangeAspect="1"/>
          </p:cNvPicPr>
          <p:nvPr/>
        </p:nvPicPr>
        <p:blipFill>
          <a:blip r:embed="rId3"/>
          <a:stretch>
            <a:fillRect/>
          </a:stretch>
        </p:blipFill>
        <p:spPr>
          <a:xfrm>
            <a:off x="10249380" y="0"/>
            <a:ext cx="1942620" cy="6225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56032"/>
            <a:ext cx="9875520" cy="548640"/>
          </a:xfrm>
          <a:prstGeom prst="rect">
            <a:avLst/>
          </a:prstGeom>
          <a:noFill/>
          <a:ln/>
        </p:spPr>
        <p:txBody>
          <a:bodyPr wrap="square" lIns="0" tIns="0" rIns="0" bIns="0" rtlCol="0" anchor="ctr"/>
          <a:lstStyle/>
          <a:p>
            <a:pPr marL="0" indent="0">
              <a:buNone/>
            </a:pPr>
            <a:r>
              <a:rPr lang="en-US" sz="2400" b="1" dirty="0">
                <a:solidFill>
                  <a:srgbClr val="2E5AAC"/>
                </a:solidFill>
                <a:latin typeface="Calibri" pitchFamily="34" charset="0"/>
                <a:ea typeface="Calibri" pitchFamily="34" charset="-122"/>
                <a:cs typeface="Calibri" pitchFamily="34" charset="-120"/>
              </a:rPr>
              <a:t>Hardware Requirements</a:t>
            </a:r>
            <a:endParaRPr lang="en-US" sz="2400" dirty="0"/>
          </a:p>
        </p:txBody>
      </p:sp>
      <p:pic>
        <p:nvPicPr>
          <p:cNvPr id="3" name="Image 0" descr="/home/claude/edge_build/assets/klu_logo.png"/>
          <p:cNvPicPr>
            <a:picLocks noChangeAspect="1"/>
          </p:cNvPicPr>
          <p:nvPr/>
        </p:nvPicPr>
        <p:blipFill>
          <a:blip r:embed="rId3"/>
          <a:stretch>
            <a:fillRect/>
          </a:stretch>
        </p:blipFill>
        <p:spPr>
          <a:xfrm>
            <a:off x="10881360" y="256032"/>
            <a:ext cx="960120" cy="320040"/>
          </a:xfrm>
          <a:prstGeom prst="rect">
            <a:avLst/>
          </a:prstGeom>
        </p:spPr>
      </p:pic>
      <p:sp>
        <p:nvSpPr>
          <p:cNvPr id="4" name="Text 1"/>
          <p:cNvSpPr txBox="1"/>
          <p:nvPr/>
        </p:nvSpPr>
        <p:spPr>
          <a:xfrm>
            <a:off x="457200" y="6510528"/>
            <a:ext cx="86868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Evidence-Driven Game Engine (EDGE)  |  AI-Powered Cricket Intelligence Platform</a:t>
            </a:r>
            <a:endParaRPr lang="en-US" sz="900" dirty="0"/>
          </a:p>
        </p:txBody>
      </p:sp>
      <p:sp>
        <p:nvSpPr>
          <p:cNvPr id="5" name="Text 2"/>
          <p:cNvSpPr txBox="1"/>
          <p:nvPr/>
        </p:nvSpPr>
        <p:spPr>
          <a:xfrm>
            <a:off x="11612880" y="6510528"/>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1737360" y="1280160"/>
          <a:ext cx="8686800" cy="4206237"/>
        </p:xfrm>
        <a:graphic>
          <a:graphicData uri="http://schemas.openxmlformats.org/drawingml/2006/table">
            <a:tbl>
              <a:tblPr/>
              <a:tblGrid>
                <a:gridCol w="32004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600891">
                <a:tc>
                  <a:txBody>
                    <a:bodyPr/>
                    <a:lstStyle/>
                    <a:p>
                      <a:pPr marL="0" indent="0" algn="ctr">
                        <a:buNone/>
                      </a:pPr>
                      <a:r>
                        <a:rPr lang="en-US" sz="1200" b="1" dirty="0">
                          <a:solidFill>
                            <a:srgbClr val="FFFFFF"/>
                          </a:solidFill>
                        </a:rPr>
                        <a:t>Component</a:t>
                      </a:r>
                      <a:endParaRPr lang="en-US" sz="12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marL="0" indent="0" algn="ctr">
                        <a:buNone/>
                      </a:pPr>
                      <a:r>
                        <a:rPr lang="en-US" sz="1200" b="1" dirty="0">
                          <a:solidFill>
                            <a:srgbClr val="FFFFFF"/>
                          </a:solidFill>
                        </a:rPr>
                        <a:t>Minimum Requirement</a:t>
                      </a:r>
                      <a:endParaRPr lang="en-US" sz="12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600891">
                <a:tc>
                  <a:txBody>
                    <a:bodyPr/>
                    <a:lstStyle/>
                    <a:p>
                      <a:pPr marL="0" indent="0">
                        <a:buNone/>
                      </a:pPr>
                      <a:r>
                        <a:rPr lang="en-US" sz="1200" dirty="0">
                          <a:solidFill>
                            <a:srgbClr val="222222"/>
                          </a:solidFill>
                        </a:rPr>
                        <a:t>Processor</a:t>
                      </a:r>
                      <a:endParaRPr lang="en-US" sz="12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tc>
                  <a:txBody>
                    <a:bodyPr/>
                    <a:lstStyle/>
                    <a:p>
                      <a:pPr marL="0" indent="0">
                        <a:buNone/>
                      </a:pPr>
                      <a:r>
                        <a:rPr lang="en-US" sz="1200" dirty="0">
                          <a:solidFill>
                            <a:srgbClr val="222222"/>
                          </a:solidFill>
                        </a:rPr>
                        <a:t>CUDA-compatible GPU-enabled server; multi-core CPU</a:t>
                      </a:r>
                      <a:endParaRPr lang="en-US" sz="12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extLst>
                  <a:ext uri="{0D108BD9-81ED-4DB2-BD59-A6C34878D82A}">
                    <a16:rowId xmlns:a16="http://schemas.microsoft.com/office/drawing/2014/main" val="10001"/>
                  </a:ext>
                </a:extLst>
              </a:tr>
              <a:tr h="600891">
                <a:tc>
                  <a:txBody>
                    <a:bodyPr/>
                    <a:lstStyle/>
                    <a:p>
                      <a:pPr marL="0" indent="0">
                        <a:buNone/>
                      </a:pPr>
                      <a:r>
                        <a:rPr lang="en-US" sz="1200" dirty="0">
                          <a:solidFill>
                            <a:srgbClr val="222222"/>
                          </a:solidFill>
                        </a:rPr>
                        <a:t>RAM</a:t>
                      </a:r>
                      <a:endParaRPr lang="en-US" sz="12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tc>
                  <a:txBody>
                    <a:bodyPr/>
                    <a:lstStyle/>
                    <a:p>
                      <a:pPr marL="0" indent="0">
                        <a:buNone/>
                      </a:pPr>
                      <a:r>
                        <a:rPr lang="en-US" sz="1200" dirty="0">
                          <a:solidFill>
                            <a:srgbClr val="222222"/>
                          </a:solidFill>
                        </a:rPr>
                        <a:t>16 GB recommended for ETL and database operations</a:t>
                      </a:r>
                      <a:endParaRPr lang="en-US" sz="12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600891">
                <a:tc>
                  <a:txBody>
                    <a:bodyPr/>
                    <a:lstStyle/>
                    <a:p>
                      <a:pPr marL="0" indent="0">
                        <a:buNone/>
                      </a:pPr>
                      <a:r>
                        <a:rPr lang="en-US" sz="1200" dirty="0">
                          <a:solidFill>
                            <a:srgbClr val="222222"/>
                          </a:solidFill>
                        </a:rPr>
                        <a:t>Storage</a:t>
                      </a:r>
                      <a:endParaRPr lang="en-US" sz="12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tc>
                  <a:txBody>
                    <a:bodyPr/>
                    <a:lstStyle/>
                    <a:p>
                      <a:pPr marL="0" indent="0">
                        <a:buNone/>
                      </a:pPr>
                      <a:r>
                        <a:rPr lang="en-US" sz="1200" dirty="0">
                          <a:solidFill>
                            <a:srgbClr val="222222"/>
                          </a:solidFill>
                        </a:rPr>
                        <a:t>SSD recommended for the data lake and database</a:t>
                      </a:r>
                      <a:endParaRPr lang="en-US" sz="12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extLst>
                  <a:ext uri="{0D108BD9-81ED-4DB2-BD59-A6C34878D82A}">
                    <a16:rowId xmlns:a16="http://schemas.microsoft.com/office/drawing/2014/main" val="10003"/>
                  </a:ext>
                </a:extLst>
              </a:tr>
              <a:tr h="600891">
                <a:tc>
                  <a:txBody>
                    <a:bodyPr/>
                    <a:lstStyle/>
                    <a:p>
                      <a:pPr marL="0" indent="0">
                        <a:buNone/>
                      </a:pPr>
                      <a:r>
                        <a:rPr lang="en-US" sz="1200" dirty="0">
                          <a:solidFill>
                            <a:srgbClr val="222222"/>
                          </a:solidFill>
                        </a:rPr>
                        <a:t>Internet</a:t>
                      </a:r>
                      <a:endParaRPr lang="en-US" sz="12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tc>
                  <a:txBody>
                    <a:bodyPr/>
                    <a:lstStyle/>
                    <a:p>
                      <a:pPr marL="0" indent="0">
                        <a:buNone/>
                      </a:pPr>
                      <a:r>
                        <a:rPr lang="en-US" sz="1200" dirty="0">
                          <a:solidFill>
                            <a:srgbClr val="222222"/>
                          </a:solidFill>
                        </a:rPr>
                        <a:t>Reliable broadband for CricAPI/RapidAPI feeds and AI model calls</a:t>
                      </a:r>
                      <a:endParaRPr lang="en-US" sz="12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extLst>
                  <a:ext uri="{0D108BD9-81ED-4DB2-BD59-A6C34878D82A}">
                    <a16:rowId xmlns:a16="http://schemas.microsoft.com/office/drawing/2014/main" val="10004"/>
                  </a:ext>
                </a:extLst>
              </a:tr>
              <a:tr h="600891">
                <a:tc>
                  <a:txBody>
                    <a:bodyPr/>
                    <a:lstStyle/>
                    <a:p>
                      <a:pPr marL="0" indent="0">
                        <a:buNone/>
                      </a:pPr>
                      <a:r>
                        <a:rPr lang="en-US" sz="1200" dirty="0">
                          <a:solidFill>
                            <a:srgbClr val="222222"/>
                          </a:solidFill>
                        </a:rPr>
                        <a:t>Display</a:t>
                      </a:r>
                      <a:endParaRPr lang="en-US" sz="12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tc>
                  <a:txBody>
                    <a:bodyPr/>
                    <a:lstStyle/>
                    <a:p>
                      <a:pPr marL="0" indent="0">
                        <a:buNone/>
                      </a:pPr>
                      <a:r>
                        <a:rPr lang="en-US" sz="1200" dirty="0">
                          <a:solidFill>
                            <a:srgbClr val="222222"/>
                          </a:solidFill>
                        </a:rPr>
                        <a:t>Any modern device / standard display — client is browser-based</a:t>
                      </a:r>
                      <a:endParaRPr lang="en-US" sz="12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extLst>
                  <a:ext uri="{0D108BD9-81ED-4DB2-BD59-A6C34878D82A}">
                    <a16:rowId xmlns:a16="http://schemas.microsoft.com/office/drawing/2014/main" val="10005"/>
                  </a:ext>
                </a:extLst>
              </a:tr>
              <a:tr h="600891">
                <a:tc>
                  <a:txBody>
                    <a:bodyPr/>
                    <a:lstStyle/>
                    <a:p>
                      <a:pPr marL="0" indent="0">
                        <a:buNone/>
                      </a:pPr>
                      <a:r>
                        <a:rPr lang="en-US" sz="1200" dirty="0">
                          <a:solidFill>
                            <a:srgbClr val="222222"/>
                          </a:solidFill>
                        </a:rPr>
                        <a:t>Server-side compute</a:t>
                      </a:r>
                      <a:endParaRPr lang="en-US" sz="12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tc>
                  <a:txBody>
                    <a:bodyPr/>
                    <a:lstStyle/>
                    <a:p>
                      <a:pPr marL="0" indent="0">
                        <a:buNone/>
                      </a:pPr>
                      <a:r>
                        <a:rPr lang="en-US" sz="1200" dirty="0">
                          <a:solidFill>
                            <a:srgbClr val="222222"/>
                          </a:solidFill>
                        </a:rPr>
                        <a:t>GPU acceleration (RAPIDS/cuDF) for large historical datasets</a:t>
                      </a:r>
                      <a:endParaRPr lang="en-US" sz="12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5FA"/>
                    </a:solidFill>
                  </a:tcPr>
                </a:tc>
                <a:extLst>
                  <a:ext uri="{0D108BD9-81ED-4DB2-BD59-A6C34878D82A}">
                    <a16:rowId xmlns:a16="http://schemas.microsoft.com/office/drawing/2014/main" val="10006"/>
                  </a:ext>
                </a:extLst>
              </a:tr>
            </a:tbl>
          </a:graphicData>
        </a:graphic>
      </p:graphicFrame>
      <p:pic>
        <p:nvPicPr>
          <p:cNvPr id="6" name="Picture 5">
            <a:extLst>
              <a:ext uri="{FF2B5EF4-FFF2-40B4-BE49-F238E27FC236}">
                <a16:creationId xmlns:a16="http://schemas.microsoft.com/office/drawing/2014/main" id="{36FDEFD2-413B-6837-EA2E-CAA832A493BB}"/>
              </a:ext>
            </a:extLst>
          </p:cNvPr>
          <p:cNvPicPr>
            <a:picLocks noChangeAspect="1"/>
          </p:cNvPicPr>
          <p:nvPr/>
        </p:nvPicPr>
        <p:blipFill>
          <a:blip r:embed="rId3"/>
          <a:stretch>
            <a:fillRect/>
          </a:stretch>
        </p:blipFill>
        <p:spPr>
          <a:xfrm>
            <a:off x="10249380" y="0"/>
            <a:ext cx="1942620" cy="6225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3" name="Image 0" descr="/home/claude/edge_build/assets/klu_logo.png"/>
          <p:cNvPicPr>
            <a:picLocks noChangeAspect="1"/>
          </p:cNvPicPr>
          <p:nvPr/>
        </p:nvPicPr>
        <p:blipFill>
          <a:blip r:embed="rId3"/>
          <a:stretch>
            <a:fillRect/>
          </a:stretch>
        </p:blipFill>
        <p:spPr>
          <a:xfrm>
            <a:off x="10881360" y="256032"/>
            <a:ext cx="960120" cy="320040"/>
          </a:xfrm>
          <a:prstGeom prst="rect">
            <a:avLst/>
          </a:prstGeom>
        </p:spPr>
      </p:pic>
      <p:sp>
        <p:nvSpPr>
          <p:cNvPr id="4" name="Text 1"/>
          <p:cNvSpPr txBox="1"/>
          <p:nvPr/>
        </p:nvSpPr>
        <p:spPr>
          <a:xfrm>
            <a:off x="457200" y="6510528"/>
            <a:ext cx="86868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Evidence-Driven Game Engine (EDGE)  |  AI-Powered Cricket Intelligence Platform</a:t>
            </a:r>
            <a:endParaRPr lang="en-US" sz="900" dirty="0"/>
          </a:p>
        </p:txBody>
      </p:sp>
      <p:sp>
        <p:nvSpPr>
          <p:cNvPr id="5" name="Text 2"/>
          <p:cNvSpPr txBox="1"/>
          <p:nvPr/>
        </p:nvSpPr>
        <p:spPr>
          <a:xfrm>
            <a:off x="11612880" y="6510528"/>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13</a:t>
            </a:r>
            <a:endParaRPr lang="en-US" sz="900" dirty="0"/>
          </a:p>
        </p:txBody>
      </p:sp>
      <p:sp>
        <p:nvSpPr>
          <p:cNvPr id="6" name="Text 3"/>
          <p:cNvSpPr txBox="1"/>
          <p:nvPr/>
        </p:nvSpPr>
        <p:spPr>
          <a:xfrm>
            <a:off x="350520" y="683374"/>
            <a:ext cx="5486400" cy="5212080"/>
          </a:xfrm>
          <a:prstGeom prst="rect">
            <a:avLst/>
          </a:prstGeom>
          <a:noFill/>
          <a:ln/>
        </p:spPr>
        <p:txBody>
          <a:bodyPr wrap="square" lIns="0" tIns="0" rIns="0" bIns="0" rtlCol="0" anchor="t"/>
          <a:lstStyle/>
          <a:p>
            <a:pPr>
              <a:lnSpc>
                <a:spcPct val="108000"/>
              </a:lnSpc>
              <a:spcAft>
                <a:spcPts val="800"/>
              </a:spcAft>
              <a:buSzPct val="100000"/>
            </a:pPr>
            <a:r>
              <a:rPr lang="en-US" sz="2000" b="1" dirty="0">
                <a:solidFill>
                  <a:srgbClr val="2E5AAC"/>
                </a:solidFill>
                <a:latin typeface="Calibri" pitchFamily="34" charset="0"/>
                <a:ea typeface="Calibri" pitchFamily="34" charset="-122"/>
                <a:cs typeface="Calibri" pitchFamily="34" charset="-120"/>
              </a:rPr>
              <a:t>Functional Requirements</a:t>
            </a:r>
            <a:endParaRPr lang="en-US" sz="2000" dirty="0"/>
          </a:p>
          <a:p>
            <a:pPr>
              <a:lnSpc>
                <a:spcPct val="108000"/>
              </a:lnSpc>
              <a:spcAft>
                <a:spcPts val="800"/>
              </a:spcAft>
              <a:buSzPct val="100000"/>
            </a:pPr>
            <a:endParaRPr lang="en-US" dirty="0">
              <a:solidFill>
                <a:srgbClr val="222222"/>
              </a:solidFill>
              <a:latin typeface="Calibri" pitchFamily="34" charset="0"/>
              <a:ea typeface="Calibri" pitchFamily="34" charset="-122"/>
              <a:cs typeface="Calibri" pitchFamily="34" charset="-120"/>
            </a:endParaRPr>
          </a:p>
          <a:p>
            <a:pPr marL="342900" indent="-342900">
              <a:lnSpc>
                <a:spcPct val="108000"/>
              </a:lnSpc>
              <a:spcAft>
                <a:spcPts val="800"/>
              </a:spcAft>
              <a:buSzPct val="100000"/>
              <a:buChar char="•"/>
            </a:pPr>
            <a:r>
              <a:rPr lang="en-US" dirty="0">
                <a:solidFill>
                  <a:srgbClr val="222222"/>
                </a:solidFill>
                <a:latin typeface="Calibri" pitchFamily="34" charset="0"/>
                <a:ea typeface="Calibri" pitchFamily="34" charset="-122"/>
                <a:cs typeface="Calibri" pitchFamily="34" charset="-120"/>
              </a:rPr>
              <a:t>Ingest and process Cricsheet, CricAPI and RapidAPI data through the ETL pipeline into PostgreSQL and the Data Lake.</a:t>
            </a:r>
            <a:endParaRPr lang="en-US" dirty="0"/>
          </a:p>
          <a:p>
            <a:pPr marL="342900" indent="-342900">
              <a:lnSpc>
                <a:spcPct val="108000"/>
              </a:lnSpc>
              <a:spcAft>
                <a:spcPts val="800"/>
              </a:spcAft>
              <a:buSzPct val="100000"/>
              <a:buChar char="•"/>
            </a:pPr>
            <a:r>
              <a:rPr lang="en-US" dirty="0">
                <a:solidFill>
                  <a:srgbClr val="222222"/>
                </a:solidFill>
                <a:latin typeface="Calibri" pitchFamily="34" charset="0"/>
                <a:ea typeface="Calibri" pitchFamily="34" charset="-122"/>
                <a:cs typeface="Calibri" pitchFamily="34" charset="-120"/>
              </a:rPr>
              <a:t>Clean, standardize, and validate raw ball-by-ball records before storage.</a:t>
            </a:r>
            <a:endParaRPr lang="en-US" dirty="0"/>
          </a:p>
          <a:p>
            <a:pPr marL="342900" indent="-342900">
              <a:lnSpc>
                <a:spcPct val="108000"/>
              </a:lnSpc>
              <a:spcAft>
                <a:spcPts val="800"/>
              </a:spcAft>
              <a:buSzPct val="100000"/>
              <a:buChar char="•"/>
            </a:pPr>
            <a:r>
              <a:rPr lang="en-US" dirty="0">
                <a:solidFill>
                  <a:srgbClr val="222222"/>
                </a:solidFill>
                <a:latin typeface="Calibri" pitchFamily="34" charset="0"/>
                <a:ea typeface="Calibri" pitchFamily="34" charset="-122"/>
                <a:cs typeface="Calibri" pitchFamily="34" charset="-120"/>
              </a:rPr>
              <a:t>Generate AI-based tactical recommendations from the current match state.</a:t>
            </a:r>
            <a:endParaRPr lang="en-US" dirty="0"/>
          </a:p>
          <a:p>
            <a:pPr marL="342900" indent="-342900">
              <a:lnSpc>
                <a:spcPct val="108000"/>
              </a:lnSpc>
              <a:spcAft>
                <a:spcPts val="800"/>
              </a:spcAft>
              <a:buSzPct val="100000"/>
              <a:buChar char="•"/>
            </a:pPr>
            <a:r>
              <a:rPr lang="en-US" dirty="0">
                <a:solidFill>
                  <a:srgbClr val="222222"/>
                </a:solidFill>
                <a:latin typeface="Calibri" pitchFamily="34" charset="0"/>
                <a:ea typeface="Calibri" pitchFamily="34" charset="-122"/>
                <a:cs typeface="Calibri" pitchFamily="34" charset="-120"/>
              </a:rPr>
              <a:t>Display live scores, ICC Rankings, IPL Franchise Intelligence and win-probability through the Live Match Centre.</a:t>
            </a:r>
            <a:endParaRPr lang="en-US" dirty="0"/>
          </a:p>
          <a:p>
            <a:pPr marL="342900" indent="-342900">
              <a:lnSpc>
                <a:spcPct val="108000"/>
              </a:lnSpc>
              <a:spcAft>
                <a:spcPts val="800"/>
              </a:spcAft>
              <a:buSzPct val="100000"/>
              <a:buChar char="•"/>
            </a:pPr>
            <a:r>
              <a:rPr lang="en-US" dirty="0">
                <a:solidFill>
                  <a:srgbClr val="222222"/>
                </a:solidFill>
                <a:latin typeface="Calibri" pitchFamily="34" charset="0"/>
                <a:ea typeface="Calibri" pitchFamily="34" charset="-122"/>
                <a:cs typeface="Calibri" pitchFamily="34" charset="-120"/>
              </a:rPr>
              <a:t>Provide AI-generated player biographies and leaderboard visualizations.</a:t>
            </a:r>
            <a:endParaRPr lang="en-US" dirty="0"/>
          </a:p>
          <a:p>
            <a:pPr marL="342900" indent="-342900">
              <a:lnSpc>
                <a:spcPct val="108000"/>
              </a:lnSpc>
              <a:spcAft>
                <a:spcPts val="800"/>
              </a:spcAft>
              <a:buSzPct val="100000"/>
              <a:buChar char="•"/>
            </a:pPr>
            <a:r>
              <a:rPr lang="en-US" dirty="0">
                <a:solidFill>
                  <a:srgbClr val="222222"/>
                </a:solidFill>
                <a:latin typeface="Calibri" pitchFamily="34" charset="0"/>
                <a:ea typeface="Calibri" pitchFamily="34" charset="-122"/>
                <a:cs typeface="Calibri" pitchFamily="34" charset="-120"/>
              </a:rPr>
              <a:t>Support new seasons, formats, and leagues being added without manual rework.</a:t>
            </a:r>
            <a:endParaRPr lang="en-US" dirty="0"/>
          </a:p>
        </p:txBody>
      </p:sp>
      <p:sp>
        <p:nvSpPr>
          <p:cNvPr id="7" name="Text 4"/>
          <p:cNvSpPr txBox="1"/>
          <p:nvPr/>
        </p:nvSpPr>
        <p:spPr>
          <a:xfrm>
            <a:off x="6096000" y="683374"/>
            <a:ext cx="5486400" cy="5212080"/>
          </a:xfrm>
          <a:prstGeom prst="rect">
            <a:avLst/>
          </a:prstGeom>
          <a:noFill/>
          <a:ln/>
        </p:spPr>
        <p:txBody>
          <a:bodyPr wrap="square" lIns="0" tIns="0" rIns="0" bIns="0" rtlCol="0" anchor="t"/>
          <a:lstStyle/>
          <a:p>
            <a:pPr marL="0" indent="0">
              <a:lnSpc>
                <a:spcPct val="108000"/>
              </a:lnSpc>
              <a:spcAft>
                <a:spcPts val="800"/>
              </a:spcAft>
              <a:buNone/>
            </a:pPr>
            <a:r>
              <a:rPr lang="en-US" b="1" dirty="0">
                <a:solidFill>
                  <a:srgbClr val="2E5AAC"/>
                </a:solidFill>
                <a:latin typeface="Calibri" pitchFamily="34" charset="0"/>
                <a:ea typeface="Calibri" pitchFamily="34" charset="-122"/>
                <a:cs typeface="Calibri" pitchFamily="34" charset="-120"/>
              </a:rPr>
              <a:t>Non-Functional Requirements</a:t>
            </a:r>
          </a:p>
          <a:p>
            <a:pPr marL="0" indent="0">
              <a:lnSpc>
                <a:spcPct val="108000"/>
              </a:lnSpc>
              <a:spcAft>
                <a:spcPts val="800"/>
              </a:spcAft>
              <a:buNone/>
            </a:pPr>
            <a:endParaRPr lang="en-US" dirty="0"/>
          </a:p>
          <a:p>
            <a:pPr marL="342900" indent="-342900">
              <a:lnSpc>
                <a:spcPct val="108000"/>
              </a:lnSpc>
              <a:spcAft>
                <a:spcPts val="800"/>
              </a:spcAft>
              <a:buSzPct val="100000"/>
              <a:buChar char="•"/>
            </a:pPr>
            <a:r>
              <a:rPr lang="en-US" dirty="0">
                <a:solidFill>
                  <a:srgbClr val="222222"/>
                </a:solidFill>
                <a:latin typeface="Calibri" pitchFamily="34" charset="0"/>
                <a:ea typeface="Calibri" pitchFamily="34" charset="-122"/>
                <a:cs typeface="Calibri" pitchFamily="34" charset="-120"/>
              </a:rPr>
              <a:t>Performance: return live updates and AI recommendations with low latency during active matches.</a:t>
            </a:r>
            <a:endParaRPr lang="en-US" dirty="0"/>
          </a:p>
          <a:p>
            <a:pPr marL="342900" indent="-342900">
              <a:lnSpc>
                <a:spcPct val="108000"/>
              </a:lnSpc>
              <a:spcAft>
                <a:spcPts val="800"/>
              </a:spcAft>
              <a:buSzPct val="100000"/>
              <a:buChar char="•"/>
            </a:pPr>
            <a:r>
              <a:rPr lang="en-US" dirty="0">
                <a:solidFill>
                  <a:srgbClr val="222222"/>
                </a:solidFill>
                <a:latin typeface="Calibri" pitchFamily="34" charset="0"/>
                <a:ea typeface="Calibri" pitchFamily="34" charset="-122"/>
                <a:cs typeface="Calibri" pitchFamily="34" charset="-120"/>
              </a:rPr>
              <a:t>Scalability: handle 800K+ historical deliveries and growing live traffic without degradation.</a:t>
            </a:r>
            <a:endParaRPr lang="en-US" dirty="0"/>
          </a:p>
          <a:p>
            <a:pPr marL="342900" indent="-342900">
              <a:lnSpc>
                <a:spcPct val="108000"/>
              </a:lnSpc>
              <a:spcAft>
                <a:spcPts val="800"/>
              </a:spcAft>
              <a:buSzPct val="100000"/>
              <a:buChar char="•"/>
            </a:pPr>
            <a:r>
              <a:rPr lang="en-US" dirty="0">
                <a:solidFill>
                  <a:srgbClr val="222222"/>
                </a:solidFill>
                <a:latin typeface="Calibri" pitchFamily="34" charset="0"/>
                <a:ea typeface="Calibri" pitchFamily="34" charset="-122"/>
                <a:cs typeface="Calibri" pitchFamily="34" charset="-120"/>
              </a:rPr>
              <a:t>Reliability: validation and error handling keep the pipeline stable as new sources are added.</a:t>
            </a:r>
            <a:endParaRPr lang="en-US" dirty="0"/>
          </a:p>
          <a:p>
            <a:pPr marL="342900" indent="-342900">
              <a:lnSpc>
                <a:spcPct val="108000"/>
              </a:lnSpc>
              <a:spcAft>
                <a:spcPts val="800"/>
              </a:spcAft>
              <a:buSzPct val="100000"/>
              <a:buChar char="•"/>
            </a:pPr>
            <a:r>
              <a:rPr lang="en-US" dirty="0">
                <a:solidFill>
                  <a:srgbClr val="222222"/>
                </a:solidFill>
                <a:latin typeface="Calibri" pitchFamily="34" charset="0"/>
                <a:ea typeface="Calibri" pitchFamily="34" charset="-122"/>
                <a:cs typeface="Calibri" pitchFamily="34" charset="-120"/>
              </a:rPr>
              <a:t>Maintainability: modular, repeatable pipeline and component structure.</a:t>
            </a:r>
            <a:endParaRPr lang="en-US" dirty="0"/>
          </a:p>
          <a:p>
            <a:pPr marL="342900" indent="-342900">
              <a:lnSpc>
                <a:spcPct val="108000"/>
              </a:lnSpc>
              <a:spcAft>
                <a:spcPts val="800"/>
              </a:spcAft>
              <a:buSzPct val="100000"/>
              <a:buChar char="•"/>
            </a:pPr>
            <a:r>
              <a:rPr lang="en-US" dirty="0">
                <a:solidFill>
                  <a:srgbClr val="222222"/>
                </a:solidFill>
                <a:latin typeface="Calibri" pitchFamily="34" charset="0"/>
                <a:ea typeface="Calibri" pitchFamily="34" charset="-122"/>
                <a:cs typeface="Calibri" pitchFamily="34" charset="-120"/>
              </a:rPr>
              <a:t>Usability: interface stays usable without cricket or data-science expertise.</a:t>
            </a:r>
            <a:endParaRPr lang="en-US" dirty="0"/>
          </a:p>
          <a:p>
            <a:pPr marL="342900" indent="-342900">
              <a:lnSpc>
                <a:spcPct val="108000"/>
              </a:lnSpc>
              <a:spcAft>
                <a:spcPts val="800"/>
              </a:spcAft>
              <a:buSzPct val="100000"/>
              <a:buChar char="•"/>
            </a:pPr>
            <a:r>
              <a:rPr lang="en-US" dirty="0">
                <a:solidFill>
                  <a:srgbClr val="222222"/>
                </a:solidFill>
                <a:latin typeface="Calibri" pitchFamily="34" charset="0"/>
                <a:ea typeface="Calibri" pitchFamily="34" charset="-122"/>
                <a:cs typeface="Calibri" pitchFamily="34" charset="-120"/>
              </a:rPr>
              <a:t>Availability: processed information accessible whenever required.</a:t>
            </a:r>
            <a:endParaRPr lang="en-US" dirty="0"/>
          </a:p>
        </p:txBody>
      </p:sp>
      <p:pic>
        <p:nvPicPr>
          <p:cNvPr id="8" name="Picture 7">
            <a:extLst>
              <a:ext uri="{FF2B5EF4-FFF2-40B4-BE49-F238E27FC236}">
                <a16:creationId xmlns:a16="http://schemas.microsoft.com/office/drawing/2014/main" id="{A8324BB9-4418-98ED-83D3-510A11A4886B}"/>
              </a:ext>
            </a:extLst>
          </p:cNvPr>
          <p:cNvPicPr>
            <a:picLocks noChangeAspect="1"/>
          </p:cNvPicPr>
          <p:nvPr/>
        </p:nvPicPr>
        <p:blipFill>
          <a:blip r:embed="rId3"/>
          <a:stretch>
            <a:fillRect/>
          </a:stretch>
        </p:blipFill>
        <p:spPr>
          <a:xfrm>
            <a:off x="10249380" y="0"/>
            <a:ext cx="1942620" cy="6225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56032"/>
            <a:ext cx="9875520" cy="548640"/>
          </a:xfrm>
          <a:prstGeom prst="rect">
            <a:avLst/>
          </a:prstGeom>
          <a:noFill/>
          <a:ln/>
        </p:spPr>
        <p:txBody>
          <a:bodyPr wrap="square" lIns="0" tIns="0" rIns="0" bIns="0" rtlCol="0" anchor="ctr"/>
          <a:lstStyle/>
          <a:p>
            <a:pPr marL="0" indent="0">
              <a:buNone/>
            </a:pPr>
            <a:r>
              <a:rPr lang="en-US" sz="2400" b="1" dirty="0">
                <a:solidFill>
                  <a:srgbClr val="2E5AAC"/>
                </a:solidFill>
                <a:latin typeface="Calibri" pitchFamily="34" charset="0"/>
                <a:ea typeface="Calibri" pitchFamily="34" charset="-122"/>
                <a:cs typeface="Calibri" pitchFamily="34" charset="-120"/>
              </a:rPr>
              <a:t>Design – UML Diagram</a:t>
            </a:r>
            <a:endParaRPr lang="en-US" sz="2400" dirty="0"/>
          </a:p>
        </p:txBody>
      </p:sp>
      <p:pic>
        <p:nvPicPr>
          <p:cNvPr id="3" name="Image 0" descr="/home/claude/edge_build/assets/klu_logo.png"/>
          <p:cNvPicPr>
            <a:picLocks noChangeAspect="1"/>
          </p:cNvPicPr>
          <p:nvPr/>
        </p:nvPicPr>
        <p:blipFill>
          <a:blip r:embed="rId3"/>
          <a:stretch>
            <a:fillRect/>
          </a:stretch>
        </p:blipFill>
        <p:spPr>
          <a:xfrm>
            <a:off x="10881360" y="256032"/>
            <a:ext cx="960120" cy="320040"/>
          </a:xfrm>
          <a:prstGeom prst="rect">
            <a:avLst/>
          </a:prstGeom>
        </p:spPr>
      </p:pic>
      <p:sp>
        <p:nvSpPr>
          <p:cNvPr id="4" name="Text 1"/>
          <p:cNvSpPr txBox="1"/>
          <p:nvPr/>
        </p:nvSpPr>
        <p:spPr>
          <a:xfrm>
            <a:off x="457200" y="6510528"/>
            <a:ext cx="86868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Evidence-Driven Game Engine (EDGE)  |  AI-Powered Cricket Intelligence Platform</a:t>
            </a:r>
            <a:endParaRPr lang="en-US" sz="900" dirty="0"/>
          </a:p>
        </p:txBody>
      </p:sp>
      <p:sp>
        <p:nvSpPr>
          <p:cNvPr id="5" name="Text 2"/>
          <p:cNvSpPr txBox="1"/>
          <p:nvPr/>
        </p:nvSpPr>
        <p:spPr>
          <a:xfrm>
            <a:off x="11612880" y="6510528"/>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14</a:t>
            </a:r>
            <a:endParaRPr lang="en-US" sz="900" dirty="0"/>
          </a:p>
        </p:txBody>
      </p:sp>
      <p:pic>
        <p:nvPicPr>
          <p:cNvPr id="6" name="Image 1" descr="/home/claude/edge_build/assets/uml.png"/>
          <p:cNvPicPr>
            <a:picLocks noChangeAspect="1"/>
          </p:cNvPicPr>
          <p:nvPr/>
        </p:nvPicPr>
        <p:blipFill>
          <a:blip r:embed="rId4"/>
          <a:srcRect/>
          <a:stretch/>
        </p:blipFill>
        <p:spPr>
          <a:xfrm>
            <a:off x="1828800" y="914400"/>
            <a:ext cx="8503920" cy="5577840"/>
          </a:xfrm>
          <a:prstGeom prst="rect">
            <a:avLst/>
          </a:prstGeom>
        </p:spPr>
      </p:pic>
      <p:pic>
        <p:nvPicPr>
          <p:cNvPr id="7" name="Picture 6">
            <a:extLst>
              <a:ext uri="{FF2B5EF4-FFF2-40B4-BE49-F238E27FC236}">
                <a16:creationId xmlns:a16="http://schemas.microsoft.com/office/drawing/2014/main" id="{E305F445-4BDA-ABA6-2D9C-5237A3352F78}"/>
              </a:ext>
            </a:extLst>
          </p:cNvPr>
          <p:cNvPicPr>
            <a:picLocks noChangeAspect="1"/>
          </p:cNvPicPr>
          <p:nvPr/>
        </p:nvPicPr>
        <p:blipFill>
          <a:blip r:embed="rId3"/>
          <a:stretch>
            <a:fillRect/>
          </a:stretch>
        </p:blipFill>
        <p:spPr>
          <a:xfrm>
            <a:off x="10249380" y="0"/>
            <a:ext cx="1942620" cy="6225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56032"/>
            <a:ext cx="9875520" cy="548640"/>
          </a:xfrm>
          <a:prstGeom prst="rect">
            <a:avLst/>
          </a:prstGeom>
          <a:noFill/>
          <a:ln/>
        </p:spPr>
        <p:txBody>
          <a:bodyPr wrap="square" lIns="0" tIns="0" rIns="0" bIns="0" rtlCol="0" anchor="ctr"/>
          <a:lstStyle/>
          <a:p>
            <a:pPr marL="0" indent="0">
              <a:buNone/>
            </a:pPr>
            <a:r>
              <a:rPr lang="en-US" sz="2400" b="1" dirty="0">
                <a:solidFill>
                  <a:srgbClr val="2E5AAC"/>
                </a:solidFill>
                <a:latin typeface="Calibri" pitchFamily="34" charset="0"/>
                <a:ea typeface="Calibri" pitchFamily="34" charset="-122"/>
                <a:cs typeface="Calibri" pitchFamily="34" charset="-120"/>
              </a:rPr>
              <a:t>Implementation</a:t>
            </a:r>
            <a:endParaRPr lang="en-US" sz="2400" dirty="0"/>
          </a:p>
        </p:txBody>
      </p:sp>
      <p:pic>
        <p:nvPicPr>
          <p:cNvPr id="3" name="Image 0" descr="/home/claude/edge_build/assets/klu_logo.png"/>
          <p:cNvPicPr>
            <a:picLocks noChangeAspect="1"/>
          </p:cNvPicPr>
          <p:nvPr/>
        </p:nvPicPr>
        <p:blipFill>
          <a:blip r:embed="rId3"/>
          <a:stretch>
            <a:fillRect/>
          </a:stretch>
        </p:blipFill>
        <p:spPr>
          <a:xfrm>
            <a:off x="10881360" y="256032"/>
            <a:ext cx="960120" cy="320040"/>
          </a:xfrm>
          <a:prstGeom prst="rect">
            <a:avLst/>
          </a:prstGeom>
        </p:spPr>
      </p:pic>
      <p:sp>
        <p:nvSpPr>
          <p:cNvPr id="4" name="Text 1"/>
          <p:cNvSpPr txBox="1"/>
          <p:nvPr/>
        </p:nvSpPr>
        <p:spPr>
          <a:xfrm>
            <a:off x="457200" y="6510528"/>
            <a:ext cx="86868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Evidence-Driven Game Engine (EDGE)  |  AI-Powered Cricket Intelligence Platform</a:t>
            </a:r>
            <a:endParaRPr lang="en-US" sz="900" dirty="0"/>
          </a:p>
        </p:txBody>
      </p:sp>
      <p:sp>
        <p:nvSpPr>
          <p:cNvPr id="5" name="Text 2"/>
          <p:cNvSpPr txBox="1"/>
          <p:nvPr/>
        </p:nvSpPr>
        <p:spPr>
          <a:xfrm>
            <a:off x="11612880" y="6510528"/>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15</a:t>
            </a:r>
            <a:endParaRPr lang="en-US" sz="900" dirty="0"/>
          </a:p>
        </p:txBody>
      </p:sp>
      <p:pic>
        <p:nvPicPr>
          <p:cNvPr id="6" name="Image 1" descr="/home/claude/edge_build/assets/implementation.png"/>
          <p:cNvPicPr>
            <a:picLocks noChangeAspect="1"/>
          </p:cNvPicPr>
          <p:nvPr/>
        </p:nvPicPr>
        <p:blipFill>
          <a:blip r:embed="rId4"/>
          <a:srcRect/>
          <a:stretch/>
        </p:blipFill>
        <p:spPr>
          <a:xfrm>
            <a:off x="457200" y="1005840"/>
            <a:ext cx="11247120" cy="5257800"/>
          </a:xfrm>
          <a:prstGeom prst="rect">
            <a:avLst/>
          </a:prstGeom>
        </p:spPr>
      </p:pic>
      <p:pic>
        <p:nvPicPr>
          <p:cNvPr id="7" name="Picture 6">
            <a:extLst>
              <a:ext uri="{FF2B5EF4-FFF2-40B4-BE49-F238E27FC236}">
                <a16:creationId xmlns:a16="http://schemas.microsoft.com/office/drawing/2014/main" id="{4B2CF4F1-1C56-B3F8-4564-5C2FA5C6424B}"/>
              </a:ext>
            </a:extLst>
          </p:cNvPr>
          <p:cNvPicPr>
            <a:picLocks noChangeAspect="1"/>
          </p:cNvPicPr>
          <p:nvPr/>
        </p:nvPicPr>
        <p:blipFill>
          <a:blip r:embed="rId3"/>
          <a:stretch>
            <a:fillRect/>
          </a:stretch>
        </p:blipFill>
        <p:spPr>
          <a:xfrm>
            <a:off x="10249380" y="0"/>
            <a:ext cx="1942620" cy="6225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56032"/>
            <a:ext cx="9875520" cy="548640"/>
          </a:xfrm>
          <a:prstGeom prst="rect">
            <a:avLst/>
          </a:prstGeom>
          <a:noFill/>
          <a:ln/>
        </p:spPr>
        <p:txBody>
          <a:bodyPr wrap="square" lIns="0" tIns="0" rIns="0" bIns="0" rtlCol="0" anchor="ctr"/>
          <a:lstStyle/>
          <a:p>
            <a:pPr marL="0" indent="0">
              <a:buNone/>
            </a:pPr>
            <a:r>
              <a:rPr lang="en-US" sz="2400" b="1" dirty="0">
                <a:solidFill>
                  <a:srgbClr val="2E5AAC"/>
                </a:solidFill>
                <a:latin typeface="Calibri" pitchFamily="34" charset="0"/>
                <a:ea typeface="Calibri" pitchFamily="34" charset="-122"/>
                <a:cs typeface="Calibri" pitchFamily="34" charset="-120"/>
              </a:rPr>
              <a:t>Coding Quality &amp; Functionality</a:t>
            </a:r>
            <a:endParaRPr lang="en-US" sz="2400" dirty="0"/>
          </a:p>
        </p:txBody>
      </p:sp>
      <p:pic>
        <p:nvPicPr>
          <p:cNvPr id="3" name="Image 0" descr="/home/claude/edge_build/assets/klu_logo.png"/>
          <p:cNvPicPr>
            <a:picLocks noChangeAspect="1"/>
          </p:cNvPicPr>
          <p:nvPr/>
        </p:nvPicPr>
        <p:blipFill>
          <a:blip r:embed="rId3"/>
          <a:stretch>
            <a:fillRect/>
          </a:stretch>
        </p:blipFill>
        <p:spPr>
          <a:xfrm>
            <a:off x="10881360" y="256032"/>
            <a:ext cx="960120" cy="320040"/>
          </a:xfrm>
          <a:prstGeom prst="rect">
            <a:avLst/>
          </a:prstGeom>
        </p:spPr>
      </p:pic>
      <p:sp>
        <p:nvSpPr>
          <p:cNvPr id="4" name="Text 1"/>
          <p:cNvSpPr txBox="1"/>
          <p:nvPr/>
        </p:nvSpPr>
        <p:spPr>
          <a:xfrm>
            <a:off x="457200" y="6510528"/>
            <a:ext cx="86868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Evidence-Driven Game Engine (EDGE)  |  AI-Powered Cricket Intelligence Platform</a:t>
            </a:r>
            <a:endParaRPr lang="en-US" sz="900" dirty="0"/>
          </a:p>
        </p:txBody>
      </p:sp>
      <p:sp>
        <p:nvSpPr>
          <p:cNvPr id="5" name="Text 2"/>
          <p:cNvSpPr txBox="1"/>
          <p:nvPr/>
        </p:nvSpPr>
        <p:spPr>
          <a:xfrm>
            <a:off x="11612880" y="6510528"/>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16</a:t>
            </a:r>
            <a:endParaRPr lang="en-US" sz="900" dirty="0"/>
          </a:p>
        </p:txBody>
      </p:sp>
      <p:sp>
        <p:nvSpPr>
          <p:cNvPr id="6" name="Text 3"/>
          <p:cNvSpPr txBox="1"/>
          <p:nvPr/>
        </p:nvSpPr>
        <p:spPr>
          <a:xfrm>
            <a:off x="457200" y="1005840"/>
            <a:ext cx="5486400" cy="5212080"/>
          </a:xfrm>
          <a:prstGeom prst="rect">
            <a:avLst/>
          </a:prstGeom>
          <a:noFill/>
          <a:ln/>
        </p:spPr>
        <p:txBody>
          <a:bodyPr wrap="square" lIns="0" tIns="0" rIns="0" bIns="0" rtlCol="0" anchor="t"/>
          <a:lstStyle/>
          <a:p>
            <a:pPr marL="0" indent="0">
              <a:lnSpc>
                <a:spcPct val="108000"/>
              </a:lnSpc>
              <a:spcAft>
                <a:spcPts val="600"/>
              </a:spcAft>
              <a:buNone/>
            </a:pPr>
            <a:r>
              <a:rPr lang="en-US" b="1" dirty="0">
                <a:solidFill>
                  <a:srgbClr val="2E5AAC"/>
                </a:solidFill>
                <a:latin typeface="Calibri" pitchFamily="34" charset="0"/>
                <a:ea typeface="Calibri" pitchFamily="34" charset="-122"/>
                <a:cs typeface="Calibri" pitchFamily="34" charset="-120"/>
              </a:rPr>
              <a:t>Coding Quality</a:t>
            </a:r>
            <a:endParaRPr lang="en-US" dirty="0"/>
          </a:p>
          <a:p>
            <a:pPr marL="342900" indent="-342900">
              <a:lnSpc>
                <a:spcPct val="108000"/>
              </a:lnSpc>
              <a:spcAft>
                <a:spcPts val="500"/>
              </a:spcAft>
              <a:buSzPct val="100000"/>
              <a:buChar char="•"/>
            </a:pPr>
            <a:r>
              <a:rPr lang="en-US" dirty="0">
                <a:solidFill>
                  <a:srgbClr val="222222"/>
                </a:solidFill>
                <a:latin typeface="Calibri" pitchFamily="34" charset="0"/>
                <a:ea typeface="Calibri" pitchFamily="34" charset="-122"/>
                <a:cs typeface="Calibri" pitchFamily="34" charset="-120"/>
              </a:rPr>
              <a:t>Modular separation between the ETL pipeline, database layer, AI engine, and web application.</a:t>
            </a:r>
            <a:endParaRPr lang="en-US" dirty="0"/>
          </a:p>
          <a:p>
            <a:pPr marL="342900" indent="-342900">
              <a:lnSpc>
                <a:spcPct val="108000"/>
              </a:lnSpc>
              <a:spcAft>
                <a:spcPts val="500"/>
              </a:spcAft>
              <a:buSzPct val="100000"/>
              <a:buChar char="•"/>
            </a:pPr>
            <a:r>
              <a:rPr lang="en-US" dirty="0">
                <a:solidFill>
                  <a:srgbClr val="222222"/>
                </a:solidFill>
                <a:latin typeface="Calibri" pitchFamily="34" charset="0"/>
                <a:ea typeface="Calibri" pitchFamily="34" charset="-122"/>
                <a:cs typeface="Calibri" pitchFamily="34" charset="-120"/>
              </a:rPr>
              <a:t>Prisma ORM enforces type-safe schema and queries end-to-end.</a:t>
            </a:r>
            <a:endParaRPr lang="en-US" dirty="0"/>
          </a:p>
          <a:p>
            <a:pPr marL="342900" indent="-342900">
              <a:lnSpc>
                <a:spcPct val="108000"/>
              </a:lnSpc>
              <a:spcAft>
                <a:spcPts val="500"/>
              </a:spcAft>
              <a:buSzPct val="100000"/>
              <a:buChar char="•"/>
            </a:pPr>
            <a:r>
              <a:rPr lang="en-US" dirty="0">
                <a:solidFill>
                  <a:srgbClr val="222222"/>
                </a:solidFill>
                <a:latin typeface="Calibri" pitchFamily="34" charset="0"/>
                <a:ea typeface="Calibri" pitchFamily="34" charset="-122"/>
                <a:cs typeface="Calibri" pitchFamily="34" charset="-120"/>
              </a:rPr>
              <a:t>Consistent naming conventions and folder structure across the Next.js app.</a:t>
            </a:r>
            <a:endParaRPr lang="en-US" dirty="0"/>
          </a:p>
          <a:p>
            <a:pPr marL="342900" indent="-342900">
              <a:lnSpc>
                <a:spcPct val="108000"/>
              </a:lnSpc>
              <a:spcAft>
                <a:spcPts val="500"/>
              </a:spcAft>
              <a:buSzPct val="100000"/>
              <a:buChar char="•"/>
            </a:pPr>
            <a:r>
              <a:rPr lang="en-US" dirty="0">
                <a:solidFill>
                  <a:srgbClr val="222222"/>
                </a:solidFill>
                <a:latin typeface="Calibri" pitchFamily="34" charset="0"/>
                <a:ea typeface="Calibri" pitchFamily="34" charset="-122"/>
                <a:cs typeface="Calibri" pitchFamily="34" charset="-120"/>
              </a:rPr>
              <a:t>Reusable React components across the Live Match Centre and dashboards.</a:t>
            </a:r>
            <a:endParaRPr lang="en-US" dirty="0"/>
          </a:p>
          <a:p>
            <a:pPr marL="342900" indent="-342900">
              <a:lnSpc>
                <a:spcPct val="108000"/>
              </a:lnSpc>
              <a:spcAft>
                <a:spcPts val="500"/>
              </a:spcAft>
              <a:buSzPct val="100000"/>
              <a:buChar char="•"/>
            </a:pPr>
            <a:r>
              <a:rPr lang="en-US" dirty="0">
                <a:solidFill>
                  <a:srgbClr val="222222"/>
                </a:solidFill>
                <a:latin typeface="Calibri" pitchFamily="34" charset="0"/>
                <a:ea typeface="Calibri" pitchFamily="34" charset="-122"/>
                <a:cs typeface="Calibri" pitchFamily="34" charset="-120"/>
              </a:rPr>
              <a:t>Validation and error handling built into the ETL pipeline for 800K+ deliveries.</a:t>
            </a:r>
            <a:endParaRPr lang="en-US" dirty="0"/>
          </a:p>
          <a:p>
            <a:pPr marL="342900" indent="-342900">
              <a:lnSpc>
                <a:spcPct val="108000"/>
              </a:lnSpc>
              <a:spcAft>
                <a:spcPts val="500"/>
              </a:spcAft>
              <a:buSzPct val="100000"/>
              <a:buChar char="•"/>
            </a:pPr>
            <a:r>
              <a:rPr lang="en-US" dirty="0">
                <a:solidFill>
                  <a:srgbClr val="222222"/>
                </a:solidFill>
                <a:latin typeface="Calibri" pitchFamily="34" charset="0"/>
                <a:ea typeface="Calibri" pitchFamily="34" charset="-122"/>
                <a:cs typeface="Calibri" pitchFamily="34" charset="-120"/>
              </a:rPr>
              <a:t>Structured, repeatable pipeline lets new seasons be added without code changes.</a:t>
            </a:r>
            <a:endParaRPr lang="en-US" dirty="0"/>
          </a:p>
          <a:p>
            <a:pPr marL="342900" indent="-342900">
              <a:lnSpc>
                <a:spcPct val="108000"/>
              </a:lnSpc>
              <a:spcAft>
                <a:spcPts val="500"/>
              </a:spcAft>
              <a:buSzPct val="100000"/>
              <a:buChar char="•"/>
            </a:pPr>
            <a:r>
              <a:rPr lang="en-US" dirty="0">
                <a:solidFill>
                  <a:srgbClr val="222222"/>
                </a:solidFill>
                <a:latin typeface="Calibri" pitchFamily="34" charset="0"/>
                <a:ea typeface="Calibri" pitchFamily="34" charset="-122"/>
                <a:cs typeface="Calibri" pitchFamily="34" charset="-120"/>
              </a:rPr>
              <a:t>Live data feeds are checked and cached to protect against upstream outages.</a:t>
            </a:r>
            <a:endParaRPr lang="en-US" dirty="0"/>
          </a:p>
          <a:p>
            <a:pPr marL="342900" indent="-342900">
              <a:lnSpc>
                <a:spcPct val="108000"/>
              </a:lnSpc>
              <a:spcAft>
                <a:spcPts val="500"/>
              </a:spcAft>
              <a:buSzPct val="100000"/>
              <a:buChar char="•"/>
            </a:pPr>
            <a:r>
              <a:rPr lang="en-US" dirty="0">
                <a:solidFill>
                  <a:srgbClr val="222222"/>
                </a:solidFill>
                <a:latin typeface="Calibri" pitchFamily="34" charset="0"/>
                <a:ea typeface="Calibri" pitchFamily="34" charset="-122"/>
                <a:cs typeface="Calibri" pitchFamily="34" charset="-120"/>
              </a:rPr>
              <a:t>Git/GitHub version control.</a:t>
            </a:r>
            <a:endParaRPr lang="en-US" dirty="0"/>
          </a:p>
        </p:txBody>
      </p:sp>
      <p:sp>
        <p:nvSpPr>
          <p:cNvPr id="7" name="Text 4"/>
          <p:cNvSpPr txBox="1"/>
          <p:nvPr/>
        </p:nvSpPr>
        <p:spPr>
          <a:xfrm>
            <a:off x="6263640" y="1005840"/>
            <a:ext cx="5486400" cy="5212080"/>
          </a:xfrm>
          <a:prstGeom prst="rect">
            <a:avLst/>
          </a:prstGeom>
          <a:noFill/>
          <a:ln/>
        </p:spPr>
        <p:txBody>
          <a:bodyPr wrap="square" lIns="0" tIns="0" rIns="0" bIns="0" rtlCol="0" anchor="t"/>
          <a:lstStyle/>
          <a:p>
            <a:pPr marL="0" indent="0">
              <a:lnSpc>
                <a:spcPct val="108000"/>
              </a:lnSpc>
              <a:spcAft>
                <a:spcPts val="600"/>
              </a:spcAft>
              <a:buNone/>
            </a:pPr>
            <a:r>
              <a:rPr lang="en-US" b="1" dirty="0">
                <a:solidFill>
                  <a:srgbClr val="2E5AAC"/>
                </a:solidFill>
                <a:latin typeface="Calibri" pitchFamily="34" charset="0"/>
                <a:ea typeface="Calibri" pitchFamily="34" charset="-122"/>
                <a:cs typeface="Calibri" pitchFamily="34" charset="-120"/>
              </a:rPr>
              <a:t>Functionality</a:t>
            </a:r>
            <a:endParaRPr lang="en-US" dirty="0"/>
          </a:p>
          <a:p>
            <a:pPr marL="342900" indent="-342900">
              <a:lnSpc>
                <a:spcPct val="108000"/>
              </a:lnSpc>
              <a:spcAft>
                <a:spcPts val="500"/>
              </a:spcAft>
              <a:buSzPct val="100000"/>
              <a:buChar char="•"/>
            </a:pPr>
            <a:r>
              <a:rPr lang="en-US" dirty="0">
                <a:solidFill>
                  <a:srgbClr val="222222"/>
                </a:solidFill>
                <a:latin typeface="Calibri" pitchFamily="34" charset="0"/>
                <a:ea typeface="Calibri" pitchFamily="34" charset="-122"/>
                <a:cs typeface="Calibri" pitchFamily="34" charset="-120"/>
              </a:rPr>
              <a:t>Live Match Centre with real-time score tracking.</a:t>
            </a:r>
            <a:endParaRPr lang="en-US" dirty="0"/>
          </a:p>
          <a:p>
            <a:pPr marL="342900" indent="-342900">
              <a:lnSpc>
                <a:spcPct val="108000"/>
              </a:lnSpc>
              <a:spcAft>
                <a:spcPts val="500"/>
              </a:spcAft>
              <a:buSzPct val="100000"/>
              <a:buChar char="•"/>
            </a:pPr>
            <a:r>
              <a:rPr lang="en-US" dirty="0">
                <a:solidFill>
                  <a:srgbClr val="222222"/>
                </a:solidFill>
                <a:latin typeface="Calibri" pitchFamily="34" charset="0"/>
                <a:ea typeface="Calibri" pitchFamily="34" charset="-122"/>
                <a:cs typeface="Calibri" pitchFamily="34" charset="-120"/>
              </a:rPr>
              <a:t>ICC Rankings and the IPL Franchise Intelligence Hub.</a:t>
            </a:r>
            <a:endParaRPr lang="en-US" dirty="0"/>
          </a:p>
          <a:p>
            <a:pPr marL="342900" indent="-342900">
              <a:lnSpc>
                <a:spcPct val="108000"/>
              </a:lnSpc>
              <a:spcAft>
                <a:spcPts val="500"/>
              </a:spcAft>
              <a:buSzPct val="100000"/>
              <a:buChar char="•"/>
            </a:pPr>
            <a:r>
              <a:rPr lang="en-US" dirty="0">
                <a:solidFill>
                  <a:srgbClr val="222222"/>
                </a:solidFill>
                <a:latin typeface="Calibri" pitchFamily="34" charset="0"/>
                <a:ea typeface="Calibri" pitchFamily="34" charset="-122"/>
                <a:cs typeface="Calibri" pitchFamily="34" charset="-120"/>
              </a:rPr>
              <a:t>Chase win-probability simulator.</a:t>
            </a:r>
            <a:endParaRPr lang="en-US" dirty="0"/>
          </a:p>
          <a:p>
            <a:pPr marL="342900" indent="-342900">
              <a:lnSpc>
                <a:spcPct val="108000"/>
              </a:lnSpc>
              <a:spcAft>
                <a:spcPts val="500"/>
              </a:spcAft>
              <a:buSzPct val="100000"/>
              <a:buChar char="•"/>
            </a:pPr>
            <a:r>
              <a:rPr lang="en-US" dirty="0">
                <a:solidFill>
                  <a:srgbClr val="222222"/>
                </a:solidFill>
                <a:latin typeface="Calibri" pitchFamily="34" charset="0"/>
                <a:ea typeface="Calibri" pitchFamily="34" charset="-122"/>
                <a:cs typeface="Calibri" pitchFamily="34" charset="-120"/>
              </a:rPr>
              <a:t>AI Match Situation Advisor and Bowling Change Recommender.</a:t>
            </a:r>
            <a:endParaRPr lang="en-US" dirty="0"/>
          </a:p>
          <a:p>
            <a:pPr marL="342900" indent="-342900">
              <a:lnSpc>
                <a:spcPct val="108000"/>
              </a:lnSpc>
              <a:spcAft>
                <a:spcPts val="500"/>
              </a:spcAft>
              <a:buSzPct val="100000"/>
              <a:buChar char="•"/>
            </a:pPr>
            <a:r>
              <a:rPr lang="en-US" dirty="0">
                <a:solidFill>
                  <a:srgbClr val="222222"/>
                </a:solidFill>
                <a:latin typeface="Calibri" pitchFamily="34" charset="0"/>
                <a:ea typeface="Calibri" pitchFamily="34" charset="-122"/>
                <a:cs typeface="Calibri" pitchFamily="34" charset="-120"/>
              </a:rPr>
              <a:t>AI-generated player biographies and leaderboard visualizations.</a:t>
            </a:r>
            <a:endParaRPr lang="en-US" dirty="0"/>
          </a:p>
          <a:p>
            <a:pPr marL="342900" indent="-342900">
              <a:lnSpc>
                <a:spcPct val="108000"/>
              </a:lnSpc>
              <a:spcAft>
                <a:spcPts val="500"/>
              </a:spcAft>
              <a:buSzPct val="100000"/>
              <a:buChar char="•"/>
            </a:pPr>
            <a:r>
              <a:rPr lang="en-US" dirty="0">
                <a:solidFill>
                  <a:srgbClr val="222222"/>
                </a:solidFill>
                <a:latin typeface="Calibri" pitchFamily="34" charset="0"/>
                <a:ea typeface="Calibri" pitchFamily="34" charset="-122"/>
                <a:cs typeface="Calibri" pitchFamily="34" charset="-120"/>
              </a:rPr>
              <a:t>Interactive player, team, and franchise analytics.</a:t>
            </a:r>
            <a:endParaRPr lang="en-US" dirty="0"/>
          </a:p>
          <a:p>
            <a:pPr marL="342900" indent="-342900">
              <a:lnSpc>
                <a:spcPct val="108000"/>
              </a:lnSpc>
              <a:spcAft>
                <a:spcPts val="500"/>
              </a:spcAft>
              <a:buSzPct val="100000"/>
              <a:buChar char="•"/>
            </a:pPr>
            <a:r>
              <a:rPr lang="en-US" dirty="0">
                <a:solidFill>
                  <a:srgbClr val="222222"/>
                </a:solidFill>
                <a:latin typeface="Calibri" pitchFamily="34" charset="0"/>
                <a:ea typeface="Calibri" pitchFamily="34" charset="-122"/>
                <a:cs typeface="Calibri" pitchFamily="34" charset="-120"/>
              </a:rPr>
              <a:t>Data pipeline health and data-quality monitoring.</a:t>
            </a:r>
            <a:endParaRPr lang="en-US" dirty="0"/>
          </a:p>
        </p:txBody>
      </p:sp>
      <p:pic>
        <p:nvPicPr>
          <p:cNvPr id="8" name="Picture 7">
            <a:extLst>
              <a:ext uri="{FF2B5EF4-FFF2-40B4-BE49-F238E27FC236}">
                <a16:creationId xmlns:a16="http://schemas.microsoft.com/office/drawing/2014/main" id="{7CDD0A61-7A18-BE4F-DA14-5E794602DBCD}"/>
              </a:ext>
            </a:extLst>
          </p:cNvPr>
          <p:cNvPicPr>
            <a:picLocks noChangeAspect="1"/>
          </p:cNvPicPr>
          <p:nvPr/>
        </p:nvPicPr>
        <p:blipFill>
          <a:blip r:embed="rId3"/>
          <a:stretch>
            <a:fillRect/>
          </a:stretch>
        </p:blipFill>
        <p:spPr>
          <a:xfrm>
            <a:off x="10249380" y="0"/>
            <a:ext cx="1942620" cy="6225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56032"/>
            <a:ext cx="9875520" cy="548640"/>
          </a:xfrm>
          <a:prstGeom prst="rect">
            <a:avLst/>
          </a:prstGeom>
          <a:noFill/>
          <a:ln/>
        </p:spPr>
        <p:txBody>
          <a:bodyPr wrap="square" lIns="0" tIns="0" rIns="0" bIns="0" rtlCol="0" anchor="ctr"/>
          <a:lstStyle/>
          <a:p>
            <a:pPr marL="0" indent="0">
              <a:buNone/>
            </a:pPr>
            <a:r>
              <a:rPr lang="en-US" sz="2400" b="1" dirty="0">
                <a:solidFill>
                  <a:srgbClr val="2E5AAC"/>
                </a:solidFill>
                <a:latin typeface="Calibri" pitchFamily="34" charset="0"/>
                <a:ea typeface="Calibri" pitchFamily="34" charset="-122"/>
                <a:cs typeface="Calibri" pitchFamily="34" charset="-120"/>
              </a:rPr>
              <a:t>Output Screenshots – EDGE CricMetrics Analytics Studio</a:t>
            </a:r>
            <a:endParaRPr lang="en-US" sz="2400" dirty="0"/>
          </a:p>
        </p:txBody>
      </p:sp>
      <p:pic>
        <p:nvPicPr>
          <p:cNvPr id="3" name="Image 0" descr="/home/claude/edge_build/assets/klu_logo.png"/>
          <p:cNvPicPr>
            <a:picLocks noChangeAspect="1"/>
          </p:cNvPicPr>
          <p:nvPr/>
        </p:nvPicPr>
        <p:blipFill>
          <a:blip r:embed="rId3"/>
          <a:stretch>
            <a:fillRect/>
          </a:stretch>
        </p:blipFill>
        <p:spPr>
          <a:xfrm>
            <a:off x="10881360" y="256032"/>
            <a:ext cx="960120" cy="320040"/>
          </a:xfrm>
          <a:prstGeom prst="rect">
            <a:avLst/>
          </a:prstGeom>
        </p:spPr>
      </p:pic>
      <p:sp>
        <p:nvSpPr>
          <p:cNvPr id="4" name="Text 1"/>
          <p:cNvSpPr txBox="1"/>
          <p:nvPr/>
        </p:nvSpPr>
        <p:spPr>
          <a:xfrm>
            <a:off x="457200" y="6510528"/>
            <a:ext cx="8686800" cy="274320"/>
          </a:xfrm>
          <a:prstGeom prst="rect">
            <a:avLst/>
          </a:prstGeom>
          <a:noFill/>
          <a:ln/>
        </p:spPr>
        <p:txBody>
          <a:bodyPr wrap="square" lIns="0" tIns="0" rIns="0" bIns="0" rtlCol="0" anchor="ctr"/>
          <a:lstStyle/>
          <a:p>
            <a:pPr marL="0" indent="0">
              <a:buNone/>
            </a:pPr>
            <a:r>
              <a:rPr lang="en-US" sz="900" dirty="0">
                <a:solidFill>
                  <a:srgbClr val="5A5A5A"/>
                </a:solidFill>
                <a:latin typeface="Calibri" pitchFamily="34" charset="0"/>
                <a:ea typeface="Calibri" pitchFamily="34" charset="-122"/>
                <a:cs typeface="Calibri" pitchFamily="34" charset="-120"/>
              </a:rPr>
              <a:t>Evidence-Driven Game Engine (EDGE)  |  AI-Powered Cricket Intelligence Platform</a:t>
            </a:r>
            <a:endParaRPr lang="en-US" sz="900" dirty="0"/>
          </a:p>
        </p:txBody>
      </p:sp>
      <p:sp>
        <p:nvSpPr>
          <p:cNvPr id="5" name="Text 2"/>
          <p:cNvSpPr txBox="1"/>
          <p:nvPr/>
        </p:nvSpPr>
        <p:spPr>
          <a:xfrm>
            <a:off x="11612880" y="6510528"/>
            <a:ext cx="457200" cy="274320"/>
          </a:xfrm>
          <a:prstGeom prst="rect">
            <a:avLst/>
          </a:prstGeom>
          <a:noFill/>
          <a:ln/>
        </p:spPr>
        <p:txBody>
          <a:bodyPr wrap="square" lIns="0" tIns="0" rIns="0" bIns="0" rtlCol="0" anchor="ctr"/>
          <a:lstStyle/>
          <a:p>
            <a:pPr marL="0" indent="0" algn="r">
              <a:buNone/>
            </a:pPr>
            <a:r>
              <a:rPr lang="en-US" sz="900" dirty="0">
                <a:solidFill>
                  <a:srgbClr val="5A5A5A"/>
                </a:solidFill>
                <a:latin typeface="Calibri" pitchFamily="34" charset="0"/>
                <a:ea typeface="Calibri" pitchFamily="34" charset="-122"/>
                <a:cs typeface="Calibri" pitchFamily="34" charset="-120"/>
              </a:rPr>
              <a:t>17</a:t>
            </a:r>
            <a:endParaRPr lang="en-US" sz="900" dirty="0"/>
          </a:p>
        </p:txBody>
      </p:sp>
      <p:pic>
        <p:nvPicPr>
          <p:cNvPr id="8" name="Picture 7">
            <a:extLst>
              <a:ext uri="{FF2B5EF4-FFF2-40B4-BE49-F238E27FC236}">
                <a16:creationId xmlns:a16="http://schemas.microsoft.com/office/drawing/2014/main" id="{CBCE588A-3019-B58B-1B27-3DA4FEC95C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2194</Words>
  <Application>Microsoft Office PowerPoint</Application>
  <PresentationFormat>Widescreen</PresentationFormat>
  <Paragraphs>192</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vds 7</cp:lastModifiedBy>
  <cp:revision>3</cp:revision>
  <dcterms:created xsi:type="dcterms:W3CDTF">2026-09-27T08:28:05Z</dcterms:created>
  <dcterms:modified xsi:type="dcterms:W3CDTF">2026-09-29T09:38:17Z</dcterms:modified>
</cp:coreProperties>
</file>