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1"/>
  </p:notesMasterIdLst>
  <p:sldIdLst>
    <p:sldId id="286" r:id="rId3"/>
    <p:sldId id="262" r:id="rId4"/>
    <p:sldId id="257" r:id="rId6"/>
    <p:sldId id="90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E0EA8E-CC0E-46E3-BE9E-9948A49AC1A4}" v="1" dt="2026-09-22T08:51:20.1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p:cViewPr varScale="1">
        <p:scale>
          <a:sx n="78" d="100"/>
          <a:sy n="78" d="100"/>
        </p:scale>
        <p:origin x="85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6" Type="http://schemas.openxmlformats.org/officeDocument/2006/relationships/slide" Target="slides/slide4.xml"/><Relationship Id="rId7" Type="http://schemas.openxmlformats.org/officeDocument/2006/relationships/slide" Target="slides/slide5.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6/11/relationships/changesInfo" Target="changesInfos/changesInfo1.xml"/><Relationship Id="rId3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ds 7" userId="33559902d3ed092c" providerId="LiveId" clId="{9C56A98E-D754-451F-B35A-0C71D8D9F560}"/>
    <pc:docChg chg="undo custSel modSld sldOrd">
      <pc:chgData name="vds 7" userId="33559902d3ed092c" providerId="LiveId" clId="{9C56A98E-D754-451F-B35A-0C71D8D9F560}" dt="2026-09-27T08:46:29.753" v="32" actId="1035"/>
      <pc:docMkLst>
        <pc:docMk/>
      </pc:docMkLst>
      <pc:sldChg chg="modSp mod">
        <pc:chgData name="vds 7" userId="33559902d3ed092c" providerId="LiveId" clId="{9C56A98E-D754-451F-B35A-0C71D8D9F560}" dt="2026-09-27T08:34:08.658" v="25" actId="1036"/>
        <pc:sldMkLst>
          <pc:docMk/>
          <pc:sldMk cId="3029277067" sldId="902"/>
        </pc:sldMkLst>
        <pc:graphicFrameChg chg="mod">
          <ac:chgData name="vds 7" userId="33559902d3ed092c" providerId="LiveId" clId="{9C56A98E-D754-451F-B35A-0C71D8D9F560}" dt="2026-09-27T08:34:08.658" v="25" actId="1036"/>
          <ac:graphicFrameMkLst>
            <pc:docMk/>
            <pc:sldMk cId="3029277067" sldId="902"/>
            <ac:graphicFrameMk id="4" creationId="{AACD11AD-3AF5-B626-2B60-0567E4585BB7}"/>
          </ac:graphicFrameMkLst>
        </pc:graphicFrameChg>
      </pc:sldChg>
      <pc:sldChg chg="modSp mod">
        <pc:chgData name="vds 7" userId="33559902d3ed092c" providerId="LiveId" clId="{9C56A98E-D754-451F-B35A-0C71D8D9F560}" dt="2026-09-22T08:40:15.399" v="19" actId="20577"/>
        <pc:sldMkLst>
          <pc:docMk/>
          <pc:sldMk cId="3524135319" sldId="905"/>
        </pc:sldMkLst>
        <pc:spChg chg="mod">
          <ac:chgData name="vds 7" userId="33559902d3ed092c" providerId="LiveId" clId="{9C56A98E-D754-451F-B35A-0C71D8D9F560}" dt="2026-09-22T08:40:15.399" v="19" actId="20577"/>
          <ac:spMkLst>
            <pc:docMk/>
            <pc:sldMk cId="3524135319" sldId="905"/>
            <ac:spMk id="104" creationId="{00000000-0000-0000-0000-000000000000}"/>
          </ac:spMkLst>
        </pc:spChg>
      </pc:sldChg>
      <pc:sldChg chg="modSp mod">
        <pc:chgData name="vds 7" userId="33559902d3ed092c" providerId="LiveId" clId="{9C56A98E-D754-451F-B35A-0C71D8D9F560}" dt="2026-09-27T08:34:36.276" v="26" actId="1036"/>
        <pc:sldMkLst>
          <pc:docMk/>
          <pc:sldMk cId="1030314092" sldId="910"/>
        </pc:sldMkLst>
        <pc:graphicFrameChg chg="mod">
          <ac:chgData name="vds 7" userId="33559902d3ed092c" providerId="LiveId" clId="{9C56A98E-D754-451F-B35A-0C71D8D9F560}" dt="2026-09-27T08:34:36.276" v="26" actId="1036"/>
          <ac:graphicFrameMkLst>
            <pc:docMk/>
            <pc:sldMk cId="1030314092" sldId="910"/>
            <ac:graphicFrameMk id="2" creationId="{584B6121-4F6E-7527-BFFE-A3B6B03A1057}"/>
          </ac:graphicFrameMkLst>
        </pc:graphicFrameChg>
      </pc:sldChg>
      <pc:sldChg chg="ord">
        <pc:chgData name="vds 7" userId="33559902d3ed092c" providerId="LiveId" clId="{9C56A98E-D754-451F-B35A-0C71D8D9F560}" dt="2026-09-22T08:58:52.469" v="23"/>
        <pc:sldMkLst>
          <pc:docMk/>
          <pc:sldMk cId="3917782940" sldId="911"/>
        </pc:sldMkLst>
      </pc:sldChg>
      <pc:sldChg chg="addSp delSp modSp mod">
        <pc:chgData name="vds 7" userId="33559902d3ed092c" providerId="LiveId" clId="{9C56A98E-D754-451F-B35A-0C71D8D9F560}" dt="2026-09-22T08:51:18.042" v="21" actId="22"/>
        <pc:sldMkLst>
          <pc:docMk/>
          <pc:sldMk cId="2065876014" sldId="912"/>
        </pc:sldMkLst>
        <pc:spChg chg="mod">
          <ac:chgData name="vds 7" userId="33559902d3ed092c" providerId="LiveId" clId="{9C56A98E-D754-451F-B35A-0C71D8D9F560}" dt="2026-09-22T08:34:50.569" v="13" actId="27636"/>
          <ac:spMkLst>
            <pc:docMk/>
            <pc:sldMk cId="2065876014" sldId="912"/>
            <ac:spMk id="501" creationId="{00000000-0000-0000-0000-000000000000}"/>
          </ac:spMkLst>
        </pc:spChg>
        <pc:spChg chg="mod">
          <ac:chgData name="vds 7" userId="33559902d3ed092c" providerId="LiveId" clId="{9C56A98E-D754-451F-B35A-0C71D8D9F560}" dt="2026-09-22T08:35:19.932" v="14" actId="255"/>
          <ac:spMkLst>
            <pc:docMk/>
            <pc:sldMk cId="2065876014" sldId="912"/>
            <ac:spMk id="502" creationId="{00000000-0000-0000-0000-000000000000}"/>
          </ac:spMkLst>
        </pc:spChg>
        <pc:spChg chg="mod">
          <ac:chgData name="vds 7" userId="33559902d3ed092c" providerId="LiveId" clId="{9C56A98E-D754-451F-B35A-0C71D8D9F560}" dt="2026-09-22T08:35:26.984" v="15" actId="255"/>
          <ac:spMkLst>
            <pc:docMk/>
            <pc:sldMk cId="2065876014" sldId="912"/>
            <ac:spMk id="503" creationId="{00000000-0000-0000-0000-000000000000}"/>
          </ac:spMkLst>
        </pc:spChg>
        <pc:spChg chg="mod">
          <ac:chgData name="vds 7" userId="33559902d3ed092c" providerId="LiveId" clId="{9C56A98E-D754-451F-B35A-0C71D8D9F560}" dt="2026-09-22T08:35:34.295" v="16" actId="255"/>
          <ac:spMkLst>
            <pc:docMk/>
            <pc:sldMk cId="2065876014" sldId="912"/>
            <ac:spMk id="504" creationId="{00000000-0000-0000-0000-000000000000}"/>
          </ac:spMkLst>
        </pc:spChg>
      </pc:sldChg>
      <pc:sldChg chg="modSp mod">
        <pc:chgData name="vds 7" userId="33559902d3ed092c" providerId="LiveId" clId="{9C56A98E-D754-451F-B35A-0C71D8D9F560}" dt="2026-09-27T08:46:29.753" v="32" actId="1035"/>
        <pc:sldMkLst>
          <pc:docMk/>
          <pc:sldMk cId="1648027208" sldId="921"/>
        </pc:sldMkLst>
        <pc:picChg chg="mod">
          <ac:chgData name="vds 7" userId="33559902d3ed092c" providerId="LiveId" clId="{9C56A98E-D754-451F-B35A-0C71D8D9F560}" dt="2026-09-27T08:46:29.753" v="32" actId="1035"/>
          <ac:picMkLst>
            <pc:docMk/>
            <pc:sldMk cId="1648027208" sldId="921"/>
            <ac:picMk id="7" creationId="{3D7F363F-812A-AA12-86A4-81A233DC1947}"/>
          </ac:picMkLst>
        </pc:picChg>
      </pc:sldChg>
      <pc:sldChg chg="addSp modSp mod">
        <pc:chgData name="vds 7" userId="33559902d3ed092c" providerId="LiveId" clId="{9C56A98E-D754-451F-B35A-0C71D8D9F560}" dt="2026-09-27T08:35:50.636" v="27" actId="1036"/>
        <pc:sldMkLst>
          <pc:docMk/>
          <pc:sldMk cId="3659569516" sldId="923"/>
        </pc:sldMkLst>
        <pc:spChg chg="mod">
          <ac:chgData name="vds 7" userId="33559902d3ed092c" providerId="LiveId" clId="{9C56A98E-D754-451F-B35A-0C71D8D9F560}" dt="2026-09-27T08:35:50.636" v="27" actId="1036"/>
          <ac:spMkLst>
            <pc:docMk/>
            <pc:sldMk cId="3659569516" sldId="923"/>
            <ac:spMk id="2" creationId="{E93E1ED7-A6BF-B000-FC4A-321B5C7DEB4E}"/>
          </ac:spMkLst>
        </pc:spChg>
        <pc:picChg chg="mod">
          <ac:chgData name="vds 7" userId="33559902d3ed092c" providerId="LiveId" clId="{9C56A98E-D754-451F-B35A-0C71D8D9F560}" dt="2026-09-27T08:35:50.636" v="27" actId="1036"/>
          <ac:picMkLst>
            <pc:docMk/>
            <pc:sldMk cId="3659569516" sldId="923"/>
            <ac:picMk id="5" creationId="{FA3D90F6-38C0-71CB-E5CB-FF0C253AF657}"/>
          </ac:picMkLst>
        </pc:picChg>
        <pc:inkChg chg="add mod">
          <ac:chgData name="vds 7" userId="33559902d3ed092c" providerId="LiveId" clId="{9C56A98E-D754-451F-B35A-0C71D8D9F560}" dt="2026-09-27T08:35:50.636" v="27" actId="1036"/>
          <ac:inkMkLst>
            <pc:docMk/>
            <pc:sldMk cId="3659569516" sldId="923"/>
            <ac:inkMk id="3" creationId="{115AA0E3-D29D-7F80-8AC0-51BFE5989C9A}"/>
          </ac:inkMkLst>
        </pc:inkChg>
        <pc:inkChg chg="add mod">
          <ac:chgData name="vds 7" userId="33559902d3ed092c" providerId="LiveId" clId="{9C56A98E-D754-451F-B35A-0C71D8D9F560}" dt="2026-09-27T08:35:50.636" v="27" actId="1036"/>
          <ac:inkMkLst>
            <pc:docMk/>
            <pc:sldMk cId="3659569516" sldId="923"/>
            <ac:inkMk id="4" creationId="{04E7F268-F7CC-FEC9-570D-C293951D99F1}"/>
          </ac:inkMkLst>
        </pc:inkChg>
      </pc:sldChg>
      <pc:sldChg chg="ord">
        <pc:chgData name="vds 7" userId="33559902d3ed092c" providerId="LiveId" clId="{9C56A98E-D754-451F-B35A-0C71D8D9F560}" dt="2026-09-22T08:33:00.178" v="5"/>
        <pc:sldMkLst>
          <pc:docMk/>
          <pc:sldMk cId="595642197" sldId="92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everyone. Today we are presenting our project </a:t>
            </a:r>
            <a:r>
              <a:rPr lang="en-US" b="1"/>
              <a:t>EDGE, or Evidence-Driven Game Engine</a:t>
            </a:r>
            <a:r>
              <a:rPr lang="en-US"/>
              <a:t>.</a:t>
            </a:r>
          </a:p>
          <a:p>
            <a:r>
              <a:rPr lang="en-US"/>
              <a:t>EDGE is an </a:t>
            </a:r>
            <a:r>
              <a:rPr lang="en-US" b="1"/>
              <a:t>AI-powered cricket intelligence platform</a:t>
            </a:r>
            <a:r>
              <a:rPr lang="en-US"/>
              <a:t> that converts large amounts of cricket data into simple and useful insights.</a:t>
            </a:r>
          </a:p>
          <a:p>
            <a:r>
              <a:rPr lang="en-US"/>
              <a:t>Our team consists of </a:t>
            </a:r>
            <a:r>
              <a:rPr lang="en-US" b="1"/>
              <a:t>Dhruva Sai, Nikhil Shreyas, and P Lahari</a:t>
            </a:r>
            <a:r>
              <a:rPr lang="en-US"/>
              <a:t>, under the guidance of </a:t>
            </a:r>
            <a:r>
              <a:rPr lang="en-US" b="1"/>
              <a:t>Dr. N. Shirisha</a:t>
            </a:r>
            <a:r>
              <a:rPr lang="en-US"/>
              <a:t>.</a:t>
            </a:r>
          </a:p>
          <a:p>
            <a:endParaRPr lang="en-IN"/>
          </a:p>
        </p:txBody>
      </p:sp>
      <p:sp>
        <p:nvSpPr>
          <p:cNvPr id="4" name="Slide Number Placeholder 3"/>
          <p:cNvSpPr>
            <a:spLocks noGrp="1"/>
          </p:cNvSpPr>
          <p:nvPr>
            <p:ph type="sldNum" sz="quarter" idx="5"/>
          </p:nvPr>
        </p:nvSpPr>
        <p:spPr/>
        <p:txBody>
          <a:bodyPr/>
          <a:lstStyle/>
          <a:p>
            <a:fld id="{9F19044B-B5AF-477C-950C-4ED51263438D}" type="slidenum">
              <a:rPr lang="en-US" smtClean="0"/>
              <a:t>1</a:t>
            </a:fld>
            <a:endParaRPr lang="en-US"/>
          </a:p>
        </p:txBody>
      </p:sp>
    </p:spTree>
    <p:extLst>
      <p:ext uri="{BB962C8B-B14F-4D97-AF65-F5344CB8AC3E}">
        <p14:creationId xmlns:p14="http://schemas.microsoft.com/office/powerpoint/2010/main" val="2158068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This is our </a:t>
            </a:r>
            <a:r>
              <a:rPr lang="en-US" b="1"/>
              <a:t>first project review</a:t>
            </a:r>
            <a:r>
              <a:rPr lang="en-US"/>
              <a:t> for EDGE.</a:t>
            </a:r>
          </a:p>
          <a:p>
            <a:r>
              <a:rPr lang="en-US"/>
              <a:t>Our main aim is to collect, process, and </a:t>
            </a:r>
            <a:r>
              <a:rPr lang="en-US" err="1"/>
              <a:t>analyse</a:t>
            </a:r>
            <a:r>
              <a:rPr lang="en-US"/>
              <a:t> cricket data and provide meaningful insights through a single platform.</a:t>
            </a:r>
          </a:p>
          <a:p>
            <a:r>
              <a:rPr lang="en-US"/>
              <a:t>In this review, we will cover our </a:t>
            </a:r>
            <a:r>
              <a:rPr lang="en-US" b="1"/>
              <a:t>project background, literature survey, objectives, problem gap, innovation, challenges, and future work</a:t>
            </a:r>
            <a:r>
              <a:rPr lang="en-US"/>
              <a:t>.</a:t>
            </a:r>
          </a:p>
          <a:p>
            <a:endParaRPr lang="en-IN"/>
          </a:p>
        </p:txBody>
      </p:sp>
      <p:sp>
        <p:nvSpPr>
          <p:cNvPr id="4" name="Slide Number Placeholder 3"/>
          <p:cNvSpPr>
            <a:spLocks noGrp="1"/>
          </p:cNvSpPr>
          <p:nvPr>
            <p:ph type="sldNum" sz="quarter" idx="5"/>
          </p:nvPr>
        </p:nvSpPr>
        <p:spPr/>
        <p:txBody>
          <a:bodyPr/>
          <a:lstStyle/>
          <a:p>
            <a:fld id="{BF84AE20-9EAE-4BB7-93AC-7EFA05BCA1CF}" type="slidenum">
              <a:rPr lang="en-IN" smtClean="0"/>
              <a:t>2</a:t>
            </a:fld>
            <a:endParaRPr lang="en-IN"/>
          </a:p>
        </p:txBody>
      </p:sp>
    </p:spTree>
    <p:extLst>
      <p:ext uri="{BB962C8B-B14F-4D97-AF65-F5344CB8AC3E}">
        <p14:creationId xmlns:p14="http://schemas.microsoft.com/office/powerpoint/2010/main" val="2227473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Cricket produces a huge amount of data from every ball, run, wicket, and player action. However, most of this data is available only in raw scorecards, making it difficult to get useful insights quickly.</a:t>
            </a:r>
          </a:p>
          <a:p>
            <a:r>
              <a:rPr lang="en-US"/>
              <a:t>Our project </a:t>
            </a:r>
            <a:r>
              <a:rPr lang="en-US" b="1"/>
              <a:t>EDGE — Evidence-Driven Game Engine</a:t>
            </a:r>
            <a:r>
              <a:rPr lang="en-US"/>
              <a:t> solves this by converting detailed ball-by-ball data into </a:t>
            </a:r>
            <a:r>
              <a:rPr lang="en-US" b="1"/>
              <a:t>simple and actionable insights</a:t>
            </a:r>
            <a:r>
              <a:rPr lang="en-US"/>
              <a:t>.</a:t>
            </a:r>
          </a:p>
          <a:p>
            <a:r>
              <a:rPr lang="en-US"/>
              <a:t>EDGE uses more than </a:t>
            </a:r>
            <a:r>
              <a:rPr lang="en-US" b="1"/>
              <a:t>800,000 deliveries, 5,000 player profiles, and 4,500 matches</a:t>
            </a:r>
            <a:r>
              <a:rPr lang="en-US"/>
              <a:t> from different formats and years.</a:t>
            </a:r>
          </a:p>
          <a:p>
            <a:r>
              <a:rPr lang="en-US"/>
              <a:t>It provides AI features like the </a:t>
            </a:r>
            <a:r>
              <a:rPr lang="en-US" b="1"/>
              <a:t>Match Situation Advisor</a:t>
            </a:r>
            <a:r>
              <a:rPr lang="en-US"/>
              <a:t> and </a:t>
            </a:r>
            <a:r>
              <a:rPr lang="en-US" b="1"/>
              <a:t>Bowling Change Recommender</a:t>
            </a:r>
            <a:r>
              <a:rPr lang="en-US"/>
              <a:t>, along with tools such as the </a:t>
            </a:r>
            <a:r>
              <a:rPr lang="en-US" b="1"/>
              <a:t>Live Match Centre, ICC Rankings, IPL Franchise Intelligence Hub, and chase win-probability simulator</a:t>
            </a:r>
            <a:r>
              <a:rPr lang="en-US"/>
              <a:t>.</a:t>
            </a:r>
          </a:p>
          <a:p>
            <a:r>
              <a:rPr lang="en-US"/>
              <a:t>Behind these features, a structured data pipeline keeps the cricket data </a:t>
            </a:r>
            <a:r>
              <a:rPr lang="en-US" err="1"/>
              <a:t>organised</a:t>
            </a:r>
            <a:r>
              <a:rPr lang="en-US"/>
              <a:t> and allows new seasons to be added easily.</a:t>
            </a:r>
          </a:p>
          <a:p>
            <a:r>
              <a:rPr lang="en-US"/>
              <a:t>Overall, EDGE combines </a:t>
            </a:r>
            <a:r>
              <a:rPr lang="en-US" b="1"/>
              <a:t>historical cricket data, analytics, visualizations, and AI</a:t>
            </a:r>
            <a:r>
              <a:rPr lang="en-US"/>
              <a:t> to make advanced cricket analysis easier for </a:t>
            </a:r>
            <a:r>
              <a:rPr lang="en-US" b="1"/>
              <a:t>fans, analysts, and franchises</a:t>
            </a:r>
            <a:r>
              <a:rPr lang="en-US"/>
              <a:t>.</a:t>
            </a:r>
          </a:p>
          <a:p>
            <a:endParaRPr lang="en-IN"/>
          </a:p>
        </p:txBody>
      </p:sp>
      <p:sp>
        <p:nvSpPr>
          <p:cNvPr id="4" name="Slide Number Placeholder 3"/>
          <p:cNvSpPr>
            <a:spLocks noGrp="1"/>
          </p:cNvSpPr>
          <p:nvPr>
            <p:ph type="sldNum" sz="quarter" idx="5"/>
          </p:nvPr>
        </p:nvSpPr>
        <p:spPr/>
        <p:txBody>
          <a:bodyPr/>
          <a:lstStyle/>
          <a:p>
            <a:fld id="{9F19044B-B5AF-477C-950C-4ED51263438D}" type="slidenum">
              <a:rPr lang="en-US" smtClean="0"/>
              <a:t>4</a:t>
            </a:fld>
            <a:endParaRPr lang="en-US"/>
          </a:p>
        </p:txBody>
      </p:sp>
    </p:spTree>
    <p:extLst>
      <p:ext uri="{BB962C8B-B14F-4D97-AF65-F5344CB8AC3E}">
        <p14:creationId xmlns:p14="http://schemas.microsoft.com/office/powerpoint/2010/main" val="3390104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Cricket generates a large amount of data such as </a:t>
            </a:r>
            <a:r>
              <a:rPr lang="en-US" b="1"/>
              <a:t>runs, wickets, player performances, and match situations</a:t>
            </a:r>
            <a:r>
              <a:rPr lang="en-US"/>
              <a:t>.</a:t>
            </a:r>
          </a:p>
          <a:p>
            <a:r>
              <a:rPr lang="en-US"/>
              <a:t>Traditionally, this data is mainly used for scorecards and basic statistics, while many useful insights remain unexplored.</a:t>
            </a:r>
          </a:p>
          <a:p>
            <a:r>
              <a:rPr lang="en-US"/>
              <a:t>Our goal is to convert this detailed data into </a:t>
            </a:r>
            <a:r>
              <a:rPr lang="en-US" b="1"/>
              <a:t>meaningful and actionable insights</a:t>
            </a:r>
            <a:r>
              <a:rPr lang="en-US"/>
              <a:t> using a data pipeline, web application, and generative AI.</a:t>
            </a:r>
          </a:p>
          <a:p>
            <a:r>
              <a:rPr lang="en-US"/>
              <a:t>EDGE brings </a:t>
            </a:r>
            <a:r>
              <a:rPr lang="en-US" b="1"/>
              <a:t>historical data, live information, analytics, and AI</a:t>
            </a:r>
            <a:r>
              <a:rPr lang="en-US"/>
              <a:t> together in one platform.</a:t>
            </a:r>
          </a:p>
          <a:p>
            <a:endParaRPr lang="en-IN"/>
          </a:p>
        </p:txBody>
      </p:sp>
      <p:sp>
        <p:nvSpPr>
          <p:cNvPr id="4" name="Slide Number Placeholder 3"/>
          <p:cNvSpPr>
            <a:spLocks noGrp="1"/>
          </p:cNvSpPr>
          <p:nvPr>
            <p:ph type="sldNum" sz="quarter" idx="5"/>
          </p:nvPr>
        </p:nvSpPr>
        <p:spPr/>
        <p:txBody>
          <a:bodyPr/>
          <a:lstStyle/>
          <a:p>
            <a:fld id="{9F19044B-B5AF-477C-950C-4ED51263438D}" type="slidenum">
              <a:rPr lang="en-US" smtClean="0"/>
              <a:t>5</a:t>
            </a:fld>
            <a:endParaRPr lang="en-US"/>
          </a:p>
        </p:txBody>
      </p:sp>
    </p:spTree>
    <p:extLst>
      <p:ext uri="{BB962C8B-B14F-4D97-AF65-F5344CB8AC3E}">
        <p14:creationId xmlns:p14="http://schemas.microsoft.com/office/powerpoint/2010/main" val="2375363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1F6EA6A-8FF5-49DF-BDDD-F7431B447D8F}" type="datetime3">
              <a:rPr lang="en-US" smtClean="0"/>
              <a:t>27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411EB6-9770-43AB-BBCE-044F1DB66B82}" type="datetime3">
              <a:rPr lang="en-US" smtClean="0"/>
              <a:t>27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FAC05-A025-4B8A-AB88-2AE8812F8A48}" type="datetime3">
              <a:rPr lang="en-US" smtClean="0"/>
              <a:t>27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7906D5-6813-455D-BAA0-28A983958C32}" type="datetime3">
              <a:rPr lang="en-US" smtClean="0"/>
              <a:t>27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4309C4-DF5F-4FAA-9214-A2117415D598}" type="datetime3">
              <a:rPr lang="en-US" smtClean="0"/>
              <a:t>27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27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0D9772-7494-4C65-A0D8-1FBD740B2E65}" type="datetime3">
              <a:rPr lang="en-US" smtClean="0"/>
              <a:t>27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B089DC-0019-49C7-8AD2-EF5D896393D8}" type="datetime3">
              <a:rPr lang="en-US" smtClean="0"/>
              <a:t>27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9/27/2026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27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klh.edu.in/"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19425" y="1036793"/>
            <a:ext cx="6153150" cy="176589"/>
          </a:xfrm>
        </p:spPr>
        <p:txBody>
          <a:bodyPr>
            <a:normAutofit fontScale="90000"/>
          </a:bodyPr>
          <a:lstStyle/>
          <a:p>
            <a:pPr>
              <a:defRPr/>
            </a:pPr>
            <a:br>
              <a:rPr lang="en-US" sz="1350" b="1">
                <a:solidFill>
                  <a:schemeClr val="accent1"/>
                </a:solidFill>
                <a:latin typeface="Times New Roman" pitchFamily="18" charset="0"/>
                <a:cs typeface="Times New Roman" pitchFamily="18" charset="0"/>
              </a:rPr>
            </a:br>
            <a:br>
              <a:rPr lang="en-US" sz="2200" b="1">
                <a:latin typeface="Times New Roman" pitchFamily="18" charset="0"/>
                <a:cs typeface="Times New Roman" pitchFamily="18" charset="0"/>
              </a:rPr>
            </a:br>
            <a:br>
              <a:rPr lang="en-US" sz="1350">
                <a:latin typeface="Times New Roman" pitchFamily="18" charset="0"/>
                <a:cs typeface="Times New Roman" pitchFamily="18" charset="0"/>
              </a:rPr>
            </a:br>
            <a:r>
              <a:rPr lang="en-US" sz="2200">
                <a:latin typeface="Times New Roman" pitchFamily="18" charset="0"/>
                <a:cs typeface="Times New Roman" pitchFamily="18" charset="0"/>
              </a:rPr>
              <a:t> </a:t>
            </a:r>
            <a:br>
              <a:rPr lang="en-US" sz="2200">
                <a:latin typeface="Times New Roman" pitchFamily="18" charset="0"/>
                <a:cs typeface="Times New Roman" pitchFamily="18" charset="0"/>
              </a:rPr>
            </a:br>
            <a:r>
              <a:rPr lang="en-US" sz="2200">
                <a:latin typeface="Times New Roman" pitchFamily="18" charset="0"/>
                <a:cs typeface="Times New Roman" pitchFamily="18" charset="0"/>
              </a:rPr>
              <a:t> </a:t>
            </a:r>
            <a:br>
              <a:rPr lang="en-US" b="1"/>
            </a:br>
            <a:endParaRPr lang="en-US" sz="3000" b="1">
              <a:latin typeface="Times New Roman" pitchFamily="18" charset="0"/>
              <a:cs typeface="Times New Roman" pitchFamily="18" charset="0"/>
            </a:endParaRPr>
          </a:p>
        </p:txBody>
      </p:sp>
      <p:sp>
        <p:nvSpPr>
          <p:cNvPr id="3" name="Subtitle 2"/>
          <p:cNvSpPr>
            <a:spLocks noGrp="1"/>
          </p:cNvSpPr>
          <p:nvPr>
            <p:ph type="subTitle" idx="1"/>
          </p:nvPr>
        </p:nvSpPr>
        <p:spPr>
          <a:xfrm>
            <a:off x="2799704" y="556340"/>
            <a:ext cx="6343650" cy="2799768"/>
          </a:xfrm>
        </p:spPr>
        <p:txBody>
          <a:bodyPr>
            <a:normAutofit fontScale="25000" lnSpcReduction="20000"/>
          </a:bodyPr>
          <a:lstStyle/>
          <a:p>
            <a:pPr>
              <a:lnSpc>
                <a:spcPct val="80000"/>
              </a:lnSpc>
              <a:defRPr/>
            </a:pPr>
            <a:endParaRPr lang="en-US" sz="1500" dirty="0">
              <a:solidFill>
                <a:srgbClr val="0D0D0D"/>
              </a:solidFill>
              <a:latin typeface="Times New Roman" pitchFamily="18" charset="0"/>
              <a:cs typeface="Times New Roman" pitchFamily="18" charset="0"/>
            </a:endParaRPr>
          </a:p>
          <a:p>
            <a:pPr>
              <a:lnSpc>
                <a:spcPct val="80000"/>
              </a:lnSpc>
              <a:defRPr/>
            </a:pPr>
            <a:endParaRPr lang="en-US" sz="6400" b="1" dirty="0">
              <a:latin typeface="Times New Roman" pitchFamily="18" charset="0"/>
              <a:cs typeface="Times New Roman" pitchFamily="18" charset="0"/>
            </a:endParaRPr>
          </a:p>
          <a:p>
            <a:pPr>
              <a:lnSpc>
                <a:spcPct val="80000"/>
              </a:lnSpc>
              <a:defRPr/>
            </a:pPr>
            <a:r>
              <a:rPr lang="en-US" sz="6400" b="1" dirty="0">
                <a:latin typeface="Times New Roman" pitchFamily="18" charset="0"/>
                <a:cs typeface="Times New Roman" pitchFamily="18" charset="0"/>
              </a:rPr>
              <a:t> </a:t>
            </a:r>
            <a:r>
              <a:rPr lang="en-US" sz="8000" b="1" dirty="0">
                <a:latin typeface="Times New Roman" pitchFamily="18" charset="0"/>
                <a:cs typeface="Times New Roman" pitchFamily="18" charset="0"/>
              </a:rPr>
              <a:t>Team members</a:t>
            </a:r>
          </a:p>
          <a:p>
            <a:pPr>
              <a:lnSpc>
                <a:spcPct val="80000"/>
              </a:lnSpc>
              <a:defRPr/>
            </a:pPr>
            <a:endParaRPr lang="en-US" sz="6400" b="1" dirty="0">
              <a:latin typeface="Times New Roman" pitchFamily="18" charset="0"/>
              <a:cs typeface="Times New Roman" pitchFamily="18" charset="0"/>
            </a:endParaRPr>
          </a:p>
          <a:p>
            <a:pPr>
              <a:lnSpc>
                <a:spcPct val="80000"/>
              </a:lnSpc>
              <a:defRPr/>
            </a:pPr>
            <a:endParaRPr lang="en-US" sz="4900" b="1" dirty="0">
              <a:solidFill>
                <a:srgbClr val="00B0F0"/>
              </a:solidFill>
              <a:latin typeface="Times New Roman" pitchFamily="18" charset="0"/>
              <a:cs typeface="Times New Roman" pitchFamily="18" charset="0"/>
            </a:endParaRPr>
          </a:p>
          <a:p>
            <a:pPr algn="just">
              <a:lnSpc>
                <a:spcPct val="80000"/>
              </a:lnSpc>
              <a:defRPr/>
            </a:pPr>
            <a:r>
              <a:rPr lang="en-US" sz="5600" b="1" dirty="0">
                <a:latin typeface="Times New Roman" pitchFamily="18" charset="0"/>
                <a:cs typeface="Times New Roman" pitchFamily="18" charset="0"/>
              </a:rPr>
              <a:t>                                                 Roll No             Name</a:t>
            </a:r>
          </a:p>
          <a:p>
            <a:pPr algn="just">
              <a:lnSpc>
                <a:spcPct val="80000"/>
              </a:lnSpc>
              <a:defRPr/>
            </a:pPr>
            <a:r>
              <a:rPr lang="en-US" sz="5600" b="1" dirty="0">
                <a:latin typeface="Times New Roman" pitchFamily="18" charset="0"/>
                <a:cs typeface="Times New Roman" pitchFamily="18" charset="0"/>
              </a:rPr>
              <a:t>		        </a:t>
            </a:r>
            <a:r>
              <a:rPr lang="en-US" sz="5600" dirty="0">
                <a:latin typeface="Times New Roman" pitchFamily="18" charset="0"/>
                <a:cs typeface="Times New Roman" pitchFamily="18" charset="0"/>
              </a:rPr>
              <a:t>2420030552      P LAHARI</a:t>
            </a:r>
            <a:endParaRPr lang="en-US" sz="5600" b="1" dirty="0">
              <a:latin typeface="Times New Roman" pitchFamily="18" charset="0"/>
              <a:cs typeface="Times New Roman" pitchFamily="18" charset="0"/>
            </a:endParaRPr>
          </a:p>
          <a:p>
            <a:pPr algn="just">
              <a:lnSpc>
                <a:spcPct val="80000"/>
              </a:lnSpc>
              <a:defRPr/>
            </a:pPr>
            <a:r>
              <a:rPr lang="en-US" sz="5600" b="1" dirty="0">
                <a:latin typeface="Times New Roman" pitchFamily="18" charset="0"/>
                <a:cs typeface="Times New Roman" pitchFamily="18" charset="0"/>
              </a:rPr>
              <a:t>		        </a:t>
            </a:r>
            <a:r>
              <a:rPr lang="en-US" sz="5600" dirty="0">
                <a:latin typeface="Times New Roman" pitchFamily="18" charset="0"/>
                <a:cs typeface="Times New Roman" pitchFamily="18" charset="0"/>
              </a:rPr>
              <a:t>2420030009</a:t>
            </a:r>
            <a:r>
              <a:rPr lang="en-US" sz="5600" dirty="0"/>
              <a:t>       </a:t>
            </a:r>
            <a:r>
              <a:rPr lang="en-US" sz="5600" dirty="0">
                <a:latin typeface="Times New Roman" panose="02020603050405020304" pitchFamily="18" charset="0"/>
                <a:cs typeface="Times New Roman" panose="02020603050405020304" pitchFamily="18" charset="0"/>
              </a:rPr>
              <a:t>V. DHRUVA SAI</a:t>
            </a:r>
            <a:endParaRPr lang="en-IN" sz="5600" dirty="0">
              <a:latin typeface="Times New Roman" panose="02020603050405020304" pitchFamily="18" charset="0"/>
              <a:cs typeface="Times New Roman" panose="02020603050405020304" pitchFamily="18" charset="0"/>
            </a:endParaRPr>
          </a:p>
          <a:p>
            <a:pPr algn="just">
              <a:lnSpc>
                <a:spcPct val="80000"/>
              </a:lnSpc>
              <a:defRPr/>
            </a:pPr>
            <a:r>
              <a:rPr lang="en-US" sz="5600" dirty="0">
                <a:latin typeface="Times New Roman" pitchFamily="18" charset="0"/>
                <a:cs typeface="Times New Roman" pitchFamily="18" charset="0"/>
              </a:rPr>
              <a:t>                                                 2420030310      NIKHIL SHREYAS</a:t>
            </a:r>
          </a:p>
          <a:p>
            <a:pPr algn="just"/>
            <a:r>
              <a:rPr lang="en-US" sz="4800" dirty="0">
                <a:latin typeface="Times New Roman" pitchFamily="18" charset="0"/>
                <a:cs typeface="Times New Roman" pitchFamily="18" charset="0"/>
              </a:rPr>
              <a:t>                                                             </a:t>
            </a:r>
            <a:endParaRPr lang="en-US" sz="4200" b="1" dirty="0">
              <a:solidFill>
                <a:srgbClr val="FF0000"/>
              </a:solidFill>
              <a:latin typeface="Times New Roman" pitchFamily="18" charset="0"/>
              <a:cs typeface="Times New Roman" pitchFamily="18" charset="0"/>
            </a:endParaRPr>
          </a:p>
          <a:p>
            <a:pPr>
              <a:lnSpc>
                <a:spcPct val="80000"/>
              </a:lnSpc>
              <a:defRPr/>
            </a:pPr>
            <a:r>
              <a:rPr lang="en-GB" sz="4200" b="1" i="1" dirty="0">
                <a:solidFill>
                  <a:srgbClr val="FF0000"/>
                </a:solidFill>
                <a:latin typeface="Times New Roman" panose="02020603050405020304" pitchFamily="18" charset="0"/>
                <a:ea typeface="Times New Roman" panose="02020603050405020304" pitchFamily="18" charset="0"/>
              </a:rPr>
              <a:t>Under the guidance of </a:t>
            </a:r>
            <a:endParaRPr lang="en-US" sz="4200" dirty="0">
              <a:solidFill>
                <a:srgbClr val="0D0D0D"/>
              </a:solidFill>
              <a:latin typeface="Times New Roman" pitchFamily="18" charset="0"/>
              <a:cs typeface="Times New Roman" pitchFamily="18" charset="0"/>
            </a:endParaRPr>
          </a:p>
          <a:p>
            <a:pPr>
              <a:lnSpc>
                <a:spcPct val="80000"/>
              </a:lnSpc>
              <a:defRPr/>
            </a:pPr>
            <a:r>
              <a:rPr lang="en-US" sz="4200" b="1" dirty="0">
                <a:latin typeface="Times New Roman" panose="02020603050405020304" pitchFamily="18" charset="0"/>
                <a:cs typeface="Times New Roman" panose="02020603050405020304" pitchFamily="18" charset="0"/>
              </a:rPr>
              <a:t>Dr. N Shirisha</a:t>
            </a:r>
          </a:p>
          <a:p>
            <a:pPr>
              <a:lnSpc>
                <a:spcPct val="80000"/>
              </a:lnSpc>
              <a:defRPr/>
            </a:pPr>
            <a:r>
              <a:rPr lang="en-US" sz="4200" b="1" dirty="0">
                <a:latin typeface="Times New Roman" panose="02020603050405020304" pitchFamily="18" charset="0"/>
                <a:cs typeface="Times New Roman" panose="02020603050405020304" pitchFamily="18" charset="0"/>
              </a:rPr>
              <a:t>Associate Professor</a:t>
            </a:r>
          </a:p>
          <a:p>
            <a:pPr>
              <a:lnSpc>
                <a:spcPct val="80000"/>
              </a:lnSpc>
              <a:defRPr/>
            </a:pPr>
            <a:r>
              <a:rPr lang="en-US" sz="5600" b="1" dirty="0">
                <a:solidFill>
                  <a:srgbClr val="0070C0"/>
                </a:solidFill>
                <a:latin typeface="Times New Roman" pitchFamily="18" charset="0"/>
                <a:cs typeface="Times New Roman" pitchFamily="18" charset="0"/>
              </a:rPr>
              <a:t>Department of Computer Science and Engineering</a:t>
            </a:r>
          </a:p>
          <a:p>
            <a:pPr>
              <a:lnSpc>
                <a:spcPct val="80000"/>
              </a:lnSpc>
              <a:defRPr/>
            </a:pPr>
            <a:r>
              <a:rPr lang="en-US" sz="4200" b="1" dirty="0">
                <a:solidFill>
                  <a:srgbClr val="0D0D0D"/>
                </a:solidFill>
                <a:latin typeface="Times New Roman" pitchFamily="18" charset="0"/>
                <a:cs typeface="Times New Roman" pitchFamily="18" charset="0"/>
              </a:rPr>
              <a:t>                                                </a:t>
            </a:r>
            <a:r>
              <a:rPr lang="en-US" sz="4200" dirty="0">
                <a:solidFill>
                  <a:srgbClr val="0D0D0D"/>
                </a:solidFill>
                <a:latin typeface="Times New Roman" pitchFamily="18" charset="0"/>
                <a:cs typeface="Times New Roman" pitchFamily="18" charset="0"/>
              </a:rPr>
              <a:t>                              </a:t>
            </a:r>
            <a:r>
              <a:rPr lang="en-US" sz="18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2903350" y="5297505"/>
            <a:ext cx="6858000" cy="1047403"/>
          </a:xfrm>
          <a:prstGeom prst="rect">
            <a:avLst/>
          </a:prstGeom>
          <a:noFill/>
        </p:spPr>
        <p:txBody>
          <a:bodyPr wrap="square">
            <a:spAutoFit/>
          </a:bodyPr>
          <a:lstStyle/>
          <a:p>
            <a:pPr algn="ctr">
              <a:lnSpc>
                <a:spcPct val="107000"/>
              </a:lnSpc>
              <a:spcBef>
                <a:spcPts val="1166"/>
              </a:spcBef>
              <a:spcAft>
                <a:spcPts val="600"/>
              </a:spcAft>
            </a:pPr>
            <a:r>
              <a:rPr lang="en-GB" sz="2100" b="1" kern="100">
                <a:latin typeface="Times New Roman" panose="02020603050405020304" pitchFamily="18" charset="0"/>
                <a:ea typeface="Times New Roman" panose="02020603050405020304" pitchFamily="18" charset="0"/>
                <a:cs typeface="Times New Roman" panose="02020603050405020304" pitchFamily="18" charset="0"/>
              </a:rPr>
              <a:t>Koneru </a:t>
            </a:r>
            <a:r>
              <a:rPr lang="en-GB" sz="2100" b="1" kern="100" err="1">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100" b="1" kern="100">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sz="1350" b="1" kern="10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sz="1350" b="1" kern="100" err="1">
                <a:latin typeface="Times New Roman" panose="02020603050405020304" pitchFamily="18" charset="0"/>
                <a:ea typeface="Times New Roman" panose="02020603050405020304" pitchFamily="18" charset="0"/>
                <a:cs typeface="Times New Roman" panose="02020603050405020304" pitchFamily="18" charset="0"/>
              </a:rPr>
              <a:t>estd</a:t>
            </a:r>
            <a:r>
              <a:rPr lang="en-GB" sz="1350" b="1" kern="100">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sz="1350" b="1" kern="10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200" b="1" kern="100" err="1">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200" b="1" kern="100">
                <a:latin typeface="Times New Roman" panose="02020603050405020304" pitchFamily="18" charset="0"/>
                <a:ea typeface="Times New Roman" panose="02020603050405020304" pitchFamily="18" charset="0"/>
                <a:cs typeface="Times New Roman" panose="02020603050405020304" pitchFamily="18" charset="0"/>
              </a:rPr>
              <a:t> Road, </a:t>
            </a:r>
            <a:r>
              <a:rPr lang="en-GB" sz="1200" b="1" kern="100" err="1">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200" b="1" kern="100">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200" b="1" kern="10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200" kern="10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8505" y="4357720"/>
            <a:ext cx="1874990" cy="939785"/>
          </a:xfrm>
          <a:prstGeom prst="rect">
            <a:avLst/>
          </a:prstGeom>
          <a:noFill/>
          <a:ln>
            <a:noFill/>
          </a:ln>
        </p:spPr>
      </p:pic>
      <p:sp>
        <p:nvSpPr>
          <p:cNvPr id="7" name="TextBox 6">
            <a:extLst>
              <a:ext uri="{FF2B5EF4-FFF2-40B4-BE49-F238E27FC236}">
                <a16:creationId xmlns:a16="http://schemas.microsoft.com/office/drawing/2014/main" id="{53448101-9BBC-E504-8E34-77B5C29EA187}"/>
              </a:ext>
            </a:extLst>
          </p:cNvPr>
          <p:cNvSpPr txBox="1"/>
          <p:nvPr/>
        </p:nvSpPr>
        <p:spPr>
          <a:xfrm>
            <a:off x="3048646" y="43681"/>
            <a:ext cx="6094708" cy="523220"/>
          </a:xfrm>
          <a:prstGeom prst="rect">
            <a:avLst/>
          </a:prstGeom>
          <a:noFill/>
        </p:spPr>
        <p:txBody>
          <a:bodyPr wrap="square">
            <a:spAutoFit/>
          </a:bodyPr>
          <a:lstStyle/>
          <a:p>
            <a:pPr lvl="0" algn="ctr">
              <a:defRPr/>
            </a:pPr>
            <a:r>
              <a:rPr lang="en-US" sz="2800" b="1">
                <a:latin typeface="Times New Roman" panose="02020603050405020304" pitchFamily="18" charset="0"/>
                <a:cs typeface="Times New Roman" panose="02020603050405020304" pitchFamily="18" charset="0"/>
              </a:rPr>
              <a:t>Evidence-Driven-Game-Engine</a:t>
            </a:r>
            <a:endParaRPr lang="en-IN" sz="360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5253038" y="2925962"/>
            <a:ext cx="6200774" cy="338554"/>
          </a:xfrm>
          <a:prstGeom prst="rect">
            <a:avLst/>
          </a:prstGeom>
          <a:noFill/>
          <a:effectLst>
            <a:glow rad="139700">
              <a:schemeClr val="accent2">
                <a:satMod val="175000"/>
                <a:alpha val="40000"/>
              </a:schemeClr>
            </a:glow>
          </a:effectLst>
        </p:spPr>
        <p:txBody>
          <a:bodyPr wrap="square">
            <a:spAutoFit/>
          </a:bodyPr>
          <a:lstStyle/>
          <a:p>
            <a:pPr lvl="0">
              <a:defRPr/>
            </a:pPr>
            <a:r>
              <a:rPr lang="en-IN" sz="1600" b="1">
                <a:solidFill>
                  <a:srgbClr val="C00000"/>
                </a:solidFill>
                <a:latin typeface="Times New Roman" panose="02020603050405020304" pitchFamily="18" charset="0"/>
                <a:cs typeface="Times New Roman" panose="02020603050405020304" pitchFamily="18" charset="0"/>
              </a:rPr>
              <a:t>Team Members</a:t>
            </a:r>
          </a:p>
        </p:txBody>
      </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a:t>Date</a:t>
            </a:r>
            <a:endParaRPr lang="en-IN" b="1"/>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a:t>SOA Project Review-1</a:t>
            </a:r>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sz="2800" b="1">
                <a:solidFill>
                  <a:schemeClr val="bg1"/>
                </a:solidFill>
                <a:latin typeface="Times New Roman" panose="02020603050405020304" pitchFamily="18" charset="0"/>
                <a:cs typeface="Times New Roman" panose="02020603050405020304" pitchFamily="18" charset="0"/>
              </a:rPr>
              <a:t>Evidence-Driven-Game-Engine</a:t>
            </a:r>
            <a:endParaRPr lang="en-IN" sz="3600">
              <a:solidFill>
                <a:schemeClr val="bg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a:latin typeface="Times New Roman" panose="02020603050405020304" pitchFamily="18" charset="0"/>
                <a:cs typeface="Times New Roman" panose="02020603050405020304" pitchFamily="18" charset="0"/>
              </a:rPr>
              <a:t>Review-1</a:t>
            </a:r>
          </a:p>
        </p:txBody>
      </p:sp>
      <p:graphicFrame>
        <p:nvGraphicFramePr>
          <p:cNvPr id="2" name="Table 1">
            <a:extLst>
              <a:ext uri="{FF2B5EF4-FFF2-40B4-BE49-F238E27FC236}">
                <a16:creationId xmlns:a16="http://schemas.microsoft.com/office/drawing/2014/main" id="{0BE0ADED-D752-3A08-A07E-DBED3BF5BFC9}"/>
              </a:ext>
            </a:extLst>
          </p:cNvPr>
          <p:cNvGraphicFramePr>
            <a:graphicFrameLocks noGrp="1"/>
          </p:cNvGraphicFramePr>
          <p:nvPr>
            <p:extLst>
              <p:ext uri="{D42A27DB-BD31-4B8C-83A1-F6EECF244321}">
                <p14:modId xmlns:p14="http://schemas.microsoft.com/office/powerpoint/2010/main" val="149249200"/>
              </p:ext>
            </p:extLst>
          </p:nvPr>
        </p:nvGraphicFramePr>
        <p:xfrm>
          <a:off x="2209800" y="3276621"/>
          <a:ext cx="8128000" cy="140579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207094112"/>
                    </a:ext>
                  </a:extLst>
                </a:gridCol>
                <a:gridCol w="4064000">
                  <a:extLst>
                    <a:ext uri="{9D8B030D-6E8A-4147-A177-3AD203B41FA5}">
                      <a16:colId xmlns:a16="http://schemas.microsoft.com/office/drawing/2014/main" val="2687091373"/>
                    </a:ext>
                  </a:extLst>
                </a:gridCol>
              </a:tblGrid>
              <a:tr h="468597">
                <a:tc>
                  <a:txBody>
                    <a:bodyPr/>
                    <a:lstStyle/>
                    <a:p>
                      <a:r>
                        <a:rPr lang="en-US" b="1"/>
                        <a:t>P LAHARI</a:t>
                      </a:r>
                      <a:endParaRPr lang="en-IN" b="1"/>
                    </a:p>
                  </a:txBody>
                  <a:tcPr/>
                </a:tc>
                <a:tc>
                  <a:txBody>
                    <a:bodyPr/>
                    <a:lstStyle/>
                    <a:p>
                      <a:r>
                        <a:rPr lang="en-US" b="1"/>
                        <a:t>2420030552</a:t>
                      </a:r>
                      <a:endParaRPr lang="en-IN" b="1"/>
                    </a:p>
                  </a:txBody>
                  <a:tcPr/>
                </a:tc>
                <a:extLst>
                  <a:ext uri="{0D108BD9-81ED-4DB2-BD59-A6C34878D82A}">
                    <a16:rowId xmlns:a16="http://schemas.microsoft.com/office/drawing/2014/main" val="939106477"/>
                  </a:ext>
                </a:extLst>
              </a:tr>
              <a:tr h="468597">
                <a:tc>
                  <a:txBody>
                    <a:bodyPr/>
                    <a:lstStyle/>
                    <a:p>
                      <a:r>
                        <a:rPr lang="en-US" b="1"/>
                        <a:t>NIKHIL SHREYAS</a:t>
                      </a:r>
                      <a:endParaRPr lang="en-IN" b="1"/>
                    </a:p>
                  </a:txBody>
                  <a:tcPr/>
                </a:tc>
                <a:tc>
                  <a:txBody>
                    <a:bodyPr/>
                    <a:lstStyle/>
                    <a:p>
                      <a:r>
                        <a:rPr lang="en-IN" sz="1800" b="1" kern="1200">
                          <a:solidFill>
                            <a:schemeClr val="dk1"/>
                          </a:solidFill>
                          <a:effectLst/>
                          <a:latin typeface="+mn-lt"/>
                          <a:ea typeface="+mn-ea"/>
                          <a:cs typeface="+mn-cs"/>
                        </a:rPr>
                        <a:t>2420030310</a:t>
                      </a:r>
                      <a:endParaRPr lang="en-IN"/>
                    </a:p>
                  </a:txBody>
                  <a:tcPr/>
                </a:tc>
                <a:extLst>
                  <a:ext uri="{0D108BD9-81ED-4DB2-BD59-A6C34878D82A}">
                    <a16:rowId xmlns:a16="http://schemas.microsoft.com/office/drawing/2014/main" val="4139085253"/>
                  </a:ext>
                </a:extLst>
              </a:tr>
              <a:tr h="468597">
                <a:tc>
                  <a:txBody>
                    <a:bodyPr/>
                    <a:lstStyle/>
                    <a:p>
                      <a:r>
                        <a:rPr lang="en-US" b="1"/>
                        <a:t>DHRUVA SAI</a:t>
                      </a:r>
                      <a:endParaRPr lang="en-IN" b="1"/>
                    </a:p>
                  </a:txBody>
                  <a:tcPr/>
                </a:tc>
                <a:tc>
                  <a:txBody>
                    <a:bodyPr/>
                    <a:lstStyle/>
                    <a:p>
                      <a:r>
                        <a:rPr lang="en-US" b="1"/>
                        <a:t>2420030009</a:t>
                      </a:r>
                      <a:endParaRPr lang="en-IN" b="1"/>
                    </a:p>
                  </a:txBody>
                  <a:tcPr/>
                </a:tc>
                <a:extLst>
                  <a:ext uri="{0D108BD9-81ED-4DB2-BD59-A6C34878D82A}">
                    <a16:rowId xmlns:a16="http://schemas.microsoft.com/office/drawing/2014/main" val="3444130293"/>
                  </a:ext>
                </a:extLst>
              </a:tr>
            </a:tbl>
          </a:graphicData>
        </a:graphic>
      </p:graphicFrame>
    </p:spTree>
    <p:extLst>
      <p:ext uri="{BB962C8B-B14F-4D97-AF65-F5344CB8AC3E}">
        <p14:creationId xmlns:p14="http://schemas.microsoft.com/office/powerpoint/2010/main" val="2247602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3"/>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825B490D-F2B0-4F05-09BC-A6EC821C4B05}"/>
              </a:ext>
            </a:extLst>
          </p:cNvPr>
          <p:cNvSpPr txBox="1"/>
          <p:nvPr/>
        </p:nvSpPr>
        <p:spPr>
          <a:xfrm>
            <a:off x="3597168" y="311275"/>
            <a:ext cx="3363132" cy="707886"/>
          </a:xfrm>
          <a:prstGeom prst="rect">
            <a:avLst/>
          </a:prstGeom>
          <a:noFill/>
        </p:spPr>
        <p:txBody>
          <a:bodyPr wrap="square" rtlCol="0">
            <a:spAutoFit/>
          </a:bodyPr>
          <a:lstStyle/>
          <a:p>
            <a:r>
              <a:rPr lang="en-US" sz="4000" b="1" dirty="0">
                <a:latin typeface="+mj-lt"/>
              </a:rPr>
              <a:t>ABSTRACT</a:t>
            </a:r>
            <a:endParaRPr lang="en-IN" sz="4000" b="1" dirty="0">
              <a:latin typeface="+mj-lt"/>
            </a:endParaRPr>
          </a:p>
        </p:txBody>
      </p:sp>
      <p:sp>
        <p:nvSpPr>
          <p:cNvPr id="6" name="TextBox 5"/>
          <p:cNvSpPr txBox="1"/>
          <p:nvPr/>
        </p:nvSpPr>
        <p:spPr>
          <a:xfrm>
            <a:off x="921099" y="1455668"/>
            <a:ext cx="8715270" cy="4592881"/>
          </a:xfrm>
          <a:prstGeom prst="rect">
            <a:avLst/>
          </a:prstGeom>
          <a:noFill/>
        </p:spPr>
        <p:txBody>
          <a:bodyPr wrap="square" anchor="ctr">
            <a:noAutofit/>
          </a:bodyPr>
          <a:lstStyle/>
          <a:p>
            <a:pPr marL="285750" indent="-285750">
              <a:buFont typeface="Arial" panose="020B0604020202020204" pitchFamily="34" charset="0"/>
              <a:buChar char="•"/>
            </a:pPr>
            <a:r>
              <a:rPr lang="en-US" dirty="0">
                <a:latin typeface="+mj-lt"/>
                <a:cs typeface="Arial" panose="020B0604020202020204" pitchFamily="34" charset="0"/>
              </a:rPr>
              <a:t>Cricket generates enormous ball-by-ball data, but most of it stays locked in raw scorecards, leaving deeper insight largely unexplored.</a:t>
            </a:r>
          </a:p>
          <a:p>
            <a:pPr marL="285750" indent="-285750">
              <a:buFont typeface="Arial" panose="020B0604020202020204" pitchFamily="34" charset="0"/>
              <a:buChar char="•"/>
            </a:pPr>
            <a:r>
              <a:rPr lang="en-US" dirty="0">
                <a:latin typeface="+mj-lt"/>
                <a:cs typeface="Arial" panose="020B0604020202020204" pitchFamily="34" charset="0"/>
              </a:rPr>
              <a:t>EDGE — Evidence-Driven Game Engine turns this raw data into simple, actionable insights through an AI-powered cricket intelligence platform.</a:t>
            </a:r>
          </a:p>
          <a:p>
            <a:pPr marL="285750" indent="-285750">
              <a:buFont typeface="Arial" panose="020B0604020202020204" pitchFamily="34" charset="0"/>
              <a:buChar char="•"/>
            </a:pPr>
            <a:r>
              <a:rPr lang="en-US" dirty="0">
                <a:latin typeface="+mj-lt"/>
                <a:cs typeface="Arial" panose="020B0604020202020204" pitchFamily="34" charset="0"/>
              </a:rPr>
              <a:t>Built on 800,000+ deliveries, 5,000+ player profiles, and 4,500+ matches spanning multiple formats and years.</a:t>
            </a:r>
          </a:p>
          <a:p>
            <a:pPr marL="285750" indent="-285750">
              <a:buFont typeface="Arial" panose="020B0604020202020204" pitchFamily="34" charset="0"/>
              <a:buChar char="•"/>
            </a:pPr>
            <a:r>
              <a:rPr lang="en-US" dirty="0">
                <a:latin typeface="+mj-lt"/>
                <a:cs typeface="Arial" panose="020B0604020202020204" pitchFamily="34" charset="0"/>
              </a:rPr>
              <a:t>AI Match Situation Advisor and Bowling Change Recommender deliver tactical, decision-support insights without requiring data expertise.</a:t>
            </a:r>
          </a:p>
          <a:p>
            <a:pPr marL="285750" indent="-285750">
              <a:buFont typeface="Arial" panose="020B0604020202020204" pitchFamily="34" charset="0"/>
              <a:buChar char="•"/>
            </a:pPr>
            <a:r>
              <a:rPr lang="en-US" dirty="0">
                <a:latin typeface="+mj-lt"/>
                <a:cs typeface="Arial" panose="020B0604020202020204" pitchFamily="34" charset="0"/>
              </a:rPr>
              <a:t>Supported by the Live Match Centre, ICC Rankings, IPL Franchise Intelligence Hub, and a chase win-probability simulator.</a:t>
            </a:r>
          </a:p>
          <a:p>
            <a:pPr marL="285750" indent="-285750">
              <a:buFont typeface="Arial" panose="020B0604020202020204" pitchFamily="34" charset="0"/>
              <a:buChar char="•"/>
            </a:pPr>
            <a:r>
              <a:rPr lang="en-US" dirty="0">
                <a:latin typeface="+mj-lt"/>
                <a:cs typeface="Arial" panose="020B0604020202020204" pitchFamily="34" charset="0"/>
              </a:rPr>
              <a:t>A structured, repeatable data pipeline keeps information current, letting new seasons be added seamlessly as the platform grows.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mj-lt"/>
              </a:rPr>
              <a:t>An interactive interface with AI-generated player biographies and leaderboard visualizations lets fans and analysts explore player careers in more depth. </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mj-lt"/>
              </a:rPr>
              <a:t>Future enhancements include real-time ball-by-ball ingestion, advanced predictive analytics, and dedicated player-performance prediction models. </a:t>
            </a:r>
          </a:p>
          <a:p>
            <a:pPr marL="285750" indent="-285750">
              <a:buFont typeface="Arial"/>
              <a:buChar char="•"/>
            </a:pPr>
            <a:endParaRPr lang="en-US" altLang="en-US" dirty="0">
              <a:latin typeface="+mj-lt"/>
              <a:cs typeface="Arial" panose="020B0604020202020204" pitchFamily="34" charset="0"/>
            </a:endParaRPr>
          </a:p>
          <a:p>
            <a:endParaRPr lang="en-US" dirty="0">
              <a:solidFill>
                <a:srgbClr val="3B3B3B"/>
              </a:solidFill>
              <a:latin typeface="+mj-lt"/>
            </a:endParaRPr>
          </a:p>
        </p:txBody>
      </p:sp>
    </p:spTree>
    <p:extLst>
      <p:ext uri="{BB962C8B-B14F-4D97-AF65-F5344CB8AC3E}">
        <p14:creationId xmlns:p14="http://schemas.microsoft.com/office/powerpoint/2010/main" val="1843937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latin typeface="+mj-lt"/>
              </a:rPr>
              <a:t>INTRODUCTION</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3"/>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48686CB1-9343-5D3C-F3CB-461B15B15FB5}"/>
              </a:ext>
            </a:extLst>
          </p:cNvPr>
          <p:cNvSpPr txBox="1"/>
          <p:nvPr/>
        </p:nvSpPr>
        <p:spPr>
          <a:xfrm>
            <a:off x="809672" y="1323277"/>
            <a:ext cx="9849173" cy="5065554"/>
          </a:xfrm>
          <a:prstGeom prst="rect">
            <a:avLst/>
          </a:prstGeom>
          <a:noFill/>
        </p:spPr>
        <p:txBody>
          <a:bodyPr wrap="square">
            <a:normAutofit/>
          </a:bodyPr>
          <a:lstStyle/>
          <a:p>
            <a:pPr marL="285750" indent="-285750">
              <a:buFont typeface="Arial"/>
              <a:buChar char="•"/>
            </a:pPr>
            <a:r>
              <a:rPr lang="en-IN" b="1" dirty="0">
                <a:solidFill>
                  <a:srgbClr val="156082"/>
                </a:solidFill>
                <a:latin typeface="+mj-lt"/>
              </a:rPr>
              <a:t>Background</a:t>
            </a:r>
          </a:p>
          <a:p>
            <a:pPr marL="285750" indent="0" algn="just">
              <a:buNone/>
            </a:pPr>
            <a:r>
              <a:rPr lang="en-IN" sz="1600" dirty="0">
                <a:latin typeface="+mj-lt"/>
              </a:rPr>
              <a:t>Cricket produces a huge amount of structured and unstructured data every match, but this has traditionally been used only for scorecards and basic leaderboards, leaving most valuable insight unexplored. Growth in fantasy sports, franchise scouting, and fan engagement is driving demand for simple, accessible analytics.</a:t>
            </a:r>
          </a:p>
          <a:p>
            <a:pPr marL="285750" indent="-285750">
              <a:buFont typeface="Arial"/>
              <a:buChar char="•"/>
            </a:pPr>
            <a:r>
              <a:rPr lang="en-IN" b="1" dirty="0">
                <a:solidFill>
                  <a:srgbClr val="156082"/>
                </a:solidFill>
                <a:latin typeface="+mj-lt"/>
              </a:rPr>
              <a:t>Project Goal</a:t>
            </a:r>
          </a:p>
          <a:p>
            <a:pPr marL="285750" indent="0" algn="just">
              <a:buNone/>
            </a:pPr>
            <a:r>
              <a:rPr lang="en-IN" sz="1600" dirty="0">
                <a:latin typeface="+mj-lt"/>
              </a:rPr>
              <a:t>"EDGE — Evidence-Driven Game Engine" converts ball-by-ball data into actionable insight through a data pipeline and web app that collects, processes, and analyses large-scale cricket data, calculates key statistics, shows live match information, and uses generative AI for understandable tactical recommendations — without requiring users to have data or cricket expertise.</a:t>
            </a:r>
          </a:p>
          <a:p>
            <a:pPr marL="285750" indent="-285750">
              <a:buFont typeface="Arial"/>
              <a:buChar char="•"/>
            </a:pPr>
            <a:r>
              <a:rPr lang="en-IN" b="1" dirty="0">
                <a:solidFill>
                  <a:srgbClr val="156082"/>
                </a:solidFill>
                <a:latin typeface="+mj-lt"/>
              </a:rPr>
              <a:t>Implementation</a:t>
            </a:r>
          </a:p>
          <a:p>
            <a:pPr marL="285750" indent="0" algn="just">
              <a:buNone/>
            </a:pPr>
            <a:r>
              <a:rPr lang="en-IN" sz="1600" dirty="0">
                <a:latin typeface="+mj-lt"/>
              </a:rPr>
              <a:t>PostgreSQL with Prisma ORM stores structured cricket data, while a Python-based ETL pipeline extracts, cleans, transforms, and loads </a:t>
            </a:r>
            <a:r>
              <a:rPr lang="en-IN" sz="1600" dirty="0" err="1">
                <a:latin typeface="+mj-lt"/>
              </a:rPr>
              <a:t>Cricsheet</a:t>
            </a:r>
            <a:r>
              <a:rPr lang="en-IN" sz="1600" dirty="0">
                <a:latin typeface="+mj-lt"/>
              </a:rPr>
              <a:t> JSON files and career statistics. Live information comes from </a:t>
            </a:r>
            <a:r>
              <a:rPr lang="en-IN" sz="1600" dirty="0" err="1">
                <a:latin typeface="+mj-lt"/>
              </a:rPr>
              <a:t>CricAPI</a:t>
            </a:r>
            <a:r>
              <a:rPr lang="en-IN" sz="1600" dirty="0">
                <a:latin typeface="+mj-lt"/>
              </a:rPr>
              <a:t> and </a:t>
            </a:r>
            <a:r>
              <a:rPr lang="en-IN" sz="1600" dirty="0" err="1">
                <a:latin typeface="+mj-lt"/>
              </a:rPr>
              <a:t>RapidAPI</a:t>
            </a:r>
            <a:r>
              <a:rPr lang="en-IN" sz="1600" dirty="0">
                <a:latin typeface="+mj-lt"/>
              </a:rPr>
              <a:t>, and Google Gemini with Anthropic Claude provide AI-based match analysis and recommendations.</a:t>
            </a:r>
          </a:p>
          <a:p>
            <a:pPr marL="285750" indent="-285750">
              <a:buFont typeface="Arial"/>
              <a:buChar char="•"/>
            </a:pPr>
            <a:r>
              <a:rPr lang="en-IN" b="1" dirty="0">
                <a:solidFill>
                  <a:srgbClr val="156082"/>
                </a:solidFill>
                <a:latin typeface="+mj-lt"/>
              </a:rPr>
              <a:t>Motivation</a:t>
            </a:r>
          </a:p>
          <a:p>
            <a:pPr marL="285750" indent="0" algn="just">
              <a:buNone/>
            </a:pPr>
            <a:r>
              <a:rPr lang="en-IN" sz="1600" dirty="0">
                <a:latin typeface="+mj-lt"/>
              </a:rPr>
              <a:t>Fans, fantasy users, and analysts rely on scattered sources — scorecards, stats, rankings, news — that rarely combine historical data, live match state, and AI reasoning in one place. Manually analysing thousands of ball-by-ball records is slow and needs domain expertise; EDGE reduces this complexity through one interactive platform.</a:t>
            </a:r>
          </a:p>
        </p:txBody>
      </p:sp>
    </p:spTree>
    <p:extLst>
      <p:ext uri="{BB962C8B-B14F-4D97-AF65-F5344CB8AC3E}">
        <p14:creationId xmlns:p14="http://schemas.microsoft.com/office/powerpoint/2010/main" val="39177829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6001</TotalTime>
  <Words>4152</Words>
  <Application>Microsoft Office PowerPoint</Application>
  <PresentationFormat>Widescreen</PresentationFormat>
  <Paragraphs>300</Paragraphs>
  <Slides>28</Slides>
  <Notes>10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28</vt:i4>
      </vt:variant>
    </vt:vector>
  </HeadingPairs>
  <TitlesOfParts>
    <vt:vector size="37" baseType="lpstr">
      <vt:lpstr>Aptos</vt:lpstr>
      <vt:lpstr>Aptos Display</vt:lpstr>
      <vt:lpstr>Arial</vt:lpstr>
      <vt:lpstr>Bahnschrift</vt:lpstr>
      <vt:lpstr>Calibri</vt:lpstr>
      <vt:lpstr>Calibri Light</vt:lpstr>
      <vt:lpstr>Times New Roman</vt:lpstr>
      <vt:lpstr>Office Theme</vt:lpstr>
      <vt:lpstr>1_Office Theme</vt:lpstr>
      <vt:lpstr>       </vt:lpstr>
      <vt:lpstr>PowerPoint Presentation</vt:lpstr>
      <vt:lpstr>PowerPoint Presentation</vt:lpstr>
      <vt:lpstr>PowerPoint Presentation</vt:lpstr>
      <vt:lpstr>PowerPoint Presentation</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vds 7</cp:lastModifiedBy>
  <cp:revision>11</cp:revision>
  <dcterms:created xsi:type="dcterms:W3CDTF">2026-08-08T06:33:56Z</dcterms:created>
  <dcterms:modified xsi:type="dcterms:W3CDTF">2026-09-27T08:46:39Z</dcterms:modified>
</cp:coreProperties>
</file>